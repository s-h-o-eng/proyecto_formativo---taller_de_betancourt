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Arimo"/>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i4kuFVAymw0wVC3xmTyAA6/n34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Arimo-bold.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Arim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21.png"/><Relationship Id="rId13" Type="http://schemas.openxmlformats.org/officeDocument/2006/relationships/image" Target="../media/image25.png"/><Relationship Id="rId12" Type="http://schemas.openxmlformats.org/officeDocument/2006/relationships/image" Target="../media/image38.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23.png"/><Relationship Id="rId9" Type="http://schemas.openxmlformats.org/officeDocument/2006/relationships/image" Target="../media/image2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9.png"/><Relationship Id="rId5" Type="http://schemas.openxmlformats.org/officeDocument/2006/relationships/image" Target="../media/image40.png"/><Relationship Id="rId6"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4.jpg"/><Relationship Id="rId4" Type="http://schemas.openxmlformats.org/officeDocument/2006/relationships/image" Target="../media/image41.png"/><Relationship Id="rId5"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online.visual-paradigm.com/share.jsp?id=343335333834342d32#diagram:workspace=gckhlypj&amp;proj=0&amp;id=2" TargetMode="Externa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3" name="Shape 83"/>
        <p:cNvGrpSpPr/>
        <p:nvPr/>
      </p:nvGrpSpPr>
      <p:grpSpPr>
        <a:xfrm>
          <a:off x="0" y="0"/>
          <a:ext cx="0" cy="0"/>
          <a:chOff x="0" y="0"/>
          <a:chExt cx="0" cy="0"/>
        </a:xfrm>
      </p:grpSpPr>
      <p:sp>
        <p:nvSpPr>
          <p:cNvPr id="84" name="Google Shape;84;p1"/>
          <p:cNvSpPr/>
          <p:nvPr/>
        </p:nvSpPr>
        <p:spPr>
          <a:xfrm>
            <a:off x="0" y="0"/>
            <a:ext cx="18287618" cy="10287000"/>
          </a:xfrm>
          <a:custGeom>
            <a:rect b="b" l="l" r="r" t="t"/>
            <a:pathLst>
              <a:path extrusionOk="0" h="13716000" w="24383492">
                <a:moveTo>
                  <a:pt x="0" y="0"/>
                </a:moveTo>
                <a:lnTo>
                  <a:pt x="24383492" y="0"/>
                </a:lnTo>
                <a:lnTo>
                  <a:pt x="24383492" y="13716000"/>
                </a:lnTo>
                <a:lnTo>
                  <a:pt x="0" y="1371600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8414816" y="7571273"/>
            <a:ext cx="1456754" cy="47621"/>
          </a:xfrm>
          <a:custGeom>
            <a:rect b="b" l="l" r="r" t="t"/>
            <a:pathLst>
              <a:path extrusionOk="0" h="47621" w="1456754">
                <a:moveTo>
                  <a:pt x="0" y="0"/>
                </a:moveTo>
                <a:lnTo>
                  <a:pt x="1456754" y="0"/>
                </a:lnTo>
                <a:lnTo>
                  <a:pt x="1456754" y="47620"/>
                </a:lnTo>
                <a:lnTo>
                  <a:pt x="0" y="47620"/>
                </a:lnTo>
                <a:lnTo>
                  <a:pt x="0" y="0"/>
                </a:lnTo>
                <a:close/>
              </a:path>
            </a:pathLst>
          </a:custGeom>
          <a:blipFill rotWithShape="1">
            <a:blip r:embed="rId4">
              <a:alphaModFix/>
            </a:blip>
            <a:stretch>
              <a:fillRect b="-9979" l="0" r="0" t="-9980"/>
            </a:stretch>
          </a:blipFill>
          <a:ln>
            <a:noFill/>
          </a:ln>
        </p:spPr>
      </p:sp>
      <p:sp>
        <p:nvSpPr>
          <p:cNvPr id="86" name="Google Shape;86;p1"/>
          <p:cNvSpPr txBox="1"/>
          <p:nvPr/>
        </p:nvSpPr>
        <p:spPr>
          <a:xfrm>
            <a:off x="3957452" y="801681"/>
            <a:ext cx="10667290" cy="960196"/>
          </a:xfrm>
          <a:prstGeom prst="rect">
            <a:avLst/>
          </a:prstGeom>
          <a:noFill/>
          <a:ln>
            <a:noFill/>
          </a:ln>
        </p:spPr>
        <p:txBody>
          <a:bodyPr anchorCtr="0" anchor="t" bIns="0" lIns="0" spcFirstLastPara="1" rIns="0" wrap="square" tIns="0">
            <a:spAutoFit/>
          </a:bodyPr>
          <a:lstStyle/>
          <a:p>
            <a:pPr indent="0" lvl="0" marL="0" marR="0" rtl="0" algn="l">
              <a:lnSpc>
                <a:spcPct val="140052"/>
              </a:lnSpc>
              <a:spcBef>
                <a:spcPts val="0"/>
              </a:spcBef>
              <a:spcAft>
                <a:spcPts val="0"/>
              </a:spcAft>
              <a:buNone/>
            </a:pPr>
            <a:r>
              <a:rPr b="1" i="0" lang="en-US" sz="4192" u="none" cap="none" strike="noStrike">
                <a:solidFill>
                  <a:srgbClr val="FFFFFF"/>
                </a:solidFill>
                <a:latin typeface="Calibri"/>
                <a:ea typeface="Calibri"/>
                <a:cs typeface="Calibri"/>
                <a:sym typeface="Calibri"/>
              </a:rPr>
              <a:t>PROYECTO FORMATIVO –TALLER </a:t>
            </a:r>
            <a:endParaRPr/>
          </a:p>
        </p:txBody>
      </p:sp>
      <p:sp>
        <p:nvSpPr>
          <p:cNvPr id="87" name="Google Shape;87;p1"/>
          <p:cNvSpPr txBox="1"/>
          <p:nvPr/>
        </p:nvSpPr>
        <p:spPr>
          <a:xfrm>
            <a:off x="11369462" y="801667"/>
            <a:ext cx="5181900" cy="645900"/>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1" i="0" lang="en-US" sz="4197" u="none" cap="none" strike="noStrike">
                <a:solidFill>
                  <a:srgbClr val="FFFFFF"/>
                </a:solidFill>
                <a:latin typeface="Calibri"/>
                <a:ea typeface="Calibri"/>
                <a:cs typeface="Calibri"/>
                <a:sym typeface="Calibri"/>
              </a:rPr>
              <a:t>DE BETANCOURT</a:t>
            </a:r>
            <a:endParaRPr/>
          </a:p>
        </p:txBody>
      </p:sp>
      <p:sp>
        <p:nvSpPr>
          <p:cNvPr id="88" name="Google Shape;88;p1"/>
          <p:cNvSpPr txBox="1"/>
          <p:nvPr/>
        </p:nvSpPr>
        <p:spPr>
          <a:xfrm>
            <a:off x="7090204" y="2830640"/>
            <a:ext cx="4107600" cy="4625700"/>
          </a:xfrm>
          <a:prstGeom prst="rect">
            <a:avLst/>
          </a:prstGeom>
          <a:noFill/>
          <a:ln>
            <a:noFill/>
          </a:ln>
        </p:spPr>
        <p:txBody>
          <a:bodyPr anchorCtr="0" anchor="t" bIns="0" lIns="0" spcFirstLastPara="1" rIns="0" wrap="square" tIns="0">
            <a:spAutoFit/>
          </a:bodyPr>
          <a:lstStyle/>
          <a:p>
            <a:pPr indent="0" lvl="0" marL="0" marR="0" rtl="0" algn="ctr">
              <a:lnSpc>
                <a:spcPct val="227452"/>
              </a:lnSpc>
              <a:spcBef>
                <a:spcPts val="0"/>
              </a:spcBef>
              <a:spcAft>
                <a:spcPts val="0"/>
              </a:spcAft>
              <a:buNone/>
            </a:pPr>
            <a:r>
              <a:rPr b="0" i="0" lang="en-US" sz="2976" u="none" cap="none" strike="noStrike">
                <a:solidFill>
                  <a:srgbClr val="FFFFFF"/>
                </a:solidFill>
                <a:latin typeface="Calibri"/>
                <a:ea typeface="Calibri"/>
                <a:cs typeface="Calibri"/>
                <a:sym typeface="Calibri"/>
              </a:rPr>
              <a:t>Sebastián Herrera Santiago Córdoba </a:t>
            </a:r>
            <a:endParaRPr/>
          </a:p>
          <a:p>
            <a:pPr indent="0" lvl="0" marL="0" marR="0" rtl="0" algn="ctr">
              <a:lnSpc>
                <a:spcPct val="227452"/>
              </a:lnSpc>
              <a:spcBef>
                <a:spcPts val="0"/>
              </a:spcBef>
              <a:spcAft>
                <a:spcPts val="0"/>
              </a:spcAft>
              <a:buNone/>
            </a:pPr>
            <a:r>
              <a:rPr b="0" i="0" lang="en-US" sz="2976" u="none" cap="none" strike="noStrike">
                <a:solidFill>
                  <a:srgbClr val="FFFFFF"/>
                </a:solidFill>
                <a:latin typeface="Calibri"/>
                <a:ea typeface="Calibri"/>
                <a:cs typeface="Calibri"/>
                <a:sym typeface="Calibri"/>
              </a:rPr>
              <a:t>Mabel Chaparro</a:t>
            </a:r>
            <a:endParaRPr/>
          </a:p>
          <a:p>
            <a:pPr indent="0" lvl="0" marL="0" marR="0" rtl="0" algn="ctr">
              <a:lnSpc>
                <a:spcPct val="227452"/>
              </a:lnSpc>
              <a:spcBef>
                <a:spcPts val="0"/>
              </a:spcBef>
              <a:spcAft>
                <a:spcPts val="0"/>
              </a:spcAft>
              <a:buNone/>
            </a:pPr>
            <a:r>
              <a:rPr b="0" i="0" lang="en-US" sz="2976" u="none" cap="none" strike="noStrike">
                <a:solidFill>
                  <a:srgbClr val="FFFFFF"/>
                </a:solidFill>
                <a:latin typeface="Calibri"/>
                <a:ea typeface="Calibri"/>
                <a:cs typeface="Calibri"/>
                <a:sym typeface="Calibri"/>
              </a:rPr>
              <a:t> David Camacho</a:t>
            </a:r>
            <a:endParaRPr/>
          </a:p>
          <a:p>
            <a:pPr indent="0" lvl="0" marL="0" marR="0" rtl="0" algn="ctr">
              <a:lnSpc>
                <a:spcPct val="227452"/>
              </a:lnSpc>
              <a:spcBef>
                <a:spcPts val="0"/>
              </a:spcBef>
              <a:spcAft>
                <a:spcPts val="0"/>
              </a:spcAft>
              <a:buNone/>
            </a:pPr>
            <a:r>
              <a:rPr b="0" i="0" lang="en-US" sz="2976" u="none" cap="none" strike="noStrike">
                <a:solidFill>
                  <a:srgbClr val="FFFFFF"/>
                </a:solidFill>
                <a:latin typeface="Calibri"/>
                <a:ea typeface="Calibri"/>
                <a:cs typeface="Calibri"/>
                <a:sym typeface="Calibri"/>
              </a:rPr>
              <a:t> Hernán Polo</a:t>
            </a:r>
            <a:endParaRPr/>
          </a:p>
        </p:txBody>
      </p:sp>
      <p:sp>
        <p:nvSpPr>
          <p:cNvPr id="89" name="Google Shape;89;p1"/>
          <p:cNvSpPr txBox="1"/>
          <p:nvPr/>
        </p:nvSpPr>
        <p:spPr>
          <a:xfrm>
            <a:off x="5738377" y="7955010"/>
            <a:ext cx="7105439" cy="537172"/>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b="0" i="0" lang="en-US" sz="2848" u="none" cap="none" strike="noStrike">
                <a:solidFill>
                  <a:srgbClr val="FFFFFF"/>
                </a:solidFill>
                <a:latin typeface="Calibri"/>
                <a:ea typeface="Calibri"/>
                <a:cs typeface="Calibri"/>
                <a:sym typeface="Calibri"/>
              </a:rPr>
              <a:t>Análisis y desarrollo de software -3315796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3" name="Shape 93"/>
        <p:cNvGrpSpPr/>
        <p:nvPr/>
      </p:nvGrpSpPr>
      <p:grpSpPr>
        <a:xfrm>
          <a:off x="0" y="0"/>
          <a:ext cx="0" cy="0"/>
          <a:chOff x="0" y="0"/>
          <a:chExt cx="0" cy="0"/>
        </a:xfrm>
      </p:grpSpPr>
      <p:sp>
        <p:nvSpPr>
          <p:cNvPr id="94" name="Google Shape;94;p2"/>
          <p:cNvSpPr/>
          <p:nvPr/>
        </p:nvSpPr>
        <p:spPr>
          <a:xfrm>
            <a:off x="0" y="-1905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3">
              <a:alphaModFix/>
            </a:blip>
            <a:stretch>
              <a:fillRect b="0" l="0" r="0" t="0"/>
            </a:stretch>
          </a:blipFill>
          <a:ln>
            <a:noFill/>
          </a:ln>
        </p:spPr>
      </p:sp>
      <p:sp>
        <p:nvSpPr>
          <p:cNvPr id="95" name="Google Shape;95;p2"/>
          <p:cNvSpPr/>
          <p:nvPr/>
        </p:nvSpPr>
        <p:spPr>
          <a:xfrm>
            <a:off x="29" y="72"/>
            <a:ext cx="9144000" cy="10286618"/>
          </a:xfrm>
          <a:custGeom>
            <a:rect b="b" l="l" r="r" t="t"/>
            <a:pathLst>
              <a:path extrusionOk="0" h="13715492" w="12192000">
                <a:moveTo>
                  <a:pt x="0" y="0"/>
                </a:moveTo>
                <a:lnTo>
                  <a:pt x="12192000" y="0"/>
                </a:lnTo>
                <a:lnTo>
                  <a:pt x="12192000" y="13715492"/>
                </a:lnTo>
                <a:lnTo>
                  <a:pt x="0" y="13715492"/>
                </a:lnTo>
                <a:lnTo>
                  <a:pt x="0" y="0"/>
                </a:lnTo>
                <a:close/>
              </a:path>
            </a:pathLst>
          </a:custGeom>
          <a:blipFill rotWithShape="1">
            <a:blip r:embed="rId4">
              <a:alphaModFix/>
            </a:blip>
            <a:stretch>
              <a:fillRect b="0" l="-10" r="-9" t="0"/>
            </a:stretch>
          </a:blipFill>
          <a:ln>
            <a:noFill/>
          </a:ln>
        </p:spPr>
      </p:sp>
      <p:sp>
        <p:nvSpPr>
          <p:cNvPr id="96" name="Google Shape;96;p2"/>
          <p:cNvSpPr txBox="1"/>
          <p:nvPr/>
        </p:nvSpPr>
        <p:spPr>
          <a:xfrm>
            <a:off x="2138398" y="4261027"/>
            <a:ext cx="3150015" cy="1233323"/>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5410" u="none" cap="none" strike="noStrike">
                <a:solidFill>
                  <a:srgbClr val="FFFFFF"/>
                </a:solidFill>
                <a:latin typeface="Calibri"/>
                <a:ea typeface="Calibri"/>
                <a:cs typeface="Calibri"/>
                <a:sym typeface="Calibri"/>
              </a:rPr>
              <a:t>INDICE</a:t>
            </a:r>
            <a:endParaRPr/>
          </a:p>
        </p:txBody>
      </p:sp>
      <p:sp>
        <p:nvSpPr>
          <p:cNvPr id="97" name="Google Shape;97;p2"/>
          <p:cNvSpPr txBox="1"/>
          <p:nvPr/>
        </p:nvSpPr>
        <p:spPr>
          <a:xfrm>
            <a:off x="10690692" y="3155475"/>
            <a:ext cx="5488442" cy="4622025"/>
          </a:xfrm>
          <a:prstGeom prst="rect">
            <a:avLst/>
          </a:prstGeom>
          <a:noFill/>
          <a:ln>
            <a:noFill/>
          </a:ln>
        </p:spPr>
        <p:txBody>
          <a:bodyPr anchorCtr="0" anchor="t" bIns="0" lIns="0" spcFirstLastPara="1" rIns="0" wrap="square" tIns="0">
            <a:spAutoFit/>
          </a:bodyPr>
          <a:lstStyle/>
          <a:p>
            <a:pPr indent="-199510" lvl="1" marL="627621" marR="0" rtl="0" algn="l">
              <a:lnSpc>
                <a:spcPct val="226055"/>
              </a:lnSpc>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Planteamiento Problema</a:t>
            </a:r>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Justificacion</a:t>
            </a:r>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Preguntas Proyecto</a:t>
            </a:r>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Objetivo General</a:t>
            </a:r>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Objetivos Especificos</a:t>
            </a:r>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Alcance </a:t>
            </a:r>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Modulos</a:t>
            </a:r>
            <a:endParaRPr/>
          </a:p>
          <a:p>
            <a:pPr indent="-279989" lvl="2" marL="839968" marR="0" rtl="0" algn="l">
              <a:lnSpc>
                <a:spcPct val="139972"/>
              </a:lnSpc>
              <a:spcBef>
                <a:spcPts val="0"/>
              </a:spcBef>
              <a:spcAft>
                <a:spcPts val="0"/>
              </a:spcAft>
              <a:buClr>
                <a:srgbClr val="FFFFFF"/>
              </a:buClr>
              <a:buSzPts val="2907"/>
              <a:buFont typeface="Arial"/>
              <a:buChar char="⚬"/>
            </a:pPr>
            <a:r>
              <a:rPr b="0" i="0" lang="en-US" sz="2907" u="none" cap="none" strike="noStrike">
                <a:solidFill>
                  <a:srgbClr val="FFFFFF"/>
                </a:solidFill>
                <a:latin typeface="Arial"/>
                <a:ea typeface="Arial"/>
                <a:cs typeface="Arial"/>
                <a:sym typeface="Arial"/>
              </a:rPr>
              <a:t>Recoleccion De Informacion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1" name="Shape 101"/>
        <p:cNvGrpSpPr/>
        <p:nvPr/>
      </p:nvGrpSpPr>
      <p:grpSpPr>
        <a:xfrm>
          <a:off x="0" y="0"/>
          <a:ext cx="0" cy="0"/>
          <a:chOff x="0" y="0"/>
          <a:chExt cx="0" cy="0"/>
        </a:xfrm>
      </p:grpSpPr>
      <p:sp>
        <p:nvSpPr>
          <p:cNvPr id="102" name="Google Shape;102;p3"/>
          <p:cNvSpPr/>
          <p:nvPr/>
        </p:nvSpPr>
        <p:spPr>
          <a:xfrm>
            <a:off x="0" y="-1905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3">
              <a:alphaModFix/>
            </a:blip>
            <a:stretch>
              <a:fillRect b="0" l="0" r="0" t="0"/>
            </a:stretch>
          </a:blipFill>
          <a:ln>
            <a:noFill/>
          </a:ln>
        </p:spPr>
      </p:sp>
      <p:sp>
        <p:nvSpPr>
          <p:cNvPr id="103" name="Google Shape;103;p3"/>
          <p:cNvSpPr/>
          <p:nvPr/>
        </p:nvSpPr>
        <p:spPr>
          <a:xfrm>
            <a:off x="29" y="72"/>
            <a:ext cx="9144000" cy="10286618"/>
          </a:xfrm>
          <a:custGeom>
            <a:rect b="b" l="l" r="r" t="t"/>
            <a:pathLst>
              <a:path extrusionOk="0" h="13715492" w="12192000">
                <a:moveTo>
                  <a:pt x="0" y="0"/>
                </a:moveTo>
                <a:lnTo>
                  <a:pt x="12192000" y="0"/>
                </a:lnTo>
                <a:lnTo>
                  <a:pt x="12192000" y="13715492"/>
                </a:lnTo>
                <a:lnTo>
                  <a:pt x="0" y="13715492"/>
                </a:lnTo>
                <a:lnTo>
                  <a:pt x="0" y="0"/>
                </a:lnTo>
                <a:close/>
              </a:path>
            </a:pathLst>
          </a:custGeom>
          <a:blipFill rotWithShape="1">
            <a:blip r:embed="rId4">
              <a:alphaModFix/>
            </a:blip>
            <a:stretch>
              <a:fillRect b="0" l="-10" r="-9" t="0"/>
            </a:stretch>
          </a:blipFill>
          <a:ln>
            <a:noFill/>
          </a:ln>
        </p:spPr>
      </p:sp>
      <p:sp>
        <p:nvSpPr>
          <p:cNvPr id="104" name="Google Shape;104;p3"/>
          <p:cNvSpPr txBox="1"/>
          <p:nvPr/>
        </p:nvSpPr>
        <p:spPr>
          <a:xfrm>
            <a:off x="1932999" y="4720338"/>
            <a:ext cx="4837854" cy="1219047"/>
          </a:xfrm>
          <a:prstGeom prst="rect">
            <a:avLst/>
          </a:prstGeom>
          <a:noFill/>
          <a:ln>
            <a:noFill/>
          </a:ln>
        </p:spPr>
        <p:txBody>
          <a:bodyPr anchorCtr="0" anchor="t" bIns="0" lIns="0" spcFirstLastPara="1" rIns="0" wrap="square" tIns="0">
            <a:spAutoFit/>
          </a:bodyPr>
          <a:lstStyle/>
          <a:p>
            <a:pPr indent="0" lvl="0" marL="0" marR="0" rtl="0" algn="l">
              <a:lnSpc>
                <a:spcPct val="139953"/>
              </a:lnSpc>
              <a:spcBef>
                <a:spcPts val="0"/>
              </a:spcBef>
              <a:spcAft>
                <a:spcPts val="0"/>
              </a:spcAft>
              <a:buNone/>
            </a:pPr>
            <a:r>
              <a:rPr b="0" i="0" lang="en-US" sz="3006" u="none" cap="none" strike="noStrike">
                <a:solidFill>
                  <a:srgbClr val="FFFFFF"/>
                </a:solidFill>
                <a:latin typeface="Calibri"/>
                <a:ea typeface="Calibri"/>
                <a:cs typeface="Calibri"/>
                <a:sym typeface="Calibri"/>
              </a:rPr>
              <a:t>PLANTEAMINETO DE PROBLEMATICA</a:t>
            </a:r>
            <a:endParaRPr/>
          </a:p>
        </p:txBody>
      </p:sp>
      <p:sp>
        <p:nvSpPr>
          <p:cNvPr id="105" name="Google Shape;105;p3"/>
          <p:cNvSpPr txBox="1"/>
          <p:nvPr/>
        </p:nvSpPr>
        <p:spPr>
          <a:xfrm>
            <a:off x="10908406" y="1945119"/>
            <a:ext cx="104628" cy="483728"/>
          </a:xfrm>
          <a:prstGeom prst="rect">
            <a:avLst/>
          </a:prstGeom>
          <a:noFill/>
          <a:ln>
            <a:noFill/>
          </a:ln>
        </p:spPr>
        <p:txBody>
          <a:bodyPr anchorCtr="0" anchor="t" bIns="0" lIns="0" spcFirstLastPara="1" rIns="0" wrap="square" tIns="0">
            <a:spAutoFit/>
          </a:bodyPr>
          <a:lstStyle/>
          <a:p>
            <a:pPr indent="0" lvl="0" marL="0" marR="0" rtl="0" algn="l">
              <a:lnSpc>
                <a:spcPct val="139965"/>
              </a:lnSpc>
              <a:spcBef>
                <a:spcPts val="0"/>
              </a:spcBef>
              <a:spcAft>
                <a:spcPts val="0"/>
              </a:spcAft>
              <a:buNone/>
            </a:pPr>
            <a:r>
              <a:rPr b="0" i="0" lang="en-US" sz="2307" u="none" cap="none" strike="noStrike">
                <a:solidFill>
                  <a:srgbClr val="FFFFFF"/>
                </a:solidFill>
                <a:latin typeface="Arial"/>
                <a:ea typeface="Arial"/>
                <a:cs typeface="Arial"/>
                <a:sym typeface="Arial"/>
              </a:rPr>
              <a:t>•</a:t>
            </a:r>
            <a:endParaRPr/>
          </a:p>
        </p:txBody>
      </p:sp>
      <p:sp>
        <p:nvSpPr>
          <p:cNvPr id="106" name="Google Shape;106;p3"/>
          <p:cNvSpPr txBox="1"/>
          <p:nvPr/>
        </p:nvSpPr>
        <p:spPr>
          <a:xfrm>
            <a:off x="11118636" y="1821294"/>
            <a:ext cx="6618591" cy="6821729"/>
          </a:xfrm>
          <a:prstGeom prst="rect">
            <a:avLst/>
          </a:prstGeom>
          <a:noFill/>
          <a:ln>
            <a:noFill/>
          </a:ln>
        </p:spPr>
        <p:txBody>
          <a:bodyPr anchorCtr="0" anchor="t" bIns="0" lIns="0" spcFirstLastPara="1" rIns="0" wrap="square" tIns="0">
            <a:spAutoFit/>
          </a:bodyPr>
          <a:lstStyle/>
          <a:p>
            <a:pPr indent="0" lvl="0" marL="0" marR="0" rtl="0" algn="just">
              <a:lnSpc>
                <a:spcPct val="156043"/>
              </a:lnSpc>
              <a:spcBef>
                <a:spcPts val="0"/>
              </a:spcBef>
              <a:spcAft>
                <a:spcPts val="0"/>
              </a:spcAft>
              <a:buNone/>
            </a:pPr>
            <a:r>
              <a:rPr b="0" i="0" lang="en-US" sz="2457" u="none" cap="none" strike="noStrike">
                <a:solidFill>
                  <a:srgbClr val="FFFFFF"/>
                </a:solidFill>
                <a:latin typeface="Calibri"/>
                <a:ea typeface="Calibri"/>
                <a:cs typeface="Calibri"/>
                <a:sym typeface="Calibri"/>
              </a:rPr>
              <a:t>Taller de reparación automotriz ubicado en Venecia y administrado por tres hermanos, el cual se  especializa en cambios, arreglos y mantenimiento. Actualmente, el método utilizado para recibir y enviar piezas no es el más efectivo, ya que se realiza de manera manual. Esto causa confusiones, pérdida de información y que algunas piezas lleguen incompletas. Como consecuencia, surge una problemática importante: al recibir los pedidos de repuestos, los paquetes no contienen la cantidad exacta de productos solicitados, afectando directamente las ventas, pues la empresa queda con menos productos de los necesarios para operar correctamente.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0" name="Shape 110"/>
        <p:cNvGrpSpPr/>
        <p:nvPr/>
      </p:nvGrpSpPr>
      <p:grpSpPr>
        <a:xfrm>
          <a:off x="0" y="0"/>
          <a:ext cx="0" cy="0"/>
          <a:chOff x="0" y="0"/>
          <a:chExt cx="0" cy="0"/>
        </a:xfrm>
      </p:grpSpPr>
      <p:sp>
        <p:nvSpPr>
          <p:cNvPr id="111" name="Google Shape;111;p4"/>
          <p:cNvSpPr/>
          <p:nvPr/>
        </p:nvSpPr>
        <p:spPr>
          <a:xfrm>
            <a:off x="2286000" y="7236719"/>
            <a:ext cx="1456753" cy="47621"/>
          </a:xfrm>
          <a:custGeom>
            <a:rect b="b" l="l" r="r" t="t"/>
            <a:pathLst>
              <a:path extrusionOk="0" h="47621" w="1456753">
                <a:moveTo>
                  <a:pt x="0" y="0"/>
                </a:moveTo>
                <a:lnTo>
                  <a:pt x="1456754" y="0"/>
                </a:lnTo>
                <a:lnTo>
                  <a:pt x="1456754" y="47620"/>
                </a:lnTo>
                <a:lnTo>
                  <a:pt x="0" y="47620"/>
                </a:lnTo>
                <a:lnTo>
                  <a:pt x="0" y="0"/>
                </a:lnTo>
                <a:close/>
              </a:path>
            </a:pathLst>
          </a:custGeom>
          <a:blipFill rotWithShape="1">
            <a:blip r:embed="rId3">
              <a:alphaModFix/>
            </a:blip>
            <a:stretch>
              <a:fillRect b="-9979" l="0" r="0" t="-9980"/>
            </a:stretch>
          </a:blipFill>
          <a:ln>
            <a:noFill/>
          </a:ln>
        </p:spPr>
      </p:sp>
      <p:sp>
        <p:nvSpPr>
          <p:cNvPr id="112" name="Google Shape;112;p4"/>
          <p:cNvSpPr txBox="1"/>
          <p:nvPr/>
        </p:nvSpPr>
        <p:spPr>
          <a:xfrm>
            <a:off x="2281814" y="7464309"/>
            <a:ext cx="6624758" cy="121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5250" u="none" cap="none" strike="noStrike">
                <a:solidFill>
                  <a:srgbClr val="FFFFFF"/>
                </a:solidFill>
                <a:latin typeface="Calibri"/>
                <a:ea typeface="Calibri"/>
                <a:cs typeface="Calibri"/>
                <a:sym typeface="Calibri"/>
              </a:rPr>
              <a:t>JUSTIFICACIÓN</a:t>
            </a:r>
            <a:endParaRPr/>
          </a:p>
        </p:txBody>
      </p:sp>
      <p:sp>
        <p:nvSpPr>
          <p:cNvPr id="113" name="Google Shape;113;p4"/>
          <p:cNvSpPr txBox="1"/>
          <p:nvPr/>
        </p:nvSpPr>
        <p:spPr>
          <a:xfrm>
            <a:off x="2281814" y="1170594"/>
            <a:ext cx="104456" cy="483184"/>
          </a:xfrm>
          <a:prstGeom prst="rect">
            <a:avLst/>
          </a:prstGeom>
          <a:noFill/>
          <a:ln>
            <a:noFill/>
          </a:ln>
        </p:spPr>
        <p:txBody>
          <a:bodyPr anchorCtr="0" anchor="t" bIns="0" lIns="0" spcFirstLastPara="1" rIns="0" wrap="square" tIns="0">
            <a:spAutoFit/>
          </a:bodyPr>
          <a:lstStyle/>
          <a:p>
            <a:pPr indent="0" lvl="0" marL="0" marR="0" rtl="0" algn="l">
              <a:lnSpc>
                <a:spcPct val="140095"/>
              </a:lnSpc>
              <a:spcBef>
                <a:spcPts val="0"/>
              </a:spcBef>
              <a:spcAft>
                <a:spcPts val="0"/>
              </a:spcAft>
              <a:buNone/>
            </a:pPr>
            <a:r>
              <a:rPr b="0" i="0" lang="en-US" sz="2302" u="none" cap="none" strike="noStrike">
                <a:solidFill>
                  <a:srgbClr val="FFFFFF"/>
                </a:solidFill>
                <a:latin typeface="Arial"/>
                <a:ea typeface="Arial"/>
                <a:cs typeface="Arial"/>
                <a:sym typeface="Arial"/>
              </a:rPr>
              <a:t>•</a:t>
            </a:r>
            <a:endParaRPr/>
          </a:p>
        </p:txBody>
      </p:sp>
      <p:sp>
        <p:nvSpPr>
          <p:cNvPr id="114" name="Google Shape;114;p4"/>
          <p:cNvSpPr txBox="1"/>
          <p:nvPr/>
        </p:nvSpPr>
        <p:spPr>
          <a:xfrm>
            <a:off x="2281814" y="2718787"/>
            <a:ext cx="104456" cy="483185"/>
          </a:xfrm>
          <a:prstGeom prst="rect">
            <a:avLst/>
          </a:prstGeom>
          <a:noFill/>
          <a:ln>
            <a:noFill/>
          </a:ln>
        </p:spPr>
        <p:txBody>
          <a:bodyPr anchorCtr="0" anchor="t" bIns="0" lIns="0" spcFirstLastPara="1" rIns="0" wrap="square" tIns="0">
            <a:spAutoFit/>
          </a:bodyPr>
          <a:lstStyle/>
          <a:p>
            <a:pPr indent="0" lvl="0" marL="0" marR="0" rtl="0" algn="l">
              <a:lnSpc>
                <a:spcPct val="140095"/>
              </a:lnSpc>
              <a:spcBef>
                <a:spcPts val="0"/>
              </a:spcBef>
              <a:spcAft>
                <a:spcPts val="0"/>
              </a:spcAft>
              <a:buNone/>
            </a:pPr>
            <a:r>
              <a:rPr b="0" i="0" lang="en-US" sz="2302" u="none" cap="none" strike="noStrike">
                <a:solidFill>
                  <a:srgbClr val="FFFFFF"/>
                </a:solidFill>
                <a:latin typeface="Arial"/>
                <a:ea typeface="Arial"/>
                <a:cs typeface="Arial"/>
                <a:sym typeface="Arial"/>
              </a:rPr>
              <a:t>•</a:t>
            </a:r>
            <a:endParaRPr/>
          </a:p>
        </p:txBody>
      </p:sp>
      <p:sp>
        <p:nvSpPr>
          <p:cNvPr id="115" name="Google Shape;115;p4"/>
          <p:cNvSpPr txBox="1"/>
          <p:nvPr/>
        </p:nvSpPr>
        <p:spPr>
          <a:xfrm>
            <a:off x="2693294" y="1128899"/>
            <a:ext cx="12038676" cy="3924876"/>
          </a:xfrm>
          <a:prstGeom prst="rect">
            <a:avLst/>
          </a:prstGeom>
          <a:noFill/>
          <a:ln>
            <a:noFill/>
          </a:ln>
        </p:spPr>
        <p:txBody>
          <a:bodyPr anchorCtr="0" anchor="t" bIns="0" lIns="0" spcFirstLastPara="1" rIns="0" wrap="square" tIns="0">
            <a:spAutoFit/>
          </a:bodyPr>
          <a:lstStyle/>
          <a:p>
            <a:pPr indent="0" lvl="0" marL="0" marR="0" rtl="0" algn="just">
              <a:lnSpc>
                <a:spcPct val="131888"/>
              </a:lnSpc>
              <a:spcBef>
                <a:spcPts val="0"/>
              </a:spcBef>
              <a:spcAft>
                <a:spcPts val="0"/>
              </a:spcAft>
              <a:buNone/>
            </a:pPr>
            <a:r>
              <a:rPr b="0" i="0" lang="en-US" sz="2700" u="none" cap="none" strike="noStrike">
                <a:solidFill>
                  <a:srgbClr val="FFFFFF"/>
                </a:solidFill>
                <a:latin typeface="Calibri"/>
                <a:ea typeface="Calibri"/>
                <a:cs typeface="Calibri"/>
                <a:sym typeface="Calibri"/>
              </a:rPr>
              <a:t>Al llegar un pedido de repuestos de un proveedor, las cajas o paquetes a menudo no contienen la cantidad exacta o la variedad de productos que se facturaron o solicitaron</a:t>
            </a:r>
            <a:endParaRPr/>
          </a:p>
          <a:p>
            <a:pPr indent="0" lvl="0" marL="0" marR="0" rtl="0" algn="just">
              <a:lnSpc>
                <a:spcPct val="243259"/>
              </a:lnSpc>
              <a:spcBef>
                <a:spcPts val="0"/>
              </a:spcBef>
              <a:spcAft>
                <a:spcPts val="0"/>
              </a:spcAft>
              <a:buNone/>
            </a:pPr>
            <a:r>
              <a:rPr b="0" i="0" lang="en-US" sz="2700" u="none" cap="none" strike="noStrike">
                <a:solidFill>
                  <a:srgbClr val="FFFFFF"/>
                </a:solidFill>
                <a:latin typeface="Calibri"/>
                <a:ea typeface="Calibri"/>
                <a:cs typeface="Calibri"/>
                <a:sym typeface="Calibri"/>
              </a:rPr>
              <a:t>Este proyecto permitirá optimizar el control del inventario, garantizando que los </a:t>
            </a:r>
            <a:endParaRPr/>
          </a:p>
          <a:p>
            <a:pPr indent="0" lvl="0" marL="0" marR="0" rtl="0" algn="just">
              <a:lnSpc>
                <a:spcPct val="50000"/>
              </a:lnSpc>
              <a:spcBef>
                <a:spcPts val="0"/>
              </a:spcBef>
              <a:spcAft>
                <a:spcPts val="0"/>
              </a:spcAft>
              <a:buNone/>
            </a:pPr>
            <a:r>
              <a:rPr b="0" i="0" lang="en-US" sz="2700" u="none" cap="none" strike="noStrike">
                <a:solidFill>
                  <a:srgbClr val="FFFFFF"/>
                </a:solidFill>
                <a:latin typeface="Calibri"/>
                <a:ea typeface="Calibri"/>
                <a:cs typeface="Calibri"/>
                <a:sym typeface="Calibri"/>
              </a:rPr>
              <a:t>productos registrados coincidan con los productos físicos. Esto reducirá los errores, </a:t>
            </a:r>
            <a:endParaRPr/>
          </a:p>
          <a:p>
            <a:pPr indent="0" lvl="0" marL="0" marR="0" rtl="0" algn="just">
              <a:lnSpc>
                <a:spcPct val="214000"/>
              </a:lnSpc>
              <a:spcBef>
                <a:spcPts val="0"/>
              </a:spcBef>
              <a:spcAft>
                <a:spcPts val="0"/>
              </a:spcAft>
              <a:buNone/>
            </a:pPr>
            <a:r>
              <a:rPr b="0" i="0" lang="en-US" sz="2700" u="none" cap="none" strike="noStrike">
                <a:solidFill>
                  <a:srgbClr val="FFFFFF"/>
                </a:solidFill>
                <a:latin typeface="Calibri"/>
                <a:ea typeface="Calibri"/>
                <a:cs typeface="Calibri"/>
                <a:sym typeface="Calibri"/>
              </a:rPr>
              <a:t>pérdidas y reprocesos, lo que se traduce en un ahorro significativo para el taller, </a:t>
            </a:r>
            <a:endParaRPr/>
          </a:p>
          <a:p>
            <a:pPr indent="0" lvl="0" marL="0" marR="0" rtl="0" algn="just">
              <a:lnSpc>
                <a:spcPct val="49981"/>
              </a:lnSpc>
              <a:spcBef>
                <a:spcPts val="0"/>
              </a:spcBef>
              <a:spcAft>
                <a:spcPts val="0"/>
              </a:spcAft>
              <a:buNone/>
            </a:pPr>
            <a:r>
              <a:rPr b="0" i="0" lang="en-US" sz="2703" u="none" cap="none" strike="noStrike">
                <a:solidFill>
                  <a:srgbClr val="FFFFFF"/>
                </a:solidFill>
                <a:latin typeface="Calibri"/>
                <a:ea typeface="Calibri"/>
                <a:cs typeface="Calibri"/>
                <a:sym typeface="Calibri"/>
              </a:rPr>
              <a:t>Además brindará a los colaboradores una herramienta práctica con una interfaz </a:t>
            </a:r>
            <a:endParaRPr/>
          </a:p>
          <a:p>
            <a:pPr indent="0" lvl="0" marL="0" marR="0" rtl="0" algn="just">
              <a:lnSpc>
                <a:spcPct val="214259"/>
              </a:lnSpc>
              <a:spcBef>
                <a:spcPts val="0"/>
              </a:spcBef>
              <a:spcAft>
                <a:spcPts val="0"/>
              </a:spcAft>
              <a:buNone/>
            </a:pPr>
            <a:r>
              <a:rPr b="0" i="0" lang="en-US" sz="2700" u="none" cap="none" strike="noStrike">
                <a:solidFill>
                  <a:srgbClr val="FFFFFF"/>
                </a:solidFill>
                <a:latin typeface="Calibri"/>
                <a:ea typeface="Calibri"/>
                <a:cs typeface="Calibri"/>
                <a:sym typeface="Calibri"/>
              </a:rPr>
              <a:t>intuitiva que facilitará su trabajo diario, elevando la eficiencia operativa general.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9" name="Shape 119"/>
        <p:cNvGrpSpPr/>
        <p:nvPr/>
      </p:nvGrpSpPr>
      <p:grpSpPr>
        <a:xfrm>
          <a:off x="0" y="0"/>
          <a:ext cx="0" cy="0"/>
          <a:chOff x="0" y="0"/>
          <a:chExt cx="0" cy="0"/>
        </a:xfrm>
      </p:grpSpPr>
      <p:sp>
        <p:nvSpPr>
          <p:cNvPr id="120" name="Google Shape;120;p5"/>
          <p:cNvSpPr/>
          <p:nvPr/>
        </p:nvSpPr>
        <p:spPr>
          <a:xfrm>
            <a:off x="2037498" y="3331374"/>
            <a:ext cx="14110149" cy="5910267"/>
          </a:xfrm>
          <a:custGeom>
            <a:rect b="b" l="l" r="r" t="t"/>
            <a:pathLst>
              <a:path extrusionOk="0" h="5910267" w="14110149">
                <a:moveTo>
                  <a:pt x="0" y="0"/>
                </a:moveTo>
                <a:lnTo>
                  <a:pt x="14110149" y="0"/>
                </a:lnTo>
                <a:lnTo>
                  <a:pt x="14110149" y="5910267"/>
                </a:lnTo>
                <a:lnTo>
                  <a:pt x="0" y="5910267"/>
                </a:lnTo>
                <a:lnTo>
                  <a:pt x="0" y="0"/>
                </a:lnTo>
                <a:close/>
              </a:path>
            </a:pathLst>
          </a:custGeom>
          <a:blipFill rotWithShape="1">
            <a:blip r:embed="rId3">
              <a:alphaModFix/>
            </a:blip>
            <a:stretch>
              <a:fillRect b="-98" l="0" r="0" t="-98"/>
            </a:stretch>
          </a:blipFill>
          <a:ln>
            <a:noFill/>
          </a:ln>
        </p:spPr>
      </p:sp>
      <p:sp>
        <p:nvSpPr>
          <p:cNvPr id="121" name="Google Shape;121;p5"/>
          <p:cNvSpPr txBox="1"/>
          <p:nvPr/>
        </p:nvSpPr>
        <p:spPr>
          <a:xfrm>
            <a:off x="4843648" y="1450905"/>
            <a:ext cx="8645380" cy="960197"/>
          </a:xfrm>
          <a:prstGeom prst="rect">
            <a:avLst/>
          </a:prstGeom>
          <a:noFill/>
          <a:ln>
            <a:noFill/>
          </a:ln>
        </p:spPr>
        <p:txBody>
          <a:bodyPr anchorCtr="0" anchor="t" bIns="0" lIns="0" spcFirstLastPara="1" rIns="0" wrap="square" tIns="0">
            <a:spAutoFit/>
          </a:bodyPr>
          <a:lstStyle/>
          <a:p>
            <a:pPr indent="0" lvl="0" marL="0" marR="0" rtl="0" algn="l">
              <a:lnSpc>
                <a:spcPct val="140052"/>
              </a:lnSpc>
              <a:spcBef>
                <a:spcPts val="0"/>
              </a:spcBef>
              <a:spcAft>
                <a:spcPts val="0"/>
              </a:spcAft>
              <a:buNone/>
            </a:pPr>
            <a:r>
              <a:rPr b="1" i="0" lang="en-US" sz="4192" u="none" cap="none" strike="noStrike">
                <a:solidFill>
                  <a:srgbClr val="FFFFFF"/>
                </a:solidFill>
                <a:latin typeface="Calibri"/>
                <a:ea typeface="Calibri"/>
                <a:cs typeface="Calibri"/>
                <a:sym typeface="Calibri"/>
              </a:rPr>
              <a:t>PREGUNTAS DEL PROYECTO</a:t>
            </a:r>
            <a:endParaRPr/>
          </a:p>
        </p:txBody>
      </p:sp>
      <p:sp>
        <p:nvSpPr>
          <p:cNvPr id="122" name="Google Shape;122;p5"/>
          <p:cNvSpPr txBox="1"/>
          <p:nvPr/>
        </p:nvSpPr>
        <p:spPr>
          <a:xfrm>
            <a:off x="2788525" y="5558350"/>
            <a:ext cx="3604200" cy="1740600"/>
          </a:xfrm>
          <a:prstGeom prst="rect">
            <a:avLst/>
          </a:prstGeom>
          <a:noFill/>
          <a:ln>
            <a:noFill/>
          </a:ln>
        </p:spPr>
        <p:txBody>
          <a:bodyPr anchorCtr="0" anchor="t" bIns="0" lIns="0" spcFirstLastPara="1" rIns="0" wrap="square" tIns="0">
            <a:spAutoFit/>
          </a:bodyPr>
          <a:lstStyle/>
          <a:p>
            <a:pPr indent="0" lvl="0" marL="0" marR="0" rtl="0" algn="ctr">
              <a:lnSpc>
                <a:spcPct val="109363"/>
              </a:lnSpc>
              <a:spcBef>
                <a:spcPts val="0"/>
              </a:spcBef>
              <a:spcAft>
                <a:spcPts val="0"/>
              </a:spcAft>
              <a:buNone/>
            </a:pPr>
            <a:r>
              <a:rPr b="0" i="0" lang="en-US" sz="2104" u="none" cap="none" strike="noStrike">
                <a:solidFill>
                  <a:srgbClr val="000000"/>
                </a:solidFill>
                <a:latin typeface="Calibri"/>
                <a:ea typeface="Calibri"/>
                <a:cs typeface="Calibri"/>
                <a:sym typeface="Calibri"/>
              </a:rPr>
              <a:t>¿Cómo puede un sistema de inventario ayudar a garantizar que las cantidades y variedades de repuestos recibidas por el taller coincidan con lo facturado </a:t>
            </a:r>
            <a:endParaRPr/>
          </a:p>
        </p:txBody>
      </p:sp>
      <p:sp>
        <p:nvSpPr>
          <p:cNvPr id="123" name="Google Shape;123;p5"/>
          <p:cNvSpPr txBox="1"/>
          <p:nvPr/>
        </p:nvSpPr>
        <p:spPr>
          <a:xfrm>
            <a:off x="3154606" y="7185313"/>
            <a:ext cx="2834700" cy="324000"/>
          </a:xfrm>
          <a:prstGeom prst="rect">
            <a:avLst/>
          </a:prstGeom>
          <a:noFill/>
          <a:ln>
            <a:noFill/>
          </a:ln>
        </p:spPr>
        <p:txBody>
          <a:bodyPr anchorCtr="0" anchor="t" bIns="0" lIns="0" spcFirstLastPara="1" rIns="0" wrap="square" tIns="0">
            <a:spAutoFit/>
          </a:bodyPr>
          <a:lstStyle/>
          <a:p>
            <a:pPr indent="0" lvl="0" marL="0" marR="0" rtl="0" algn="l">
              <a:lnSpc>
                <a:spcPct val="109363"/>
              </a:lnSpc>
              <a:spcBef>
                <a:spcPts val="0"/>
              </a:spcBef>
              <a:spcAft>
                <a:spcPts val="0"/>
              </a:spcAft>
              <a:buNone/>
            </a:pPr>
            <a:r>
              <a:rPr b="0" i="0" lang="en-US" sz="2104" u="none" cap="none" strike="noStrike">
                <a:solidFill>
                  <a:srgbClr val="000000"/>
                </a:solidFill>
                <a:latin typeface="Calibri"/>
                <a:ea typeface="Calibri"/>
                <a:cs typeface="Calibri"/>
                <a:sym typeface="Calibri"/>
              </a:rPr>
              <a:t>y solicitado al proveedor?</a:t>
            </a:r>
            <a:endParaRPr/>
          </a:p>
        </p:txBody>
      </p:sp>
      <p:sp>
        <p:nvSpPr>
          <p:cNvPr id="124" name="Google Shape;124;p5"/>
          <p:cNvSpPr txBox="1"/>
          <p:nvPr/>
        </p:nvSpPr>
        <p:spPr>
          <a:xfrm>
            <a:off x="7527425" y="5851352"/>
            <a:ext cx="3594300" cy="1386300"/>
          </a:xfrm>
          <a:prstGeom prst="rect">
            <a:avLst/>
          </a:prstGeom>
          <a:noFill/>
          <a:ln>
            <a:noFill/>
          </a:ln>
        </p:spPr>
        <p:txBody>
          <a:bodyPr anchorCtr="0" anchor="t" bIns="0" lIns="0" spcFirstLastPara="1" rIns="0" wrap="square" tIns="0">
            <a:spAutoFit/>
          </a:bodyPr>
          <a:lstStyle/>
          <a:p>
            <a:pPr indent="0" lvl="0" marL="0" marR="0" rtl="0" algn="ctr">
              <a:lnSpc>
                <a:spcPct val="109363"/>
              </a:lnSpc>
              <a:spcBef>
                <a:spcPts val="0"/>
              </a:spcBef>
              <a:spcAft>
                <a:spcPts val="0"/>
              </a:spcAft>
              <a:buNone/>
            </a:pPr>
            <a:r>
              <a:rPr b="0" i="0" lang="en-US" sz="2104" u="none" cap="none" strike="noStrike">
                <a:solidFill>
                  <a:srgbClr val="000000"/>
                </a:solidFill>
                <a:latin typeface="Calibri"/>
                <a:ea typeface="Calibri"/>
                <a:cs typeface="Calibri"/>
                <a:sym typeface="Calibri"/>
              </a:rPr>
              <a:t>¿De qué manera un sistema de inventario digital mejora la gestión y registro de entradas y salidas de repuestos en el taller?</a:t>
            </a:r>
            <a:endParaRPr/>
          </a:p>
        </p:txBody>
      </p:sp>
      <p:sp>
        <p:nvSpPr>
          <p:cNvPr id="125" name="Google Shape;125;p5"/>
          <p:cNvSpPr txBox="1"/>
          <p:nvPr/>
        </p:nvSpPr>
        <p:spPr>
          <a:xfrm>
            <a:off x="12274875" y="5558349"/>
            <a:ext cx="3688800" cy="1740600"/>
          </a:xfrm>
          <a:prstGeom prst="rect">
            <a:avLst/>
          </a:prstGeom>
          <a:noFill/>
          <a:ln>
            <a:noFill/>
          </a:ln>
        </p:spPr>
        <p:txBody>
          <a:bodyPr anchorCtr="0" anchor="t" bIns="0" lIns="0" spcFirstLastPara="1" rIns="0" wrap="square" tIns="0">
            <a:spAutoFit/>
          </a:bodyPr>
          <a:lstStyle/>
          <a:p>
            <a:pPr indent="0" lvl="0" marL="0" marR="0" rtl="0" algn="ctr">
              <a:lnSpc>
                <a:spcPct val="109363"/>
              </a:lnSpc>
              <a:spcBef>
                <a:spcPts val="0"/>
              </a:spcBef>
              <a:spcAft>
                <a:spcPts val="0"/>
              </a:spcAft>
              <a:buNone/>
            </a:pPr>
            <a:r>
              <a:rPr b="0" i="0" lang="en-US" sz="2104" u="none" cap="none" strike="noStrike">
                <a:solidFill>
                  <a:srgbClr val="000000"/>
                </a:solidFill>
                <a:latin typeface="Calibri"/>
                <a:ea typeface="Calibri"/>
                <a:cs typeface="Calibri"/>
                <a:sym typeface="Calibri"/>
              </a:rPr>
              <a:t>¿Cómo puede un sistema de inventario ayudar a prevenir pérdidas económicas por errores en la recepción y almacenamiento de repuestos </a:t>
            </a:r>
            <a:endParaRPr/>
          </a:p>
        </p:txBody>
      </p:sp>
      <p:sp>
        <p:nvSpPr>
          <p:cNvPr id="126" name="Google Shape;126;p5"/>
          <p:cNvSpPr txBox="1"/>
          <p:nvPr/>
        </p:nvSpPr>
        <p:spPr>
          <a:xfrm>
            <a:off x="13468564" y="7164951"/>
            <a:ext cx="1301400" cy="678000"/>
          </a:xfrm>
          <a:prstGeom prst="rect">
            <a:avLst/>
          </a:prstGeom>
          <a:noFill/>
          <a:ln>
            <a:noFill/>
          </a:ln>
        </p:spPr>
        <p:txBody>
          <a:bodyPr anchorCtr="0" anchor="t" bIns="0" lIns="0" spcFirstLastPara="1" rIns="0" wrap="square" tIns="0">
            <a:spAutoFit/>
          </a:bodyPr>
          <a:lstStyle/>
          <a:p>
            <a:pPr indent="0" lvl="0" marL="457200" marR="0" rtl="0" algn="l">
              <a:lnSpc>
                <a:spcPct val="109363"/>
              </a:lnSpc>
              <a:spcBef>
                <a:spcPts val="0"/>
              </a:spcBef>
              <a:spcAft>
                <a:spcPts val="0"/>
              </a:spcAft>
              <a:buNone/>
            </a:pPr>
            <a:r>
              <a:rPr b="0" i="0" lang="en-US" sz="2104" u="none" cap="none" strike="noStrike">
                <a:solidFill>
                  <a:srgbClr val="000000"/>
                </a:solidFill>
                <a:latin typeface="Calibri"/>
                <a:ea typeface="Calibri"/>
                <a:cs typeface="Calibri"/>
                <a:sym typeface="Calibri"/>
              </a:rPr>
              <a:t>en el taller?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0" name="Shape 130"/>
        <p:cNvGrpSpPr/>
        <p:nvPr/>
      </p:nvGrpSpPr>
      <p:grpSpPr>
        <a:xfrm>
          <a:off x="0" y="0"/>
          <a:ext cx="0" cy="0"/>
          <a:chOff x="0" y="0"/>
          <a:chExt cx="0" cy="0"/>
        </a:xfrm>
      </p:grpSpPr>
      <p:sp>
        <p:nvSpPr>
          <p:cNvPr id="131" name="Google Shape;131;p6"/>
          <p:cNvSpPr/>
          <p:nvPr/>
        </p:nvSpPr>
        <p:spPr>
          <a:xfrm>
            <a:off x="0" y="-1905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3">
              <a:alphaModFix/>
            </a:blip>
            <a:stretch>
              <a:fillRect b="0" l="0" r="0" t="0"/>
            </a:stretch>
          </a:blipFill>
          <a:ln>
            <a:noFill/>
          </a:ln>
        </p:spPr>
      </p:sp>
      <p:sp>
        <p:nvSpPr>
          <p:cNvPr id="132" name="Google Shape;132;p6"/>
          <p:cNvSpPr/>
          <p:nvPr/>
        </p:nvSpPr>
        <p:spPr>
          <a:xfrm>
            <a:off x="29" y="0"/>
            <a:ext cx="9144000" cy="10287000"/>
          </a:xfrm>
          <a:custGeom>
            <a:rect b="b" l="l" r="r" t="t"/>
            <a:pathLst>
              <a:path extrusionOk="0" h="13716000" w="12192000">
                <a:moveTo>
                  <a:pt x="0" y="0"/>
                </a:moveTo>
                <a:lnTo>
                  <a:pt x="12192000" y="0"/>
                </a:lnTo>
                <a:lnTo>
                  <a:pt x="12192000" y="13716000"/>
                </a:lnTo>
                <a:lnTo>
                  <a:pt x="0" y="13716000"/>
                </a:lnTo>
                <a:lnTo>
                  <a:pt x="0" y="0"/>
                </a:lnTo>
                <a:close/>
              </a:path>
            </a:pathLst>
          </a:custGeom>
          <a:blipFill rotWithShape="1">
            <a:blip r:embed="rId4">
              <a:alphaModFix/>
            </a:blip>
            <a:stretch>
              <a:fillRect b="-26" l="0" r="0" t="-27"/>
            </a:stretch>
          </a:blipFill>
          <a:ln>
            <a:noFill/>
          </a:ln>
        </p:spPr>
      </p:sp>
      <p:sp>
        <p:nvSpPr>
          <p:cNvPr id="133" name="Google Shape;133;p6"/>
          <p:cNvSpPr txBox="1"/>
          <p:nvPr/>
        </p:nvSpPr>
        <p:spPr>
          <a:xfrm>
            <a:off x="3046281" y="4131050"/>
            <a:ext cx="3261922" cy="993534"/>
          </a:xfrm>
          <a:prstGeom prst="rect">
            <a:avLst/>
          </a:prstGeom>
          <a:noFill/>
          <a:ln>
            <a:noFill/>
          </a:ln>
        </p:spPr>
        <p:txBody>
          <a:bodyPr anchorCtr="0" anchor="t" bIns="0" lIns="0" spcFirstLastPara="1" rIns="0" wrap="square" tIns="0">
            <a:spAutoFit/>
          </a:bodyPr>
          <a:lstStyle/>
          <a:p>
            <a:pPr indent="0" lvl="0" marL="0" marR="0" rtl="0" algn="l">
              <a:lnSpc>
                <a:spcPct val="144227"/>
              </a:lnSpc>
              <a:spcBef>
                <a:spcPts val="0"/>
              </a:spcBef>
              <a:spcAft>
                <a:spcPts val="0"/>
              </a:spcAft>
              <a:buNone/>
            </a:pPr>
            <a:r>
              <a:rPr b="1" i="0" lang="en-US" sz="4192" u="none" cap="none" strike="noStrike">
                <a:solidFill>
                  <a:srgbClr val="FFFFFF"/>
                </a:solidFill>
                <a:latin typeface="Calibri"/>
                <a:ea typeface="Calibri"/>
                <a:cs typeface="Calibri"/>
                <a:sym typeface="Calibri"/>
              </a:rPr>
              <a:t>OBJETIVO </a:t>
            </a:r>
            <a:endParaRPr/>
          </a:p>
        </p:txBody>
      </p:sp>
      <p:sp>
        <p:nvSpPr>
          <p:cNvPr id="134" name="Google Shape;134;p6"/>
          <p:cNvSpPr txBox="1"/>
          <p:nvPr/>
        </p:nvSpPr>
        <p:spPr>
          <a:xfrm>
            <a:off x="3158295" y="4899145"/>
            <a:ext cx="3525904" cy="814007"/>
          </a:xfrm>
          <a:prstGeom prst="rect">
            <a:avLst/>
          </a:prstGeom>
          <a:noFill/>
          <a:ln>
            <a:noFill/>
          </a:ln>
        </p:spPr>
        <p:txBody>
          <a:bodyPr anchorCtr="0" anchor="t" bIns="0" lIns="0" spcFirstLastPara="1" rIns="0" wrap="square" tIns="0">
            <a:spAutoFit/>
          </a:bodyPr>
          <a:lstStyle/>
          <a:p>
            <a:pPr indent="0" lvl="0" marL="0" marR="0" rtl="0" algn="l">
              <a:lnSpc>
                <a:spcPct val="144227"/>
              </a:lnSpc>
              <a:spcBef>
                <a:spcPts val="0"/>
              </a:spcBef>
              <a:spcAft>
                <a:spcPts val="0"/>
              </a:spcAft>
              <a:buNone/>
            </a:pPr>
            <a:r>
              <a:rPr b="1" i="0" lang="en-US" sz="4192" u="none" cap="none" strike="noStrike">
                <a:solidFill>
                  <a:srgbClr val="FFFFFF"/>
                </a:solidFill>
                <a:latin typeface="Calibri"/>
                <a:ea typeface="Calibri"/>
                <a:cs typeface="Calibri"/>
                <a:sym typeface="Calibri"/>
              </a:rPr>
              <a:t>GENERAL</a:t>
            </a:r>
            <a:endParaRPr/>
          </a:p>
        </p:txBody>
      </p:sp>
      <p:sp>
        <p:nvSpPr>
          <p:cNvPr id="135" name="Google Shape;135;p6"/>
          <p:cNvSpPr txBox="1"/>
          <p:nvPr/>
        </p:nvSpPr>
        <p:spPr>
          <a:xfrm>
            <a:off x="10974700" y="890198"/>
            <a:ext cx="97926" cy="437798"/>
          </a:xfrm>
          <a:prstGeom prst="rect">
            <a:avLst/>
          </a:prstGeom>
          <a:noFill/>
          <a:ln>
            <a:noFill/>
          </a:ln>
        </p:spPr>
        <p:txBody>
          <a:bodyPr anchorCtr="0" anchor="t" bIns="0" lIns="0" spcFirstLastPara="1" rIns="0" wrap="square" tIns="0">
            <a:spAutoFit/>
          </a:bodyPr>
          <a:lstStyle/>
          <a:p>
            <a:pPr indent="0" lvl="0" marL="0" marR="0" rtl="0" algn="l">
              <a:lnSpc>
                <a:spcPct val="140037"/>
              </a:lnSpc>
              <a:spcBef>
                <a:spcPts val="0"/>
              </a:spcBef>
              <a:spcAft>
                <a:spcPts val="0"/>
              </a:spcAft>
              <a:buNone/>
            </a:pPr>
            <a:r>
              <a:rPr b="0" i="0" lang="en-US" sz="2158" u="none" cap="none" strike="noStrike">
                <a:solidFill>
                  <a:srgbClr val="FFFFFF"/>
                </a:solidFill>
                <a:latin typeface="Arial"/>
                <a:ea typeface="Arial"/>
                <a:cs typeface="Arial"/>
                <a:sym typeface="Arial"/>
              </a:rPr>
              <a:t>•</a:t>
            </a:r>
            <a:endParaRPr/>
          </a:p>
        </p:txBody>
      </p:sp>
      <p:sp>
        <p:nvSpPr>
          <p:cNvPr id="136" name="Google Shape;136;p6"/>
          <p:cNvSpPr txBox="1"/>
          <p:nvPr/>
        </p:nvSpPr>
        <p:spPr>
          <a:xfrm>
            <a:off x="11386175" y="775002"/>
            <a:ext cx="5189700" cy="8614500"/>
          </a:xfrm>
          <a:prstGeom prst="rect">
            <a:avLst/>
          </a:prstGeom>
          <a:noFill/>
          <a:ln>
            <a:noFill/>
          </a:ln>
        </p:spPr>
        <p:txBody>
          <a:bodyPr anchorCtr="0" anchor="t" bIns="0" lIns="0" spcFirstLastPara="1" rIns="0" wrap="square" tIns="0">
            <a:spAutoFit/>
          </a:bodyPr>
          <a:lstStyle/>
          <a:p>
            <a:pPr indent="0" lvl="0" marL="0" marR="0" rtl="0" algn="l">
              <a:lnSpc>
                <a:spcPct val="143544"/>
              </a:lnSpc>
              <a:spcBef>
                <a:spcPts val="0"/>
              </a:spcBef>
              <a:spcAft>
                <a:spcPts val="0"/>
              </a:spcAft>
              <a:buNone/>
            </a:pPr>
            <a:r>
              <a:rPr b="0" i="0" lang="en-US" sz="2556" u="none" cap="none" strike="noStrike">
                <a:solidFill>
                  <a:srgbClr val="FFFFFF"/>
                </a:solidFill>
                <a:latin typeface="Calibri"/>
                <a:ea typeface="Calibri"/>
                <a:cs typeface="Calibri"/>
                <a:sym typeface="Calibri"/>
              </a:rPr>
              <a:t>Objetivo General: Manejar una gestión mejor con el proveedor, haciendo que los requerimientos solicitados sean los indicados y sus cantidades sean exactas, para lograr manejar un orden con estos según al pedido correspondiente, de igual manera mejorar la calidad y eficiencia con que estos son entregados cumpliendo con los siguientes estándares</a:t>
            </a:r>
            <a:endParaRPr/>
          </a:p>
          <a:p>
            <a:pPr indent="-390906" lvl="0" marL="457200" marR="0" rtl="0" algn="l">
              <a:lnSpc>
                <a:spcPct val="250000"/>
              </a:lnSpc>
              <a:spcBef>
                <a:spcPts val="0"/>
              </a:spcBef>
              <a:spcAft>
                <a:spcPts val="0"/>
              </a:spcAft>
              <a:buClr>
                <a:srgbClr val="FFFFFF"/>
              </a:buClr>
              <a:buSzPts val="2556"/>
              <a:buFont typeface="Calibri"/>
              <a:buAutoNum type="arabicPeriod"/>
            </a:pPr>
            <a:r>
              <a:rPr b="0" i="0" lang="en-US" sz="2556" u="none" cap="none" strike="noStrike">
                <a:solidFill>
                  <a:srgbClr val="FFFFFF"/>
                </a:solidFill>
                <a:latin typeface="Calibri"/>
                <a:ea typeface="Calibri"/>
                <a:cs typeface="Calibri"/>
                <a:sym typeface="Calibri"/>
              </a:rPr>
              <a:t>Cantidad de producto</a:t>
            </a:r>
            <a:endParaRPr/>
          </a:p>
          <a:p>
            <a:pPr indent="-390906" lvl="0" marL="457200" marR="0" rtl="0" algn="l">
              <a:lnSpc>
                <a:spcPct val="155555"/>
              </a:lnSpc>
              <a:spcBef>
                <a:spcPts val="0"/>
              </a:spcBef>
              <a:spcAft>
                <a:spcPts val="0"/>
              </a:spcAft>
              <a:buClr>
                <a:srgbClr val="FFFFFF"/>
              </a:buClr>
              <a:buSzPts val="2556"/>
              <a:buFont typeface="Calibri"/>
              <a:buAutoNum type="arabicPeriod"/>
            </a:pPr>
            <a:r>
              <a:rPr lang="en-US" sz="2556">
                <a:solidFill>
                  <a:srgbClr val="FFFFFF"/>
                </a:solidFill>
                <a:latin typeface="Calibri"/>
                <a:ea typeface="Calibri"/>
                <a:cs typeface="Calibri"/>
                <a:sym typeface="Calibri"/>
              </a:rPr>
              <a:t>E</a:t>
            </a:r>
            <a:r>
              <a:rPr b="0" i="0" lang="en-US" sz="2556" u="none" cap="none" strike="noStrike">
                <a:solidFill>
                  <a:srgbClr val="FFFFFF"/>
                </a:solidFill>
                <a:latin typeface="Calibri"/>
                <a:ea typeface="Calibri"/>
                <a:cs typeface="Calibri"/>
                <a:sym typeface="Calibri"/>
              </a:rPr>
              <a:t>ficiencia de entrega</a:t>
            </a:r>
            <a:endParaRPr/>
          </a:p>
          <a:p>
            <a:pPr indent="-390906" lvl="0" marL="457200" marR="0" rtl="0" algn="l">
              <a:lnSpc>
                <a:spcPct val="248591"/>
              </a:lnSpc>
              <a:spcBef>
                <a:spcPts val="0"/>
              </a:spcBef>
              <a:spcAft>
                <a:spcPts val="0"/>
              </a:spcAft>
              <a:buClr>
                <a:srgbClr val="FFFFFF"/>
              </a:buClr>
              <a:buSzPts val="2556"/>
              <a:buFont typeface="Calibri"/>
              <a:buAutoNum type="arabicPeriod"/>
            </a:pPr>
            <a:r>
              <a:rPr lang="en-US" sz="2556">
                <a:solidFill>
                  <a:srgbClr val="FFFFFF"/>
                </a:solidFill>
                <a:latin typeface="Calibri"/>
                <a:ea typeface="Calibri"/>
                <a:cs typeface="Calibri"/>
                <a:sym typeface="Calibri"/>
              </a:rPr>
              <a:t>C</a:t>
            </a:r>
            <a:r>
              <a:rPr b="0" i="0" lang="en-US" sz="2556" u="none" cap="none" strike="noStrike">
                <a:solidFill>
                  <a:srgbClr val="FFFFFF"/>
                </a:solidFill>
                <a:latin typeface="Calibri"/>
                <a:ea typeface="Calibri"/>
                <a:cs typeface="Calibri"/>
                <a:sym typeface="Calibri"/>
              </a:rPr>
              <a:t>alidad del producto</a:t>
            </a:r>
            <a:endParaRPr/>
          </a:p>
          <a:p>
            <a:pPr indent="-390906" lvl="0" marL="457200" marR="0" rtl="0" algn="l">
              <a:lnSpc>
                <a:spcPct val="155985"/>
              </a:lnSpc>
              <a:spcBef>
                <a:spcPts val="0"/>
              </a:spcBef>
              <a:spcAft>
                <a:spcPts val="0"/>
              </a:spcAft>
              <a:buClr>
                <a:srgbClr val="FFFFFF"/>
              </a:buClr>
              <a:buSzPts val="2556"/>
              <a:buFont typeface="Calibri"/>
              <a:buAutoNum type="arabicPeriod"/>
            </a:pPr>
            <a:r>
              <a:rPr lang="en-US" sz="2556">
                <a:solidFill>
                  <a:srgbClr val="FFFFFF"/>
                </a:solidFill>
                <a:latin typeface="Calibri"/>
                <a:ea typeface="Calibri"/>
                <a:cs typeface="Calibri"/>
                <a:sym typeface="Calibri"/>
              </a:rPr>
              <a:t>G</a:t>
            </a:r>
            <a:r>
              <a:rPr b="0" i="0" lang="en-US" sz="2556" u="none" cap="none" strike="noStrike">
                <a:solidFill>
                  <a:srgbClr val="FFFFFF"/>
                </a:solidFill>
                <a:latin typeface="Calibri"/>
                <a:ea typeface="Calibri"/>
                <a:cs typeface="Calibri"/>
                <a:sym typeface="Calibri"/>
              </a:rPr>
              <a:t>asto adecuado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0" name="Shape 140"/>
        <p:cNvGrpSpPr/>
        <p:nvPr/>
      </p:nvGrpSpPr>
      <p:grpSpPr>
        <a:xfrm>
          <a:off x="0" y="0"/>
          <a:ext cx="0" cy="0"/>
          <a:chOff x="0" y="0"/>
          <a:chExt cx="0" cy="0"/>
        </a:xfrm>
      </p:grpSpPr>
      <p:sp>
        <p:nvSpPr>
          <p:cNvPr id="141" name="Google Shape;141;p7"/>
          <p:cNvSpPr/>
          <p:nvPr/>
        </p:nvSpPr>
        <p:spPr>
          <a:xfrm>
            <a:off x="10086504" y="496734"/>
            <a:ext cx="6877245" cy="8795199"/>
          </a:xfrm>
          <a:custGeom>
            <a:rect b="b" l="l" r="r" t="t"/>
            <a:pathLst>
              <a:path extrusionOk="0" h="8795199" w="6877245">
                <a:moveTo>
                  <a:pt x="0" y="0"/>
                </a:moveTo>
                <a:lnTo>
                  <a:pt x="6877245" y="0"/>
                </a:lnTo>
                <a:lnTo>
                  <a:pt x="6877245" y="8795199"/>
                </a:lnTo>
                <a:lnTo>
                  <a:pt x="0" y="8795199"/>
                </a:lnTo>
                <a:lnTo>
                  <a:pt x="0" y="0"/>
                </a:lnTo>
                <a:close/>
              </a:path>
            </a:pathLst>
          </a:custGeom>
          <a:blipFill rotWithShape="1">
            <a:blip r:embed="rId3">
              <a:alphaModFix/>
            </a:blip>
            <a:stretch>
              <a:fillRect b="0" l="-102" r="-102" t="0"/>
            </a:stretch>
          </a:blipFill>
          <a:ln>
            <a:noFill/>
          </a:ln>
        </p:spPr>
      </p:sp>
      <p:sp>
        <p:nvSpPr>
          <p:cNvPr id="142" name="Google Shape;142;p7"/>
          <p:cNvSpPr txBox="1"/>
          <p:nvPr/>
        </p:nvSpPr>
        <p:spPr>
          <a:xfrm>
            <a:off x="2863401" y="4131050"/>
            <a:ext cx="3634611" cy="993534"/>
          </a:xfrm>
          <a:prstGeom prst="rect">
            <a:avLst/>
          </a:prstGeom>
          <a:noFill/>
          <a:ln>
            <a:noFill/>
          </a:ln>
        </p:spPr>
        <p:txBody>
          <a:bodyPr anchorCtr="0" anchor="t" bIns="0" lIns="0" spcFirstLastPara="1" rIns="0" wrap="square" tIns="0">
            <a:spAutoFit/>
          </a:bodyPr>
          <a:lstStyle/>
          <a:p>
            <a:pPr indent="0" lvl="0" marL="0" marR="0" rtl="0" algn="l">
              <a:lnSpc>
                <a:spcPct val="144227"/>
              </a:lnSpc>
              <a:spcBef>
                <a:spcPts val="0"/>
              </a:spcBef>
              <a:spcAft>
                <a:spcPts val="0"/>
              </a:spcAft>
              <a:buNone/>
            </a:pPr>
            <a:r>
              <a:rPr b="1" i="0" lang="en-US" sz="4192" u="none" cap="none" strike="noStrike">
                <a:solidFill>
                  <a:srgbClr val="FFFFFF"/>
                </a:solidFill>
                <a:latin typeface="Calibri"/>
                <a:ea typeface="Calibri"/>
                <a:cs typeface="Calibri"/>
                <a:sym typeface="Calibri"/>
              </a:rPr>
              <a:t>OBJETIVOS </a:t>
            </a:r>
            <a:endParaRPr/>
          </a:p>
        </p:txBody>
      </p:sp>
      <p:sp>
        <p:nvSpPr>
          <p:cNvPr id="143" name="Google Shape;143;p7"/>
          <p:cNvSpPr txBox="1"/>
          <p:nvPr/>
        </p:nvSpPr>
        <p:spPr>
          <a:xfrm>
            <a:off x="2586795" y="4899145"/>
            <a:ext cx="5042259" cy="814007"/>
          </a:xfrm>
          <a:prstGeom prst="rect">
            <a:avLst/>
          </a:prstGeom>
          <a:noFill/>
          <a:ln>
            <a:noFill/>
          </a:ln>
        </p:spPr>
        <p:txBody>
          <a:bodyPr anchorCtr="0" anchor="t" bIns="0" lIns="0" spcFirstLastPara="1" rIns="0" wrap="square" tIns="0">
            <a:spAutoFit/>
          </a:bodyPr>
          <a:lstStyle/>
          <a:p>
            <a:pPr indent="0" lvl="0" marL="0" marR="0" rtl="0" algn="l">
              <a:lnSpc>
                <a:spcPct val="144227"/>
              </a:lnSpc>
              <a:spcBef>
                <a:spcPts val="0"/>
              </a:spcBef>
              <a:spcAft>
                <a:spcPts val="0"/>
              </a:spcAft>
              <a:buNone/>
            </a:pPr>
            <a:r>
              <a:rPr b="1" i="0" lang="en-US" sz="4192" u="none" cap="none" strike="noStrike">
                <a:solidFill>
                  <a:srgbClr val="FFFFFF"/>
                </a:solidFill>
                <a:latin typeface="Calibri"/>
                <a:ea typeface="Calibri"/>
                <a:cs typeface="Calibri"/>
                <a:sym typeface="Calibri"/>
              </a:rPr>
              <a:t>ESPECÍFICOS</a:t>
            </a:r>
            <a:endParaRPr/>
          </a:p>
        </p:txBody>
      </p:sp>
      <p:sp>
        <p:nvSpPr>
          <p:cNvPr id="144" name="Google Shape;144;p7"/>
          <p:cNvSpPr txBox="1"/>
          <p:nvPr/>
        </p:nvSpPr>
        <p:spPr>
          <a:xfrm>
            <a:off x="10568178" y="4388840"/>
            <a:ext cx="2572179" cy="43815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2250" u="none" cap="none" strike="noStrike">
                <a:solidFill>
                  <a:srgbClr val="FFFFFF"/>
                </a:solidFill>
                <a:latin typeface="Calibri"/>
                <a:ea typeface="Calibri"/>
                <a:cs typeface="Calibri"/>
                <a:sym typeface="Calibri"/>
              </a:rPr>
              <a:t>Asociación de calidad </a:t>
            </a:r>
            <a:endParaRPr/>
          </a:p>
        </p:txBody>
      </p:sp>
      <p:sp>
        <p:nvSpPr>
          <p:cNvPr id="145" name="Google Shape;145;p7"/>
          <p:cNvSpPr txBox="1"/>
          <p:nvPr/>
        </p:nvSpPr>
        <p:spPr>
          <a:xfrm>
            <a:off x="10568178" y="2538883"/>
            <a:ext cx="2546577" cy="363093"/>
          </a:xfrm>
          <a:prstGeom prst="rect">
            <a:avLst/>
          </a:prstGeom>
          <a:noFill/>
          <a:ln>
            <a:noFill/>
          </a:ln>
        </p:spPr>
        <p:txBody>
          <a:bodyPr anchorCtr="0" anchor="t" bIns="0" lIns="0" spcFirstLastPara="1" rIns="0" wrap="square" tIns="0">
            <a:spAutoFit/>
          </a:bodyPr>
          <a:lstStyle/>
          <a:p>
            <a:pPr indent="0" lvl="0" marL="0" marR="0" rtl="0" algn="l">
              <a:lnSpc>
                <a:spcPct val="109600"/>
              </a:lnSpc>
              <a:spcBef>
                <a:spcPts val="0"/>
              </a:spcBef>
              <a:spcAft>
                <a:spcPts val="0"/>
              </a:spcAft>
              <a:buNone/>
            </a:pPr>
            <a:r>
              <a:rPr b="0" i="0" lang="en-US" sz="2250" u="none" cap="none" strike="noStrike">
                <a:solidFill>
                  <a:srgbClr val="FFFFFF"/>
                </a:solidFill>
                <a:latin typeface="Calibri"/>
                <a:ea typeface="Calibri"/>
                <a:cs typeface="Calibri"/>
                <a:sym typeface="Calibri"/>
              </a:rPr>
              <a:t>Validación de pedidos</a:t>
            </a:r>
            <a:endParaRPr/>
          </a:p>
        </p:txBody>
      </p:sp>
      <p:sp>
        <p:nvSpPr>
          <p:cNvPr id="146" name="Google Shape;146;p7"/>
          <p:cNvSpPr txBox="1"/>
          <p:nvPr/>
        </p:nvSpPr>
        <p:spPr>
          <a:xfrm>
            <a:off x="10465122" y="6850576"/>
            <a:ext cx="2680692" cy="363093"/>
          </a:xfrm>
          <a:prstGeom prst="rect">
            <a:avLst/>
          </a:prstGeom>
          <a:noFill/>
          <a:ln>
            <a:noFill/>
          </a:ln>
        </p:spPr>
        <p:txBody>
          <a:bodyPr anchorCtr="0" anchor="t" bIns="0" lIns="0" spcFirstLastPara="1" rIns="0" wrap="square" tIns="0">
            <a:spAutoFit/>
          </a:bodyPr>
          <a:lstStyle/>
          <a:p>
            <a:pPr indent="0" lvl="0" marL="0" marR="0" rtl="0" algn="l">
              <a:lnSpc>
                <a:spcPct val="109600"/>
              </a:lnSpc>
              <a:spcBef>
                <a:spcPts val="0"/>
              </a:spcBef>
              <a:spcAft>
                <a:spcPts val="0"/>
              </a:spcAft>
              <a:buNone/>
            </a:pPr>
            <a:r>
              <a:rPr b="0" i="0" lang="en-US" sz="2250" u="none" cap="none" strike="noStrike">
                <a:solidFill>
                  <a:srgbClr val="FFFFFF"/>
                </a:solidFill>
                <a:latin typeface="Calibri"/>
                <a:ea typeface="Calibri"/>
                <a:cs typeface="Calibri"/>
                <a:sym typeface="Calibri"/>
              </a:rPr>
              <a:t>Accesibilidad de pagos </a:t>
            </a:r>
            <a:endParaRPr/>
          </a:p>
        </p:txBody>
      </p:sp>
      <p:sp>
        <p:nvSpPr>
          <p:cNvPr id="147" name="Google Shape;147;p7"/>
          <p:cNvSpPr txBox="1"/>
          <p:nvPr/>
        </p:nvSpPr>
        <p:spPr>
          <a:xfrm>
            <a:off x="13772193" y="6524916"/>
            <a:ext cx="2945540" cy="1014413"/>
          </a:xfrm>
          <a:prstGeom prst="rect">
            <a:avLst/>
          </a:prstGeom>
          <a:noFill/>
          <a:ln>
            <a:noFill/>
          </a:ln>
        </p:spPr>
        <p:txBody>
          <a:bodyPr anchorCtr="0" anchor="t" bIns="0" lIns="0" spcFirstLastPara="1" rIns="0" wrap="square" tIns="0">
            <a:spAutoFit/>
          </a:bodyPr>
          <a:lstStyle/>
          <a:p>
            <a:pPr indent="0" lvl="0" marL="0" marR="0" rtl="0" algn="ctr">
              <a:lnSpc>
                <a:spcPct val="109600"/>
              </a:lnSpc>
              <a:spcBef>
                <a:spcPts val="0"/>
              </a:spcBef>
              <a:spcAft>
                <a:spcPts val="0"/>
              </a:spcAft>
              <a:buNone/>
            </a:pPr>
            <a:r>
              <a:rPr b="0" i="0" lang="en-US" sz="2250" u="none" cap="none" strike="noStrike">
                <a:solidFill>
                  <a:srgbClr val="FFFFFF"/>
                </a:solidFill>
                <a:latin typeface="Calibri"/>
                <a:ea typeface="Calibri"/>
                <a:cs typeface="Calibri"/>
                <a:sym typeface="Calibri"/>
              </a:rPr>
              <a:t>cumplan con la variedad y seguridad de los diferentes medios </a:t>
            </a:r>
            <a:endParaRPr/>
          </a:p>
        </p:txBody>
      </p:sp>
      <p:sp>
        <p:nvSpPr>
          <p:cNvPr id="148" name="Google Shape;148;p7"/>
          <p:cNvSpPr txBox="1"/>
          <p:nvPr/>
        </p:nvSpPr>
        <p:spPr>
          <a:xfrm>
            <a:off x="14391699" y="7466748"/>
            <a:ext cx="1615587" cy="385763"/>
          </a:xfrm>
          <a:prstGeom prst="rect">
            <a:avLst/>
          </a:prstGeom>
          <a:noFill/>
          <a:ln>
            <a:noFill/>
          </a:ln>
        </p:spPr>
        <p:txBody>
          <a:bodyPr anchorCtr="0" anchor="t" bIns="0" lIns="0" spcFirstLastPara="1" rIns="0" wrap="square" tIns="0">
            <a:spAutoFit/>
          </a:bodyPr>
          <a:lstStyle/>
          <a:p>
            <a:pPr indent="0" lvl="0" marL="0" marR="0" rtl="0" algn="l">
              <a:lnSpc>
                <a:spcPct val="109600"/>
              </a:lnSpc>
              <a:spcBef>
                <a:spcPts val="0"/>
              </a:spcBef>
              <a:spcAft>
                <a:spcPts val="0"/>
              </a:spcAft>
              <a:buNone/>
            </a:pPr>
            <a:r>
              <a:rPr b="0" i="0" lang="en-US" sz="2250" u="none" cap="none" strike="noStrike">
                <a:solidFill>
                  <a:srgbClr val="FFFFFF"/>
                </a:solidFill>
                <a:latin typeface="Calibri"/>
                <a:ea typeface="Calibri"/>
                <a:cs typeface="Calibri"/>
                <a:sym typeface="Calibri"/>
              </a:rPr>
              <a:t>de transporte</a:t>
            </a:r>
            <a:endParaRPr/>
          </a:p>
        </p:txBody>
      </p:sp>
      <p:sp>
        <p:nvSpPr>
          <p:cNvPr id="149" name="Google Shape;149;p7"/>
          <p:cNvSpPr txBox="1"/>
          <p:nvPr/>
        </p:nvSpPr>
        <p:spPr>
          <a:xfrm>
            <a:off x="13934707" y="2538883"/>
            <a:ext cx="2679842" cy="363093"/>
          </a:xfrm>
          <a:prstGeom prst="rect">
            <a:avLst/>
          </a:prstGeom>
          <a:noFill/>
          <a:ln>
            <a:noFill/>
          </a:ln>
        </p:spPr>
        <p:txBody>
          <a:bodyPr anchorCtr="0" anchor="t" bIns="0" lIns="0" spcFirstLastPara="1" rIns="0" wrap="square" tIns="0">
            <a:spAutoFit/>
          </a:bodyPr>
          <a:lstStyle/>
          <a:p>
            <a:pPr indent="0" lvl="0" marL="0" marR="0" rtl="0" algn="l">
              <a:lnSpc>
                <a:spcPct val="109600"/>
              </a:lnSpc>
              <a:spcBef>
                <a:spcPts val="0"/>
              </a:spcBef>
              <a:spcAft>
                <a:spcPts val="0"/>
              </a:spcAft>
              <a:buNone/>
            </a:pPr>
            <a:r>
              <a:rPr b="0" i="0" lang="en-US" sz="2250" u="none" cap="none" strike="noStrike">
                <a:solidFill>
                  <a:srgbClr val="FFFFFF"/>
                </a:solidFill>
                <a:latin typeface="Calibri"/>
                <a:ea typeface="Calibri"/>
                <a:cs typeface="Calibri"/>
                <a:sym typeface="Calibri"/>
              </a:rPr>
              <a:t>Gestión de inventarios </a:t>
            </a:r>
            <a:endParaRPr/>
          </a:p>
        </p:txBody>
      </p:sp>
      <p:sp>
        <p:nvSpPr>
          <p:cNvPr id="150" name="Google Shape;150;p7"/>
          <p:cNvSpPr txBox="1"/>
          <p:nvPr/>
        </p:nvSpPr>
        <p:spPr>
          <a:xfrm>
            <a:off x="11434572" y="4701634"/>
            <a:ext cx="741792" cy="524403"/>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253" u="none" cap="none" strike="noStrike">
                <a:solidFill>
                  <a:srgbClr val="FFFFFF"/>
                </a:solidFill>
                <a:latin typeface="Calibri"/>
                <a:ea typeface="Calibri"/>
                <a:cs typeface="Calibri"/>
                <a:sym typeface="Calibri"/>
              </a:rPr>
              <a:t>precio</a:t>
            </a:r>
            <a:endParaRPr/>
          </a:p>
        </p:txBody>
      </p:sp>
      <p:sp>
        <p:nvSpPr>
          <p:cNvPr id="151" name="Google Shape;151;p7"/>
          <p:cNvSpPr txBox="1"/>
          <p:nvPr/>
        </p:nvSpPr>
        <p:spPr>
          <a:xfrm>
            <a:off x="13985276" y="6087014"/>
            <a:ext cx="2655442" cy="438036"/>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253" u="none" cap="none" strike="noStrike">
                <a:solidFill>
                  <a:srgbClr val="FFFFFF"/>
                </a:solidFill>
                <a:latin typeface="Calibri"/>
                <a:ea typeface="Calibri"/>
                <a:cs typeface="Calibri"/>
                <a:sym typeface="Calibri"/>
              </a:rPr>
              <a:t>Tener productos que</a:t>
            </a:r>
            <a:endParaRPr/>
          </a:p>
        </p:txBody>
      </p:sp>
      <p:sp>
        <p:nvSpPr>
          <p:cNvPr id="152" name="Google Shape;152;p7"/>
          <p:cNvSpPr txBox="1"/>
          <p:nvPr/>
        </p:nvSpPr>
        <p:spPr>
          <a:xfrm>
            <a:off x="13872881" y="4427666"/>
            <a:ext cx="2803494" cy="838086"/>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253" u="none" cap="none" strike="noStrike">
                <a:solidFill>
                  <a:srgbClr val="FFFFFF"/>
                </a:solidFill>
                <a:latin typeface="Calibri"/>
                <a:ea typeface="Calibri"/>
                <a:cs typeface="Calibri"/>
                <a:sym typeface="Calibri"/>
              </a:rPr>
              <a:t>Manejar una base de datos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6" name="Shape 156"/>
        <p:cNvGrpSpPr/>
        <p:nvPr/>
      </p:nvGrpSpPr>
      <p:grpSpPr>
        <a:xfrm>
          <a:off x="0" y="0"/>
          <a:ext cx="0" cy="0"/>
          <a:chOff x="0" y="0"/>
          <a:chExt cx="0" cy="0"/>
        </a:xfrm>
      </p:grpSpPr>
      <p:sp>
        <p:nvSpPr>
          <p:cNvPr id="157" name="Google Shape;157;p8"/>
          <p:cNvSpPr/>
          <p:nvPr/>
        </p:nvSpPr>
        <p:spPr>
          <a:xfrm>
            <a:off x="1994064" y="3322230"/>
            <a:ext cx="14114721" cy="5937699"/>
          </a:xfrm>
          <a:custGeom>
            <a:rect b="b" l="l" r="r" t="t"/>
            <a:pathLst>
              <a:path extrusionOk="0" h="5937699" w="14114721">
                <a:moveTo>
                  <a:pt x="0" y="0"/>
                </a:moveTo>
                <a:lnTo>
                  <a:pt x="14114721" y="0"/>
                </a:lnTo>
                <a:lnTo>
                  <a:pt x="14114721" y="5937699"/>
                </a:lnTo>
                <a:lnTo>
                  <a:pt x="0" y="5937699"/>
                </a:lnTo>
                <a:lnTo>
                  <a:pt x="0" y="0"/>
                </a:lnTo>
                <a:close/>
              </a:path>
            </a:pathLst>
          </a:custGeom>
          <a:blipFill rotWithShape="1">
            <a:blip r:embed="rId3">
              <a:alphaModFix/>
            </a:blip>
            <a:stretch>
              <a:fillRect b="-42" l="0" r="0" t="-43"/>
            </a:stretch>
          </a:blipFill>
          <a:ln>
            <a:noFill/>
          </a:ln>
        </p:spPr>
      </p:sp>
      <p:sp>
        <p:nvSpPr>
          <p:cNvPr id="158" name="Google Shape;158;p8"/>
          <p:cNvSpPr txBox="1"/>
          <p:nvPr/>
        </p:nvSpPr>
        <p:spPr>
          <a:xfrm>
            <a:off x="7726295" y="1450905"/>
            <a:ext cx="4724307" cy="798168"/>
          </a:xfrm>
          <a:prstGeom prst="rect">
            <a:avLst/>
          </a:prstGeom>
          <a:noFill/>
          <a:ln>
            <a:noFill/>
          </a:ln>
        </p:spPr>
        <p:txBody>
          <a:bodyPr anchorCtr="0" anchor="t" bIns="0" lIns="0" spcFirstLastPara="1" rIns="0" wrap="square" tIns="0">
            <a:spAutoFit/>
          </a:bodyPr>
          <a:lstStyle/>
          <a:p>
            <a:pPr indent="0" lvl="0" marL="0" marR="0" rtl="0" algn="l">
              <a:lnSpc>
                <a:spcPct val="140052"/>
              </a:lnSpc>
              <a:spcBef>
                <a:spcPts val="0"/>
              </a:spcBef>
              <a:spcAft>
                <a:spcPts val="0"/>
              </a:spcAft>
              <a:buNone/>
            </a:pPr>
            <a:r>
              <a:rPr b="1" i="0" lang="en-US" sz="4192" u="none" cap="none" strike="noStrike">
                <a:solidFill>
                  <a:srgbClr val="FFFFFF"/>
                </a:solidFill>
                <a:latin typeface="Calibri"/>
                <a:ea typeface="Calibri"/>
                <a:cs typeface="Calibri"/>
                <a:sym typeface="Calibri"/>
              </a:rPr>
              <a:t>ALCANCE</a:t>
            </a:r>
            <a:endParaRPr/>
          </a:p>
        </p:txBody>
      </p:sp>
      <p:sp>
        <p:nvSpPr>
          <p:cNvPr id="159" name="Google Shape;159;p8"/>
          <p:cNvSpPr txBox="1"/>
          <p:nvPr/>
        </p:nvSpPr>
        <p:spPr>
          <a:xfrm>
            <a:off x="2268098" y="3551207"/>
            <a:ext cx="9563400" cy="831000"/>
          </a:xfrm>
          <a:prstGeom prst="rect">
            <a:avLst/>
          </a:prstGeom>
          <a:noFill/>
          <a:ln>
            <a:noFill/>
          </a:ln>
        </p:spPr>
        <p:txBody>
          <a:bodyPr anchorCtr="0" anchor="t" bIns="0" lIns="0" spcFirstLastPara="1" rIns="0" wrap="square" tIns="0">
            <a:spAutoFit/>
          </a:bodyPr>
          <a:lstStyle/>
          <a:p>
            <a:pPr indent="0" lvl="0" marL="0" marR="0" rtl="0" algn="l">
              <a:lnSpc>
                <a:spcPct val="139955"/>
              </a:lnSpc>
              <a:spcBef>
                <a:spcPts val="0"/>
              </a:spcBef>
              <a:spcAft>
                <a:spcPts val="0"/>
              </a:spcAft>
              <a:buNone/>
            </a:pPr>
            <a:r>
              <a:rPr b="0" i="0" lang="en-US" sz="2250" u="none" cap="none" strike="noStrike">
                <a:solidFill>
                  <a:srgbClr val="FFFFFF"/>
                </a:solidFill>
                <a:latin typeface="Calibri"/>
                <a:ea typeface="Calibri"/>
                <a:cs typeface="Calibri"/>
                <a:sym typeface="Calibri"/>
              </a:rPr>
              <a:t>Minimizar la </a:t>
            </a:r>
            <a:r>
              <a:rPr b="1" i="0" lang="en-US" sz="2250" u="none" cap="none" strike="noStrike">
                <a:solidFill>
                  <a:srgbClr val="FFFFFF"/>
                </a:solidFill>
                <a:latin typeface="Calibri"/>
                <a:ea typeface="Calibri"/>
                <a:cs typeface="Calibri"/>
                <a:sym typeface="Calibri"/>
              </a:rPr>
              <a:t>pérdida o entrega incompleta de artículos </a:t>
            </a:r>
            <a:r>
              <a:rPr b="0" i="0" lang="en-US" sz="2250" u="none" cap="none" strike="noStrike">
                <a:solidFill>
                  <a:srgbClr val="FFFFFF"/>
                </a:solidFill>
                <a:latin typeface="Calibri"/>
                <a:ea typeface="Calibri"/>
                <a:cs typeface="Calibri"/>
                <a:sym typeface="Calibri"/>
              </a:rPr>
              <a:t>de la empresa mediante la centralización y gestión de la información de inventario.</a:t>
            </a:r>
            <a:endParaRPr/>
          </a:p>
        </p:txBody>
      </p:sp>
      <p:sp>
        <p:nvSpPr>
          <p:cNvPr id="160" name="Google Shape;160;p8"/>
          <p:cNvSpPr txBox="1"/>
          <p:nvPr/>
        </p:nvSpPr>
        <p:spPr>
          <a:xfrm>
            <a:off x="3196785" y="5175604"/>
            <a:ext cx="8735592" cy="667893"/>
          </a:xfrm>
          <a:prstGeom prst="rect">
            <a:avLst/>
          </a:prstGeom>
          <a:noFill/>
          <a:ln>
            <a:noFill/>
          </a:ln>
        </p:spPr>
        <p:txBody>
          <a:bodyPr anchorCtr="0" anchor="t" bIns="0" lIns="0" spcFirstLastPara="1" rIns="0" wrap="square" tIns="0">
            <a:spAutoFit/>
          </a:bodyPr>
          <a:lstStyle/>
          <a:p>
            <a:pPr indent="0" lvl="0" marL="0" marR="0" rtl="0" algn="l">
              <a:lnSpc>
                <a:spcPct val="109600"/>
              </a:lnSpc>
              <a:spcBef>
                <a:spcPts val="0"/>
              </a:spcBef>
              <a:spcAft>
                <a:spcPts val="0"/>
              </a:spcAft>
              <a:buNone/>
            </a:pPr>
            <a:r>
              <a:rPr b="0" i="0" lang="en-US" sz="2250" u="none" cap="none" strike="noStrike">
                <a:solidFill>
                  <a:srgbClr val="FFFFFF"/>
                </a:solidFill>
                <a:latin typeface="Calibri"/>
                <a:ea typeface="Calibri"/>
                <a:cs typeface="Calibri"/>
                <a:sym typeface="Calibri"/>
              </a:rPr>
              <a:t>El proyecto entregará una </a:t>
            </a:r>
            <a:r>
              <a:rPr b="1" i="0" lang="en-US" sz="2250" u="none" cap="none" strike="noStrike">
                <a:solidFill>
                  <a:srgbClr val="FFFFFF"/>
                </a:solidFill>
                <a:latin typeface="Calibri"/>
                <a:ea typeface="Calibri"/>
                <a:cs typeface="Calibri"/>
                <a:sym typeface="Calibri"/>
              </a:rPr>
              <a:t>Base de Datos operativa e intuitiva </a:t>
            </a:r>
            <a:r>
              <a:rPr b="0" i="0" lang="en-US" sz="2250" u="none" cap="none" strike="noStrike">
                <a:solidFill>
                  <a:srgbClr val="FFFFFF"/>
                </a:solidFill>
                <a:latin typeface="Calibri"/>
                <a:ea typeface="Calibri"/>
                <a:cs typeface="Calibri"/>
                <a:sym typeface="Calibri"/>
              </a:rPr>
              <a:t>con la siguientes funcionalidades</a:t>
            </a:r>
            <a:endParaRPr/>
          </a:p>
        </p:txBody>
      </p:sp>
      <p:sp>
        <p:nvSpPr>
          <p:cNvPr id="161" name="Google Shape;161;p8"/>
          <p:cNvSpPr txBox="1"/>
          <p:nvPr/>
        </p:nvSpPr>
        <p:spPr>
          <a:xfrm>
            <a:off x="4111557" y="6662076"/>
            <a:ext cx="8881038" cy="667893"/>
          </a:xfrm>
          <a:prstGeom prst="rect">
            <a:avLst/>
          </a:prstGeom>
          <a:noFill/>
          <a:ln>
            <a:noFill/>
          </a:ln>
        </p:spPr>
        <p:txBody>
          <a:bodyPr anchorCtr="0" anchor="t" bIns="0" lIns="0" spcFirstLastPara="1" rIns="0" wrap="square" tIns="0">
            <a:spAutoFit/>
          </a:bodyPr>
          <a:lstStyle/>
          <a:p>
            <a:pPr indent="0" lvl="0" marL="0" marR="0" rtl="0" algn="l">
              <a:lnSpc>
                <a:spcPct val="109600"/>
              </a:lnSpc>
              <a:spcBef>
                <a:spcPts val="0"/>
              </a:spcBef>
              <a:spcAft>
                <a:spcPts val="0"/>
              </a:spcAft>
              <a:buNone/>
            </a:pPr>
            <a:r>
              <a:rPr b="1" i="0" lang="en-US" sz="2250" u="none" cap="none" strike="noStrike">
                <a:solidFill>
                  <a:srgbClr val="FFFFFF"/>
                </a:solidFill>
                <a:latin typeface="Calibri"/>
                <a:ea typeface="Calibri"/>
                <a:cs typeface="Calibri"/>
                <a:sym typeface="Calibri"/>
              </a:rPr>
              <a:t>Registro y Trazabilidad </a:t>
            </a:r>
            <a:r>
              <a:rPr b="0" i="0" lang="en-US" sz="2250" u="none" cap="none" strike="noStrike">
                <a:solidFill>
                  <a:srgbClr val="FFFFFF"/>
                </a:solidFill>
                <a:latin typeface="Calibri"/>
                <a:ea typeface="Calibri"/>
                <a:cs typeface="Calibri"/>
                <a:sym typeface="Calibri"/>
              </a:rPr>
              <a:t>de los artículos, permitiendo </a:t>
            </a:r>
            <a:r>
              <a:rPr b="1" i="0" lang="en-US" sz="2250" u="none" cap="none" strike="noStrike">
                <a:solidFill>
                  <a:srgbClr val="FFFFFF"/>
                </a:solidFill>
                <a:latin typeface="Calibri"/>
                <a:ea typeface="Calibri"/>
                <a:cs typeface="Calibri"/>
                <a:sym typeface="Calibri"/>
              </a:rPr>
              <a:t>manejar </a:t>
            </a:r>
            <a:r>
              <a:rPr b="1" i="1" lang="en-US" sz="2250" u="none" cap="none" strike="noStrike">
                <a:solidFill>
                  <a:srgbClr val="FFFFFF"/>
                </a:solidFill>
                <a:latin typeface="Calibri"/>
                <a:ea typeface="Calibri"/>
                <a:cs typeface="Calibri"/>
                <a:sym typeface="Calibri"/>
              </a:rPr>
              <a:t>checklists </a:t>
            </a:r>
            <a:r>
              <a:rPr b="0" i="0" lang="en-US" sz="2250" u="none" cap="none" strike="noStrike">
                <a:solidFill>
                  <a:srgbClr val="FFFFFF"/>
                </a:solidFill>
                <a:latin typeface="Calibri"/>
                <a:ea typeface="Calibri"/>
                <a:cs typeface="Calibri"/>
                <a:sym typeface="Calibri"/>
              </a:rPr>
              <a:t>de productos basado en la relación entre oferta y demanda</a:t>
            </a:r>
            <a:endParaRPr/>
          </a:p>
        </p:txBody>
      </p:sp>
      <p:sp>
        <p:nvSpPr>
          <p:cNvPr id="162" name="Google Shape;162;p8"/>
          <p:cNvSpPr txBox="1"/>
          <p:nvPr/>
        </p:nvSpPr>
        <p:spPr>
          <a:xfrm>
            <a:off x="5040244" y="7991184"/>
            <a:ext cx="9195720" cy="1012170"/>
          </a:xfrm>
          <a:prstGeom prst="rect">
            <a:avLst/>
          </a:prstGeom>
          <a:noFill/>
          <a:ln>
            <a:noFill/>
          </a:ln>
        </p:spPr>
        <p:txBody>
          <a:bodyPr anchorCtr="0" anchor="t" bIns="0" lIns="0" spcFirstLastPara="1" rIns="0" wrap="square" tIns="0">
            <a:spAutoFit/>
          </a:bodyPr>
          <a:lstStyle/>
          <a:p>
            <a:pPr indent="0" lvl="0" marL="0" marR="0" rtl="0" algn="l">
              <a:lnSpc>
                <a:spcPct val="109600"/>
              </a:lnSpc>
              <a:spcBef>
                <a:spcPts val="0"/>
              </a:spcBef>
              <a:spcAft>
                <a:spcPts val="0"/>
              </a:spcAft>
              <a:buNone/>
            </a:pPr>
            <a:r>
              <a:rPr b="0" i="0" lang="en-US" sz="2250" u="none" cap="none" strike="noStrike">
                <a:solidFill>
                  <a:srgbClr val="FFFFFF"/>
                </a:solidFill>
                <a:latin typeface="Calibri"/>
                <a:ea typeface="Calibri"/>
                <a:cs typeface="Calibri"/>
                <a:sym typeface="Calibri"/>
              </a:rPr>
              <a:t>La BD deberá ser </a:t>
            </a:r>
            <a:r>
              <a:rPr b="1" i="0" lang="en-US" sz="2250" u="none" cap="none" strike="noStrike">
                <a:solidFill>
                  <a:srgbClr val="FFFFFF"/>
                </a:solidFill>
                <a:latin typeface="Calibri"/>
                <a:ea typeface="Calibri"/>
                <a:cs typeface="Calibri"/>
                <a:sym typeface="Calibri"/>
              </a:rPr>
              <a:t>intuitiva</a:t>
            </a:r>
            <a:r>
              <a:rPr b="0" i="0" lang="en-US" sz="2250" u="none" cap="none" strike="noStrike">
                <a:solidFill>
                  <a:srgbClr val="FFFFFF"/>
                </a:solidFill>
                <a:latin typeface="Calibri"/>
                <a:ea typeface="Calibri"/>
                <a:cs typeface="Calibri"/>
                <a:sym typeface="Calibri"/>
              </a:rPr>
              <a:t>(fácil de usar) y demostrar una </a:t>
            </a:r>
            <a:r>
              <a:rPr b="1" i="0" lang="en-US" sz="2250" u="none" cap="none" strike="noStrike">
                <a:solidFill>
                  <a:srgbClr val="FFFFFF"/>
                </a:solidFill>
                <a:latin typeface="Calibri"/>
                <a:ea typeface="Calibri"/>
                <a:cs typeface="Calibri"/>
                <a:sym typeface="Calibri"/>
              </a:rPr>
              <a:t>reducción del 90% </a:t>
            </a:r>
            <a:r>
              <a:rPr b="0" i="0" lang="en-US" sz="2250" u="none" cap="none" strike="noStrike">
                <a:solidFill>
                  <a:srgbClr val="FFFFFF"/>
                </a:solidFill>
                <a:latin typeface="Calibri"/>
                <a:ea typeface="Calibri"/>
                <a:cs typeface="Calibri"/>
                <a:sym typeface="Calibri"/>
              </a:rPr>
              <a:t>en los reportes de artículos incompletos o perdidos en los primeros meses de </a:t>
            </a:r>
            <a:endParaRPr/>
          </a:p>
          <a:p>
            <a:pPr indent="0" lvl="0" marL="0" marR="0" rtl="0" algn="l">
              <a:lnSpc>
                <a:spcPct val="139991"/>
              </a:lnSpc>
              <a:spcBef>
                <a:spcPts val="0"/>
              </a:spcBef>
              <a:spcAft>
                <a:spcPts val="0"/>
              </a:spcAft>
              <a:buNone/>
            </a:pPr>
            <a:r>
              <a:rPr b="0" i="0" lang="en-US" sz="2253" u="none" cap="none" strike="noStrike">
                <a:solidFill>
                  <a:srgbClr val="FFFFFF"/>
                </a:solidFill>
                <a:latin typeface="Calibri"/>
                <a:ea typeface="Calibri"/>
                <a:cs typeface="Calibri"/>
                <a:sym typeface="Calibri"/>
              </a:rPr>
              <a:t>uso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6" name="Shape 166"/>
        <p:cNvGrpSpPr/>
        <p:nvPr/>
      </p:nvGrpSpPr>
      <p:grpSpPr>
        <a:xfrm>
          <a:off x="0" y="0"/>
          <a:ext cx="0" cy="0"/>
          <a:chOff x="0" y="0"/>
          <a:chExt cx="0" cy="0"/>
        </a:xfrm>
      </p:grpSpPr>
      <p:sp>
        <p:nvSpPr>
          <p:cNvPr id="167" name="Google Shape;167;p9"/>
          <p:cNvSpPr/>
          <p:nvPr/>
        </p:nvSpPr>
        <p:spPr>
          <a:xfrm>
            <a:off x="2086640" y="2844780"/>
            <a:ext cx="14114721" cy="5937699"/>
          </a:xfrm>
          <a:custGeom>
            <a:rect b="b" l="l" r="r" t="t"/>
            <a:pathLst>
              <a:path extrusionOk="0" h="5937699" w="14114721">
                <a:moveTo>
                  <a:pt x="0" y="0"/>
                </a:moveTo>
                <a:lnTo>
                  <a:pt x="14114721" y="0"/>
                </a:lnTo>
                <a:lnTo>
                  <a:pt x="14114721" y="5937699"/>
                </a:lnTo>
                <a:lnTo>
                  <a:pt x="0" y="5937699"/>
                </a:lnTo>
                <a:lnTo>
                  <a:pt x="0" y="0"/>
                </a:lnTo>
                <a:close/>
              </a:path>
            </a:pathLst>
          </a:custGeom>
          <a:blipFill rotWithShape="1">
            <a:blip r:embed="rId3">
              <a:alphaModFix/>
            </a:blip>
            <a:stretch>
              <a:fillRect b="-42" l="0" r="0" t="-43"/>
            </a:stretch>
          </a:blipFill>
          <a:ln>
            <a:noFill/>
          </a:ln>
        </p:spPr>
      </p:sp>
      <p:sp>
        <p:nvSpPr>
          <p:cNvPr id="168" name="Google Shape;168;p9"/>
          <p:cNvSpPr txBox="1"/>
          <p:nvPr/>
        </p:nvSpPr>
        <p:spPr>
          <a:xfrm>
            <a:off x="7764939" y="941449"/>
            <a:ext cx="4396146" cy="798168"/>
          </a:xfrm>
          <a:prstGeom prst="rect">
            <a:avLst/>
          </a:prstGeom>
          <a:noFill/>
          <a:ln>
            <a:noFill/>
          </a:ln>
        </p:spPr>
        <p:txBody>
          <a:bodyPr anchorCtr="0" anchor="t" bIns="0" lIns="0" spcFirstLastPara="1" rIns="0" wrap="square" tIns="0">
            <a:spAutoFit/>
          </a:bodyPr>
          <a:lstStyle/>
          <a:p>
            <a:pPr indent="0" lvl="0" marL="0" marR="0" rtl="0" algn="l">
              <a:lnSpc>
                <a:spcPct val="140052"/>
              </a:lnSpc>
              <a:spcBef>
                <a:spcPts val="0"/>
              </a:spcBef>
              <a:spcAft>
                <a:spcPts val="0"/>
              </a:spcAft>
              <a:buNone/>
            </a:pPr>
            <a:r>
              <a:rPr b="1" i="0" lang="en-US" sz="4192" u="none" cap="none" strike="noStrike">
                <a:solidFill>
                  <a:srgbClr val="FFFFFF"/>
                </a:solidFill>
                <a:latin typeface="Calibri"/>
                <a:ea typeface="Calibri"/>
                <a:cs typeface="Calibri"/>
                <a:sym typeface="Calibri"/>
              </a:rPr>
              <a:t>MODULOS</a:t>
            </a:r>
            <a:endParaRPr/>
          </a:p>
        </p:txBody>
      </p:sp>
      <p:sp>
        <p:nvSpPr>
          <p:cNvPr id="169" name="Google Shape;169;p9"/>
          <p:cNvSpPr txBox="1"/>
          <p:nvPr/>
        </p:nvSpPr>
        <p:spPr>
          <a:xfrm>
            <a:off x="2712419" y="3243099"/>
            <a:ext cx="9563400" cy="60000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lang="en-US" sz="3898">
                <a:solidFill>
                  <a:srgbClr val="FFFFFF"/>
                </a:solidFill>
                <a:latin typeface="Calibri"/>
                <a:ea typeface="Calibri"/>
                <a:cs typeface="Calibri"/>
                <a:sym typeface="Calibri"/>
              </a:rPr>
              <a:t>Gestión</a:t>
            </a:r>
            <a:r>
              <a:rPr b="1" i="0" lang="en-US" sz="3898" u="none" cap="none" strike="noStrike">
                <a:solidFill>
                  <a:srgbClr val="FFFFFF"/>
                </a:solidFill>
                <a:latin typeface="Calibri"/>
                <a:ea typeface="Calibri"/>
                <a:cs typeface="Calibri"/>
                <a:sym typeface="Calibri"/>
              </a:rPr>
              <a:t> De Clientes - Cordoba Santiago</a:t>
            </a:r>
            <a:endParaRPr/>
          </a:p>
        </p:txBody>
      </p:sp>
      <p:sp>
        <p:nvSpPr>
          <p:cNvPr id="170" name="Google Shape;170;p9"/>
          <p:cNvSpPr txBox="1"/>
          <p:nvPr/>
        </p:nvSpPr>
        <p:spPr>
          <a:xfrm>
            <a:off x="3447447" y="4715528"/>
            <a:ext cx="9813300" cy="553800"/>
          </a:xfrm>
          <a:prstGeom prst="rect">
            <a:avLst/>
          </a:prstGeom>
          <a:noFill/>
          <a:ln>
            <a:noFill/>
          </a:ln>
        </p:spPr>
        <p:txBody>
          <a:bodyPr anchorCtr="0" anchor="t" bIns="0" lIns="0" spcFirstLastPara="1" rIns="0" wrap="square" tIns="0">
            <a:spAutoFit/>
          </a:bodyPr>
          <a:lstStyle/>
          <a:p>
            <a:pPr indent="0" lvl="0" marL="0" marR="0" rtl="0" algn="l">
              <a:lnSpc>
                <a:spcPct val="109616"/>
              </a:lnSpc>
              <a:spcBef>
                <a:spcPts val="0"/>
              </a:spcBef>
              <a:spcAft>
                <a:spcPts val="0"/>
              </a:spcAft>
              <a:buNone/>
            </a:pPr>
            <a:r>
              <a:rPr b="1" lang="en-US" sz="3598">
                <a:solidFill>
                  <a:srgbClr val="FFFFFF"/>
                </a:solidFill>
                <a:latin typeface="Calibri"/>
                <a:ea typeface="Calibri"/>
                <a:cs typeface="Calibri"/>
                <a:sym typeface="Calibri"/>
              </a:rPr>
              <a:t>Gestión</a:t>
            </a:r>
            <a:r>
              <a:rPr b="1" i="0" lang="en-US" sz="3598" u="none" cap="none" strike="noStrike">
                <a:solidFill>
                  <a:srgbClr val="FFFFFF"/>
                </a:solidFill>
                <a:latin typeface="Calibri"/>
                <a:ea typeface="Calibri"/>
                <a:cs typeface="Calibri"/>
                <a:sym typeface="Calibri"/>
              </a:rPr>
              <a:t> De Productos Inventarios-Camacho David</a:t>
            </a:r>
            <a:endParaRPr/>
          </a:p>
        </p:txBody>
      </p:sp>
      <p:sp>
        <p:nvSpPr>
          <p:cNvPr id="171" name="Google Shape;171;p9"/>
          <p:cNvSpPr txBox="1"/>
          <p:nvPr/>
        </p:nvSpPr>
        <p:spPr>
          <a:xfrm>
            <a:off x="4560385" y="6141754"/>
            <a:ext cx="9548700" cy="576900"/>
          </a:xfrm>
          <a:prstGeom prst="rect">
            <a:avLst/>
          </a:prstGeom>
          <a:noFill/>
          <a:ln>
            <a:noFill/>
          </a:ln>
        </p:spPr>
        <p:txBody>
          <a:bodyPr anchorCtr="0" anchor="t" bIns="0" lIns="0" spcFirstLastPara="1" rIns="0" wrap="square" tIns="0">
            <a:spAutoFit/>
          </a:bodyPr>
          <a:lstStyle/>
          <a:p>
            <a:pPr indent="0" lvl="0" marL="0" marR="0" rtl="0" algn="l">
              <a:lnSpc>
                <a:spcPct val="109605"/>
              </a:lnSpc>
              <a:spcBef>
                <a:spcPts val="0"/>
              </a:spcBef>
              <a:spcAft>
                <a:spcPts val="0"/>
              </a:spcAft>
              <a:buNone/>
            </a:pPr>
            <a:r>
              <a:rPr b="1" lang="en-US" sz="3748">
                <a:solidFill>
                  <a:srgbClr val="FFFFFF"/>
                </a:solidFill>
                <a:latin typeface="Calibri"/>
                <a:ea typeface="Calibri"/>
                <a:cs typeface="Calibri"/>
                <a:sym typeface="Calibri"/>
              </a:rPr>
              <a:t>Gestión</a:t>
            </a:r>
            <a:r>
              <a:rPr b="1" i="0" lang="en-US" sz="3748" u="none" cap="none" strike="noStrike">
                <a:solidFill>
                  <a:srgbClr val="FFFFFF"/>
                </a:solidFill>
                <a:latin typeface="Calibri"/>
                <a:ea typeface="Calibri"/>
                <a:cs typeface="Calibri"/>
                <a:sym typeface="Calibri"/>
              </a:rPr>
              <a:t> De Pedidos/Pagos- Herrera Sebastian</a:t>
            </a:r>
            <a:endParaRPr/>
          </a:p>
        </p:txBody>
      </p:sp>
      <p:sp>
        <p:nvSpPr>
          <p:cNvPr id="172" name="Google Shape;172;p9"/>
          <p:cNvSpPr txBox="1"/>
          <p:nvPr/>
        </p:nvSpPr>
        <p:spPr>
          <a:xfrm>
            <a:off x="5194937" y="7572371"/>
            <a:ext cx="9195600" cy="646200"/>
          </a:xfrm>
          <a:prstGeom prst="rect">
            <a:avLst/>
          </a:prstGeom>
          <a:noFill/>
          <a:ln>
            <a:noFill/>
          </a:ln>
        </p:spPr>
        <p:txBody>
          <a:bodyPr anchorCtr="0" anchor="t" bIns="0" lIns="0" spcFirstLastPara="1" rIns="0" wrap="square" tIns="0">
            <a:spAutoFit/>
          </a:bodyPr>
          <a:lstStyle/>
          <a:p>
            <a:pPr indent="0" lvl="0" marL="0" marR="0" rtl="0" algn="l">
              <a:lnSpc>
                <a:spcPct val="109599"/>
              </a:lnSpc>
              <a:spcBef>
                <a:spcPts val="0"/>
              </a:spcBef>
              <a:spcAft>
                <a:spcPts val="0"/>
              </a:spcAft>
              <a:buNone/>
            </a:pPr>
            <a:r>
              <a:rPr b="1" i="0" lang="en-US" sz="4198" u="none" cap="none" strike="noStrike">
                <a:solidFill>
                  <a:srgbClr val="FFFFFF"/>
                </a:solidFill>
                <a:latin typeface="Calibri"/>
                <a:ea typeface="Calibri"/>
                <a:cs typeface="Calibri"/>
                <a:sym typeface="Calibri"/>
              </a:rPr>
              <a:t>Gesti</a:t>
            </a:r>
            <a:r>
              <a:rPr b="1" lang="en-US" sz="4198">
                <a:solidFill>
                  <a:srgbClr val="FFFFFF"/>
                </a:solidFill>
                <a:latin typeface="Calibri"/>
                <a:ea typeface="Calibri"/>
                <a:cs typeface="Calibri"/>
                <a:sym typeface="Calibri"/>
              </a:rPr>
              <a:t>ó</a:t>
            </a:r>
            <a:r>
              <a:rPr b="1" i="0" lang="en-US" sz="4198" u="none" cap="none" strike="noStrike">
                <a:solidFill>
                  <a:srgbClr val="FFFFFF"/>
                </a:solidFill>
                <a:latin typeface="Calibri"/>
                <a:ea typeface="Calibri"/>
                <a:cs typeface="Calibri"/>
                <a:sym typeface="Calibri"/>
              </a:rPr>
              <a:t>n De </a:t>
            </a:r>
            <a:r>
              <a:rPr b="1" lang="en-US" sz="4198">
                <a:solidFill>
                  <a:srgbClr val="FFFFFF"/>
                </a:solidFill>
                <a:latin typeface="Calibri"/>
                <a:ea typeface="Calibri"/>
                <a:cs typeface="Calibri"/>
                <a:sym typeface="Calibri"/>
              </a:rPr>
              <a:t>Mercancías </a:t>
            </a:r>
            <a:r>
              <a:rPr b="1" i="0" lang="en-US" sz="4198" u="none" cap="none" strike="noStrike">
                <a:solidFill>
                  <a:srgbClr val="FFFFFF"/>
                </a:solidFill>
                <a:latin typeface="Calibri"/>
                <a:ea typeface="Calibri"/>
                <a:cs typeface="Calibri"/>
                <a:sym typeface="Calibri"/>
              </a:rPr>
              <a:t>- Chaparro Mabel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6" name="Shape 176"/>
        <p:cNvGrpSpPr/>
        <p:nvPr/>
      </p:nvGrpSpPr>
      <p:grpSpPr>
        <a:xfrm>
          <a:off x="0" y="0"/>
          <a:ext cx="0" cy="0"/>
          <a:chOff x="0" y="0"/>
          <a:chExt cx="0" cy="0"/>
        </a:xfrm>
      </p:grpSpPr>
      <p:sp>
        <p:nvSpPr>
          <p:cNvPr id="177" name="Google Shape;177;p10"/>
          <p:cNvSpPr/>
          <p:nvPr/>
        </p:nvSpPr>
        <p:spPr>
          <a:xfrm>
            <a:off x="0" y="-1905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3">
              <a:alphaModFix/>
            </a:blip>
            <a:stretch>
              <a:fillRect b="0" l="0" r="0" t="0"/>
            </a:stretch>
          </a:blipFill>
          <a:ln>
            <a:noFill/>
          </a:ln>
        </p:spPr>
      </p:sp>
      <p:sp>
        <p:nvSpPr>
          <p:cNvPr id="178" name="Google Shape;178;p10"/>
          <p:cNvSpPr/>
          <p:nvPr/>
        </p:nvSpPr>
        <p:spPr>
          <a:xfrm>
            <a:off x="29" y="0"/>
            <a:ext cx="9143810" cy="10287000"/>
          </a:xfrm>
          <a:custGeom>
            <a:rect b="b" l="l" r="r" t="t"/>
            <a:pathLst>
              <a:path extrusionOk="0" h="13716000" w="12191746">
                <a:moveTo>
                  <a:pt x="0" y="0"/>
                </a:moveTo>
                <a:lnTo>
                  <a:pt x="12191746" y="0"/>
                </a:lnTo>
                <a:lnTo>
                  <a:pt x="12191746" y="13716000"/>
                </a:lnTo>
                <a:lnTo>
                  <a:pt x="0" y="13716000"/>
                </a:lnTo>
                <a:lnTo>
                  <a:pt x="0" y="0"/>
                </a:lnTo>
                <a:close/>
              </a:path>
            </a:pathLst>
          </a:custGeom>
          <a:blipFill rotWithShape="1">
            <a:blip r:embed="rId4">
              <a:alphaModFix/>
            </a:blip>
            <a:stretch>
              <a:fillRect b="-30" l="0" r="0" t="-31"/>
            </a:stretch>
          </a:blipFill>
          <a:ln>
            <a:noFill/>
          </a:ln>
        </p:spPr>
      </p:sp>
      <p:sp>
        <p:nvSpPr>
          <p:cNvPr id="179" name="Google Shape;179;p10"/>
          <p:cNvSpPr/>
          <p:nvPr/>
        </p:nvSpPr>
        <p:spPr>
          <a:xfrm>
            <a:off x="9908196" y="496734"/>
            <a:ext cx="7924233" cy="9657021"/>
          </a:xfrm>
          <a:custGeom>
            <a:rect b="b" l="l" r="r" t="t"/>
            <a:pathLst>
              <a:path extrusionOk="0" h="9657021" w="7924233">
                <a:moveTo>
                  <a:pt x="0" y="0"/>
                </a:moveTo>
                <a:lnTo>
                  <a:pt x="7924233" y="0"/>
                </a:lnTo>
                <a:lnTo>
                  <a:pt x="7924233" y="9657021"/>
                </a:lnTo>
                <a:lnTo>
                  <a:pt x="0" y="9657021"/>
                </a:lnTo>
                <a:lnTo>
                  <a:pt x="0" y="0"/>
                </a:lnTo>
                <a:close/>
              </a:path>
            </a:pathLst>
          </a:custGeom>
          <a:blipFill rotWithShape="1">
            <a:blip r:embed="rId5">
              <a:alphaModFix/>
            </a:blip>
            <a:stretch>
              <a:fillRect b="-2" l="0" r="0" t="-2"/>
            </a:stretch>
          </a:blipFill>
          <a:ln>
            <a:noFill/>
          </a:ln>
        </p:spPr>
      </p:sp>
      <p:sp>
        <p:nvSpPr>
          <p:cNvPr id="180" name="Google Shape;180;p10"/>
          <p:cNvSpPr/>
          <p:nvPr/>
        </p:nvSpPr>
        <p:spPr>
          <a:xfrm>
            <a:off x="463611" y="2931110"/>
            <a:ext cx="7496829" cy="4919794"/>
          </a:xfrm>
          <a:custGeom>
            <a:rect b="b" l="l" r="r" t="t"/>
            <a:pathLst>
              <a:path extrusionOk="0" h="4919794" w="7496829">
                <a:moveTo>
                  <a:pt x="0" y="0"/>
                </a:moveTo>
                <a:lnTo>
                  <a:pt x="7496829" y="0"/>
                </a:lnTo>
                <a:lnTo>
                  <a:pt x="7496829" y="4919794"/>
                </a:lnTo>
                <a:lnTo>
                  <a:pt x="0" y="4919794"/>
                </a:lnTo>
                <a:lnTo>
                  <a:pt x="0" y="0"/>
                </a:lnTo>
                <a:close/>
              </a:path>
            </a:pathLst>
          </a:custGeom>
          <a:blipFill rotWithShape="1">
            <a:blip r:embed="rId6">
              <a:alphaModFix/>
            </a:blip>
            <a:stretch>
              <a:fillRect b="0" l="0" r="0" t="0"/>
            </a:stretch>
          </a:blipFill>
          <a:ln>
            <a:noFill/>
          </a:ln>
        </p:spPr>
      </p:sp>
      <p:sp>
        <p:nvSpPr>
          <p:cNvPr id="181" name="Google Shape;181;p10"/>
          <p:cNvSpPr txBox="1"/>
          <p:nvPr/>
        </p:nvSpPr>
        <p:spPr>
          <a:xfrm>
            <a:off x="1028700" y="738041"/>
            <a:ext cx="6366651" cy="1827467"/>
          </a:xfrm>
          <a:prstGeom prst="rect">
            <a:avLst/>
          </a:prstGeom>
          <a:noFill/>
          <a:ln>
            <a:noFill/>
          </a:ln>
        </p:spPr>
        <p:txBody>
          <a:bodyPr anchorCtr="0" anchor="t" bIns="0" lIns="0" spcFirstLastPara="1" rIns="0" wrap="square" tIns="0">
            <a:spAutoFit/>
          </a:bodyPr>
          <a:lstStyle/>
          <a:p>
            <a:pPr indent="0" lvl="0" marL="0" marR="0" rtl="0" algn="l">
              <a:lnSpc>
                <a:spcPct val="120190"/>
              </a:lnSpc>
              <a:spcBef>
                <a:spcPts val="0"/>
              </a:spcBef>
              <a:spcAft>
                <a:spcPts val="0"/>
              </a:spcAft>
              <a:buNone/>
            </a:pPr>
            <a:r>
              <a:rPr b="0" i="1" lang="en-US" sz="5250" u="none" cap="none" strike="noStrike">
                <a:solidFill>
                  <a:srgbClr val="FFFFFF"/>
                </a:solidFill>
                <a:latin typeface="Calibri"/>
                <a:ea typeface="Calibri"/>
                <a:cs typeface="Calibri"/>
                <a:sym typeface="Calibri"/>
              </a:rPr>
              <a:t>GESTIÓN </a:t>
            </a:r>
            <a:r>
              <a:rPr b="0" i="0" lang="en-US" sz="5250" u="none" cap="none" strike="noStrike">
                <a:solidFill>
                  <a:srgbClr val="FFFFFF"/>
                </a:solidFill>
                <a:latin typeface="Calibri"/>
                <a:ea typeface="Calibri"/>
                <a:cs typeface="Calibri"/>
                <a:sym typeface="Calibri"/>
              </a:rPr>
              <a:t>DE CLIENTES SANTIAGO CÓRDOBA</a:t>
            </a:r>
            <a:endParaRPr/>
          </a:p>
        </p:txBody>
      </p:sp>
      <p:sp>
        <p:nvSpPr>
          <p:cNvPr id="182" name="Google Shape;182;p10"/>
          <p:cNvSpPr txBox="1"/>
          <p:nvPr/>
        </p:nvSpPr>
        <p:spPr>
          <a:xfrm>
            <a:off x="11076056" y="7659276"/>
            <a:ext cx="2645100" cy="1495200"/>
          </a:xfrm>
          <a:prstGeom prst="rect">
            <a:avLst/>
          </a:prstGeom>
          <a:noFill/>
          <a:ln>
            <a:noFill/>
          </a:ln>
        </p:spPr>
        <p:txBody>
          <a:bodyPr anchorCtr="0" anchor="t" bIns="0" lIns="0" spcFirstLastPara="1" rIns="0" wrap="square" tIns="0">
            <a:spAutoFit/>
          </a:bodyPr>
          <a:lstStyle/>
          <a:p>
            <a:pPr indent="0" lvl="0" marL="0" marR="0" rtl="0" algn="ctr">
              <a:lnSpc>
                <a:spcPct val="121825"/>
              </a:lnSpc>
              <a:spcBef>
                <a:spcPts val="0"/>
              </a:spcBef>
              <a:spcAft>
                <a:spcPts val="0"/>
              </a:spcAft>
              <a:buNone/>
            </a:pPr>
            <a:r>
              <a:rPr b="0" i="0" lang="en-US" sz="1654" u="none" cap="none" strike="noStrike">
                <a:solidFill>
                  <a:srgbClr val="FFFFFF"/>
                </a:solidFill>
                <a:latin typeface="Calibri"/>
                <a:ea typeface="Calibri"/>
                <a:cs typeface="Calibri"/>
                <a:sym typeface="Calibri"/>
              </a:rPr>
              <a:t>clientes para campañas </a:t>
            </a:r>
            <a:r>
              <a:rPr lang="en-US" sz="1654">
                <a:solidFill>
                  <a:srgbClr val="FFFFFF"/>
                </a:solidFill>
                <a:latin typeface="Calibri"/>
                <a:ea typeface="Calibri"/>
                <a:cs typeface="Calibri"/>
                <a:sym typeface="Calibri"/>
              </a:rPr>
              <a:t>específicas</a:t>
            </a:r>
            <a:r>
              <a:rPr b="0" i="0" lang="en-US" sz="1654" u="none" cap="none" strike="noStrike">
                <a:solidFill>
                  <a:srgbClr val="FFFFFF"/>
                </a:solidFill>
                <a:latin typeface="Calibri"/>
                <a:ea typeface="Calibri"/>
                <a:cs typeface="Calibri"/>
                <a:sym typeface="Calibri"/>
              </a:rPr>
              <a:t> de marketing o seguimiento, identificando patrones de comportamiento y preferencias  </a:t>
            </a:r>
            <a:endParaRPr/>
          </a:p>
        </p:txBody>
      </p:sp>
      <p:sp>
        <p:nvSpPr>
          <p:cNvPr id="183" name="Google Shape;183;p10"/>
          <p:cNvSpPr txBox="1"/>
          <p:nvPr/>
        </p:nvSpPr>
        <p:spPr>
          <a:xfrm>
            <a:off x="11057768" y="2484544"/>
            <a:ext cx="2682549" cy="2263164"/>
          </a:xfrm>
          <a:prstGeom prst="rect">
            <a:avLst/>
          </a:prstGeom>
          <a:noFill/>
          <a:ln>
            <a:noFill/>
          </a:ln>
        </p:spPr>
        <p:txBody>
          <a:bodyPr anchorCtr="0" anchor="t" bIns="0" lIns="0" spcFirstLastPara="1" rIns="0" wrap="square" tIns="0">
            <a:spAutoFit/>
          </a:bodyPr>
          <a:lstStyle/>
          <a:p>
            <a:pPr indent="0" lvl="0" marL="0" marR="0" rtl="0" algn="ctr">
              <a:lnSpc>
                <a:spcPct val="121825"/>
              </a:lnSpc>
              <a:spcBef>
                <a:spcPts val="0"/>
              </a:spcBef>
              <a:spcAft>
                <a:spcPts val="0"/>
              </a:spcAft>
              <a:buNone/>
            </a:pPr>
            <a:r>
              <a:rPr b="0" i="0" lang="en-US" sz="1654" u="none" cap="none" strike="noStrike">
                <a:solidFill>
                  <a:srgbClr val="FFFFFF"/>
                </a:solidFill>
                <a:latin typeface="Calibri"/>
                <a:ea typeface="Calibri"/>
                <a:cs typeface="Calibri"/>
                <a:sym typeface="Calibri"/>
              </a:rPr>
              <a:t>1. Registrar los datos básicos de cada cliente como lo son nombres, direcciones, contactos y canales preferidos de comunicación, asegurando que la información se almacene de forma segura y centralizada para su consulta y actualización cuando se </a:t>
            </a:r>
            <a:endParaRPr/>
          </a:p>
        </p:txBody>
      </p:sp>
      <p:sp>
        <p:nvSpPr>
          <p:cNvPr id="184" name="Google Shape;184;p10"/>
          <p:cNvSpPr txBox="1"/>
          <p:nvPr/>
        </p:nvSpPr>
        <p:spPr>
          <a:xfrm>
            <a:off x="12005263" y="5185081"/>
            <a:ext cx="739500" cy="254700"/>
          </a:xfrm>
          <a:prstGeom prst="rect">
            <a:avLst/>
          </a:prstGeom>
          <a:noFill/>
          <a:ln>
            <a:noFill/>
          </a:ln>
        </p:spPr>
        <p:txBody>
          <a:bodyPr anchorCtr="0" anchor="t" bIns="0" lIns="0" spcFirstLastPara="1" rIns="0" wrap="square" tIns="0">
            <a:spAutoFit/>
          </a:bodyPr>
          <a:lstStyle/>
          <a:p>
            <a:pPr indent="0" lvl="0" marL="0" marR="0" rtl="0" algn="l">
              <a:lnSpc>
                <a:spcPct val="121825"/>
              </a:lnSpc>
              <a:spcBef>
                <a:spcPts val="0"/>
              </a:spcBef>
              <a:spcAft>
                <a:spcPts val="0"/>
              </a:spcAft>
              <a:buNone/>
            </a:pPr>
            <a:r>
              <a:rPr b="0" i="0" lang="en-US" sz="1654" u="none" cap="none" strike="noStrike">
                <a:solidFill>
                  <a:srgbClr val="FFFFFF"/>
                </a:solidFill>
                <a:latin typeface="Calibri"/>
                <a:ea typeface="Calibri"/>
                <a:cs typeface="Calibri"/>
                <a:sym typeface="Calibri"/>
              </a:rPr>
              <a:t>requiera</a:t>
            </a:r>
            <a:endParaRPr/>
          </a:p>
        </p:txBody>
      </p:sp>
      <p:sp>
        <p:nvSpPr>
          <p:cNvPr id="185" name="Google Shape;185;p10"/>
          <p:cNvSpPr txBox="1"/>
          <p:nvPr/>
        </p:nvSpPr>
        <p:spPr>
          <a:xfrm>
            <a:off x="14124237" y="2484544"/>
            <a:ext cx="2638144" cy="1859127"/>
          </a:xfrm>
          <a:prstGeom prst="rect">
            <a:avLst/>
          </a:prstGeom>
          <a:noFill/>
          <a:ln>
            <a:noFill/>
          </a:ln>
        </p:spPr>
        <p:txBody>
          <a:bodyPr anchorCtr="0" anchor="t" bIns="0" lIns="0" spcFirstLastPara="1" rIns="0" wrap="square" tIns="0">
            <a:spAutoFit/>
          </a:bodyPr>
          <a:lstStyle/>
          <a:p>
            <a:pPr indent="0" lvl="0" marL="0" marR="0" rtl="0" algn="ctr">
              <a:lnSpc>
                <a:spcPct val="121825"/>
              </a:lnSpc>
              <a:spcBef>
                <a:spcPts val="0"/>
              </a:spcBef>
              <a:spcAft>
                <a:spcPts val="0"/>
              </a:spcAft>
              <a:buNone/>
            </a:pPr>
            <a:r>
              <a:rPr b="0" i="0" lang="en-US" sz="1654" u="none" cap="none" strike="noStrike">
                <a:solidFill>
                  <a:srgbClr val="FFFFFF"/>
                </a:solidFill>
                <a:latin typeface="Calibri"/>
                <a:ea typeface="Calibri"/>
                <a:cs typeface="Calibri"/>
                <a:sym typeface="Calibri"/>
              </a:rPr>
              <a:t>2. Gestionar el historial de interacciones con los clientes, incluyendo compras realizadas, consultas, solicitudes, quejas y seguimientos, lo cual permite brindar un servicio más </a:t>
            </a:r>
            <a:endParaRPr/>
          </a:p>
        </p:txBody>
      </p:sp>
      <p:sp>
        <p:nvSpPr>
          <p:cNvPr id="186" name="Google Shape;186;p10"/>
          <p:cNvSpPr txBox="1"/>
          <p:nvPr/>
        </p:nvSpPr>
        <p:spPr>
          <a:xfrm>
            <a:off x="14332263" y="4503090"/>
            <a:ext cx="2164800" cy="254700"/>
          </a:xfrm>
          <a:prstGeom prst="rect">
            <a:avLst/>
          </a:prstGeom>
          <a:noFill/>
          <a:ln>
            <a:noFill/>
          </a:ln>
        </p:spPr>
        <p:txBody>
          <a:bodyPr anchorCtr="0" anchor="t" bIns="0" lIns="0" spcFirstLastPara="1" rIns="0" wrap="square" tIns="0">
            <a:spAutoFit/>
          </a:bodyPr>
          <a:lstStyle/>
          <a:p>
            <a:pPr indent="0" lvl="0" marL="0" marR="0" rtl="0" algn="l">
              <a:lnSpc>
                <a:spcPct val="121825"/>
              </a:lnSpc>
              <a:spcBef>
                <a:spcPts val="0"/>
              </a:spcBef>
              <a:spcAft>
                <a:spcPts val="0"/>
              </a:spcAft>
              <a:buNone/>
            </a:pPr>
            <a:r>
              <a:rPr b="0" i="0" lang="en-US" sz="1654" u="none" cap="none" strike="noStrike">
                <a:solidFill>
                  <a:srgbClr val="FFFFFF"/>
                </a:solidFill>
                <a:latin typeface="Calibri"/>
                <a:ea typeface="Calibri"/>
                <a:cs typeface="Calibri"/>
                <a:sym typeface="Calibri"/>
              </a:rPr>
              <a:t>eficiente y personalizado</a:t>
            </a:r>
            <a:endParaRPr/>
          </a:p>
        </p:txBody>
      </p:sp>
      <p:sp>
        <p:nvSpPr>
          <p:cNvPr id="187" name="Google Shape;187;p10"/>
          <p:cNvSpPr txBox="1"/>
          <p:nvPr/>
        </p:nvSpPr>
        <p:spPr>
          <a:xfrm>
            <a:off x="14115093" y="7659276"/>
            <a:ext cx="2659590" cy="1346879"/>
          </a:xfrm>
          <a:prstGeom prst="rect">
            <a:avLst/>
          </a:prstGeom>
          <a:noFill/>
          <a:ln>
            <a:noFill/>
          </a:ln>
        </p:spPr>
        <p:txBody>
          <a:bodyPr anchorCtr="0" anchor="t" bIns="0" lIns="0" spcFirstLastPara="1" rIns="0" wrap="square" tIns="0">
            <a:spAutoFit/>
          </a:bodyPr>
          <a:lstStyle/>
          <a:p>
            <a:pPr indent="0" lvl="0" marL="0" marR="0" rtl="0" algn="ctr">
              <a:lnSpc>
                <a:spcPct val="121825"/>
              </a:lnSpc>
              <a:spcBef>
                <a:spcPts val="0"/>
              </a:spcBef>
              <a:spcAft>
                <a:spcPts val="0"/>
              </a:spcAft>
              <a:buNone/>
            </a:pPr>
            <a:r>
              <a:rPr b="0" i="0" lang="en-US" sz="1654" u="none" cap="none" strike="noStrike">
                <a:solidFill>
                  <a:srgbClr val="FFFFFF"/>
                </a:solidFill>
                <a:latin typeface="Calibri"/>
                <a:ea typeface="Calibri"/>
                <a:cs typeface="Calibri"/>
                <a:sym typeface="Calibri"/>
              </a:rPr>
              <a:t>cuentas de clientes, bien sea saldos pendientes, descuentos aplicados, acuerdos especiales, para así optimizar la gestión comercial </a:t>
            </a:r>
            <a:endParaRPr/>
          </a:p>
        </p:txBody>
      </p:sp>
      <p:sp>
        <p:nvSpPr>
          <p:cNvPr id="188" name="Google Shape;188;p10"/>
          <p:cNvSpPr txBox="1"/>
          <p:nvPr/>
        </p:nvSpPr>
        <p:spPr>
          <a:xfrm>
            <a:off x="14716528" y="9181216"/>
            <a:ext cx="1396200" cy="254700"/>
          </a:xfrm>
          <a:prstGeom prst="rect">
            <a:avLst/>
          </a:prstGeom>
          <a:noFill/>
          <a:ln>
            <a:noFill/>
          </a:ln>
        </p:spPr>
        <p:txBody>
          <a:bodyPr anchorCtr="0" anchor="t" bIns="0" lIns="0" spcFirstLastPara="1" rIns="0" wrap="square" tIns="0">
            <a:spAutoFit/>
          </a:bodyPr>
          <a:lstStyle/>
          <a:p>
            <a:pPr indent="0" lvl="0" marL="0" marR="0" rtl="0" algn="l">
              <a:lnSpc>
                <a:spcPct val="121825"/>
              </a:lnSpc>
              <a:spcBef>
                <a:spcPts val="0"/>
              </a:spcBef>
              <a:spcAft>
                <a:spcPts val="0"/>
              </a:spcAft>
              <a:buNone/>
            </a:pPr>
            <a:r>
              <a:rPr b="0" i="0" lang="en-US" sz="1654" u="none" cap="none" strike="noStrike">
                <a:solidFill>
                  <a:srgbClr val="FFFFFF"/>
                </a:solidFill>
                <a:latin typeface="Calibri"/>
                <a:ea typeface="Calibri"/>
                <a:cs typeface="Calibri"/>
                <a:sym typeface="Calibri"/>
              </a:rPr>
              <a:t>y administrativa</a:t>
            </a:r>
            <a:endParaRPr/>
          </a:p>
        </p:txBody>
      </p:sp>
      <p:sp>
        <p:nvSpPr>
          <p:cNvPr id="189" name="Google Shape;189;p10"/>
          <p:cNvSpPr txBox="1"/>
          <p:nvPr/>
        </p:nvSpPr>
        <p:spPr>
          <a:xfrm>
            <a:off x="11060054" y="7345152"/>
            <a:ext cx="2629914" cy="380500"/>
          </a:xfrm>
          <a:prstGeom prst="rect">
            <a:avLst/>
          </a:prstGeom>
          <a:noFill/>
          <a:ln>
            <a:noFill/>
          </a:ln>
        </p:spPr>
        <p:txBody>
          <a:bodyPr anchorCtr="0" anchor="t" bIns="0" lIns="0" spcFirstLastPara="1" rIns="0" wrap="square" tIns="0">
            <a:spAutoFit/>
          </a:bodyPr>
          <a:lstStyle/>
          <a:p>
            <a:pPr indent="0" lvl="0" marL="0" marR="0" rtl="0" algn="l">
              <a:lnSpc>
                <a:spcPct val="139963"/>
              </a:lnSpc>
              <a:spcBef>
                <a:spcPts val="0"/>
              </a:spcBef>
              <a:spcAft>
                <a:spcPts val="0"/>
              </a:spcAft>
              <a:buNone/>
            </a:pPr>
            <a:r>
              <a:rPr b="0" i="0" lang="en-US" sz="1659" u="none" cap="none" strike="noStrike">
                <a:solidFill>
                  <a:srgbClr val="FFFFFF"/>
                </a:solidFill>
                <a:latin typeface="Calibri"/>
                <a:ea typeface="Calibri"/>
                <a:cs typeface="Calibri"/>
                <a:sym typeface="Calibri"/>
              </a:rPr>
              <a:t>3. Facilitar la segmentación de</a:t>
            </a:r>
            <a:endParaRPr/>
          </a:p>
        </p:txBody>
      </p:sp>
      <p:sp>
        <p:nvSpPr>
          <p:cNvPr id="190" name="Google Shape;190;p10"/>
          <p:cNvSpPr txBox="1"/>
          <p:nvPr/>
        </p:nvSpPr>
        <p:spPr>
          <a:xfrm>
            <a:off x="14206533" y="7345152"/>
            <a:ext cx="2424818" cy="380500"/>
          </a:xfrm>
          <a:prstGeom prst="rect">
            <a:avLst/>
          </a:prstGeom>
          <a:noFill/>
          <a:ln>
            <a:noFill/>
          </a:ln>
        </p:spPr>
        <p:txBody>
          <a:bodyPr anchorCtr="0" anchor="t" bIns="0" lIns="0" spcFirstLastPara="1" rIns="0" wrap="square" tIns="0">
            <a:spAutoFit/>
          </a:bodyPr>
          <a:lstStyle/>
          <a:p>
            <a:pPr indent="0" lvl="0" marL="0" marR="0" rtl="0" algn="l">
              <a:lnSpc>
                <a:spcPct val="139963"/>
              </a:lnSpc>
              <a:spcBef>
                <a:spcPts val="0"/>
              </a:spcBef>
              <a:spcAft>
                <a:spcPts val="0"/>
              </a:spcAft>
              <a:buNone/>
            </a:pPr>
            <a:r>
              <a:rPr b="0" i="0" lang="en-US" sz="1659" u="none" cap="none" strike="noStrike">
                <a:solidFill>
                  <a:srgbClr val="FFFFFF"/>
                </a:solidFill>
                <a:latin typeface="Calibri"/>
                <a:ea typeface="Calibri"/>
                <a:cs typeface="Calibri"/>
                <a:sym typeface="Calibri"/>
              </a:rPr>
              <a:t>4. Controlar el estado de las</a:t>
            </a:r>
            <a:endParaRPr/>
          </a:p>
        </p:txBody>
      </p:sp>
      <p:sp>
        <p:nvSpPr>
          <p:cNvPr id="191" name="Google Shape;191;p10"/>
          <p:cNvSpPr txBox="1"/>
          <p:nvPr/>
        </p:nvSpPr>
        <p:spPr>
          <a:xfrm>
            <a:off x="2003108" y="3620253"/>
            <a:ext cx="5137658" cy="3384345"/>
          </a:xfrm>
          <a:prstGeom prst="rect">
            <a:avLst/>
          </a:prstGeom>
          <a:noFill/>
          <a:ln>
            <a:noFill/>
          </a:ln>
        </p:spPr>
        <p:txBody>
          <a:bodyPr anchorCtr="0" anchor="t" bIns="0" lIns="0" spcFirstLastPara="1" rIns="0" wrap="square" tIns="0">
            <a:spAutoFit/>
          </a:bodyPr>
          <a:lstStyle/>
          <a:p>
            <a:pPr indent="0" lvl="0" marL="0" marR="0" rtl="0" algn="l">
              <a:lnSpc>
                <a:spcPct val="120184"/>
              </a:lnSpc>
              <a:spcBef>
                <a:spcPts val="0"/>
              </a:spcBef>
              <a:spcAft>
                <a:spcPts val="0"/>
              </a:spcAft>
              <a:buNone/>
            </a:pPr>
            <a:r>
              <a:rPr b="0" i="1" lang="en-US" sz="4236" u="none" cap="none" strike="noStrike">
                <a:solidFill>
                  <a:srgbClr val="FFFFFF"/>
                </a:solidFill>
                <a:latin typeface="Calibri"/>
                <a:ea typeface="Calibri"/>
                <a:cs typeface="Calibri"/>
                <a:sym typeface="Calibri"/>
              </a:rPr>
              <a:t>Registrar, organizar y administrar toda la información con los clientes que interactúa el taller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5" name="Shape 195"/>
        <p:cNvGrpSpPr/>
        <p:nvPr/>
      </p:nvGrpSpPr>
      <p:grpSpPr>
        <a:xfrm>
          <a:off x="0" y="0"/>
          <a:ext cx="0" cy="0"/>
          <a:chOff x="0" y="0"/>
          <a:chExt cx="0" cy="0"/>
        </a:xfrm>
      </p:grpSpPr>
      <p:sp>
        <p:nvSpPr>
          <p:cNvPr id="196" name="Google Shape;196;p11"/>
          <p:cNvSpPr/>
          <p:nvPr/>
        </p:nvSpPr>
        <p:spPr>
          <a:xfrm>
            <a:off x="0" y="-1905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3">
              <a:alphaModFix/>
            </a:blip>
            <a:stretch>
              <a:fillRect b="0" l="0" r="0" t="0"/>
            </a:stretch>
          </a:blipFill>
          <a:ln>
            <a:noFill/>
          </a:ln>
        </p:spPr>
      </p:sp>
      <p:sp>
        <p:nvSpPr>
          <p:cNvPr id="197" name="Google Shape;197;p11"/>
          <p:cNvSpPr/>
          <p:nvPr/>
        </p:nvSpPr>
        <p:spPr>
          <a:xfrm>
            <a:off x="29" y="72"/>
            <a:ext cx="9144000" cy="10286618"/>
          </a:xfrm>
          <a:custGeom>
            <a:rect b="b" l="l" r="r" t="t"/>
            <a:pathLst>
              <a:path extrusionOk="0" h="13715492" w="12192000">
                <a:moveTo>
                  <a:pt x="0" y="0"/>
                </a:moveTo>
                <a:lnTo>
                  <a:pt x="12192000" y="0"/>
                </a:lnTo>
                <a:lnTo>
                  <a:pt x="12192000" y="13715492"/>
                </a:lnTo>
                <a:lnTo>
                  <a:pt x="0" y="13715492"/>
                </a:lnTo>
                <a:lnTo>
                  <a:pt x="0" y="0"/>
                </a:lnTo>
                <a:close/>
              </a:path>
            </a:pathLst>
          </a:custGeom>
          <a:blipFill rotWithShape="1">
            <a:blip r:embed="rId4">
              <a:alphaModFix/>
            </a:blip>
            <a:stretch>
              <a:fillRect b="0" l="-10" r="-9" t="0"/>
            </a:stretch>
          </a:blipFill>
          <a:ln>
            <a:noFill/>
          </a:ln>
        </p:spPr>
      </p:sp>
      <p:sp>
        <p:nvSpPr>
          <p:cNvPr id="198" name="Google Shape;198;p11"/>
          <p:cNvSpPr/>
          <p:nvPr/>
        </p:nvSpPr>
        <p:spPr>
          <a:xfrm>
            <a:off x="8497734" y="773340"/>
            <a:ext cx="9885521" cy="8740335"/>
          </a:xfrm>
          <a:custGeom>
            <a:rect b="b" l="l" r="r" t="t"/>
            <a:pathLst>
              <a:path extrusionOk="0" h="8740335" w="9885521">
                <a:moveTo>
                  <a:pt x="0" y="0"/>
                </a:moveTo>
                <a:lnTo>
                  <a:pt x="9885521" y="0"/>
                </a:lnTo>
                <a:lnTo>
                  <a:pt x="9885521" y="8740335"/>
                </a:lnTo>
                <a:lnTo>
                  <a:pt x="0" y="8740335"/>
                </a:lnTo>
                <a:lnTo>
                  <a:pt x="0" y="0"/>
                </a:lnTo>
                <a:close/>
              </a:path>
            </a:pathLst>
          </a:custGeom>
          <a:blipFill rotWithShape="1">
            <a:blip r:embed="rId5">
              <a:alphaModFix/>
            </a:blip>
            <a:stretch>
              <a:fillRect b="-11" l="0" r="0" t="-12"/>
            </a:stretch>
          </a:blipFill>
          <a:ln>
            <a:noFill/>
          </a:ln>
        </p:spPr>
      </p:sp>
      <p:sp>
        <p:nvSpPr>
          <p:cNvPr id="199" name="Google Shape;199;p11"/>
          <p:cNvSpPr txBox="1"/>
          <p:nvPr/>
        </p:nvSpPr>
        <p:spPr>
          <a:xfrm>
            <a:off x="1687525" y="1082483"/>
            <a:ext cx="6003364" cy="993534"/>
          </a:xfrm>
          <a:prstGeom prst="rect">
            <a:avLst/>
          </a:prstGeom>
          <a:noFill/>
          <a:ln>
            <a:noFill/>
          </a:ln>
        </p:spPr>
        <p:txBody>
          <a:bodyPr anchorCtr="0" anchor="t" bIns="0" lIns="0" spcFirstLastPara="1" rIns="0" wrap="square" tIns="0">
            <a:spAutoFit/>
          </a:bodyPr>
          <a:lstStyle/>
          <a:p>
            <a:pPr indent="0" lvl="0" marL="0" marR="0" rtl="0" algn="l">
              <a:lnSpc>
                <a:spcPct val="144227"/>
              </a:lnSpc>
              <a:spcBef>
                <a:spcPts val="0"/>
              </a:spcBef>
              <a:spcAft>
                <a:spcPts val="0"/>
              </a:spcAft>
              <a:buNone/>
            </a:pPr>
            <a:r>
              <a:rPr b="1" i="0" lang="en-US" sz="4192" u="none" cap="none" strike="noStrike">
                <a:solidFill>
                  <a:srgbClr val="FFFFFF"/>
                </a:solidFill>
                <a:latin typeface="Calibri"/>
                <a:ea typeface="Calibri"/>
                <a:cs typeface="Calibri"/>
                <a:sym typeface="Calibri"/>
              </a:rPr>
              <a:t>MODULO GESTION </a:t>
            </a:r>
            <a:endParaRPr/>
          </a:p>
        </p:txBody>
      </p:sp>
      <p:sp>
        <p:nvSpPr>
          <p:cNvPr id="200" name="Google Shape;200;p11"/>
          <p:cNvSpPr txBox="1"/>
          <p:nvPr/>
        </p:nvSpPr>
        <p:spPr>
          <a:xfrm>
            <a:off x="2317675" y="1895041"/>
            <a:ext cx="4781166" cy="814007"/>
          </a:xfrm>
          <a:prstGeom prst="rect">
            <a:avLst/>
          </a:prstGeom>
          <a:noFill/>
          <a:ln>
            <a:noFill/>
          </a:ln>
        </p:spPr>
        <p:txBody>
          <a:bodyPr anchorCtr="0" anchor="t" bIns="0" lIns="0" spcFirstLastPara="1" rIns="0" wrap="square" tIns="0">
            <a:spAutoFit/>
          </a:bodyPr>
          <a:lstStyle/>
          <a:p>
            <a:pPr indent="0" lvl="0" marL="0" marR="0" rtl="0" algn="l">
              <a:lnSpc>
                <a:spcPct val="144227"/>
              </a:lnSpc>
              <a:spcBef>
                <a:spcPts val="0"/>
              </a:spcBef>
              <a:spcAft>
                <a:spcPts val="0"/>
              </a:spcAft>
              <a:buNone/>
            </a:pPr>
            <a:r>
              <a:rPr b="1" i="0" lang="en-US" sz="4192" u="none" cap="none" strike="noStrike">
                <a:solidFill>
                  <a:srgbClr val="FFFFFF"/>
                </a:solidFill>
                <a:latin typeface="Calibri"/>
                <a:ea typeface="Calibri"/>
                <a:cs typeface="Calibri"/>
                <a:sym typeface="Calibri"/>
              </a:rPr>
              <a:t>DE PEDIDOS</a:t>
            </a:r>
            <a:endParaRPr/>
          </a:p>
        </p:txBody>
      </p:sp>
      <p:sp>
        <p:nvSpPr>
          <p:cNvPr id="201" name="Google Shape;201;p11"/>
          <p:cNvSpPr txBox="1"/>
          <p:nvPr/>
        </p:nvSpPr>
        <p:spPr>
          <a:xfrm>
            <a:off x="11012619" y="8215313"/>
            <a:ext cx="5761200" cy="681600"/>
          </a:xfrm>
          <a:prstGeom prst="rect">
            <a:avLst/>
          </a:prstGeom>
          <a:noFill/>
          <a:ln>
            <a:noFill/>
          </a:ln>
        </p:spPr>
        <p:txBody>
          <a:bodyPr anchorCtr="0" anchor="t" bIns="0" lIns="0" spcFirstLastPara="1" rIns="0" wrap="square" tIns="0">
            <a:spAutoFit/>
          </a:bodyPr>
          <a:lstStyle/>
          <a:p>
            <a:pPr indent="0" lvl="0" marL="0" marR="0" rtl="0" algn="l">
              <a:lnSpc>
                <a:spcPct val="146000"/>
              </a:lnSpc>
              <a:spcBef>
                <a:spcPts val="0"/>
              </a:spcBef>
              <a:spcAft>
                <a:spcPts val="0"/>
              </a:spcAft>
              <a:buNone/>
            </a:pPr>
            <a:r>
              <a:rPr b="1" i="0" lang="en-US" sz="1800" u="none" cap="none" strike="noStrike">
                <a:solidFill>
                  <a:srgbClr val="FFFFFF"/>
                </a:solidFill>
                <a:latin typeface="Calibri"/>
                <a:ea typeface="Calibri"/>
                <a:cs typeface="Calibri"/>
                <a:sym typeface="Calibri"/>
              </a:rPr>
              <a:t>Mejorar la experiencia del cliente </a:t>
            </a:r>
            <a:r>
              <a:rPr b="0" i="0" lang="en-US" sz="1800" u="none" cap="none" strike="noStrike">
                <a:solidFill>
                  <a:srgbClr val="FFFFFF"/>
                </a:solidFill>
                <a:latin typeface="Calibri"/>
                <a:ea typeface="Calibri"/>
                <a:cs typeface="Calibri"/>
                <a:sym typeface="Calibri"/>
              </a:rPr>
              <a:t>y la </a:t>
            </a:r>
            <a:r>
              <a:rPr b="1" i="0" lang="en-US" sz="1800" u="none" cap="none" strike="noStrike">
                <a:solidFill>
                  <a:srgbClr val="FFFFFF"/>
                </a:solidFill>
                <a:latin typeface="Calibri"/>
                <a:ea typeface="Calibri"/>
                <a:cs typeface="Calibri"/>
                <a:sym typeface="Calibri"/>
              </a:rPr>
              <a:t>eficiencia operativa </a:t>
            </a:r>
            <a:r>
              <a:rPr b="0" i="0" lang="en-US" sz="1800" u="none" cap="none" strike="noStrike">
                <a:solidFill>
                  <a:srgbClr val="FFFFFF"/>
                </a:solidFill>
                <a:latin typeface="Calibri"/>
                <a:ea typeface="Calibri"/>
                <a:cs typeface="Calibri"/>
                <a:sym typeface="Calibri"/>
              </a:rPr>
              <a:t>a nivel interno garantizando así menos errores</a:t>
            </a:r>
            <a:endParaRPr/>
          </a:p>
        </p:txBody>
      </p:sp>
      <p:sp>
        <p:nvSpPr>
          <p:cNvPr id="202" name="Google Shape;202;p11"/>
          <p:cNvSpPr txBox="1"/>
          <p:nvPr/>
        </p:nvSpPr>
        <p:spPr>
          <a:xfrm>
            <a:off x="11012619" y="1238055"/>
            <a:ext cx="5897400" cy="681600"/>
          </a:xfrm>
          <a:prstGeom prst="rect">
            <a:avLst/>
          </a:prstGeom>
          <a:noFill/>
          <a:ln>
            <a:noFill/>
          </a:ln>
        </p:spPr>
        <p:txBody>
          <a:bodyPr anchorCtr="0" anchor="t" bIns="0" lIns="0" spcFirstLastPara="1" rIns="0" wrap="square" tIns="0">
            <a:spAutoFit/>
          </a:bodyPr>
          <a:lstStyle/>
          <a:p>
            <a:pPr indent="0" lvl="0" marL="0" marR="0" rtl="0" algn="l">
              <a:lnSpc>
                <a:spcPct val="146000"/>
              </a:lnSpc>
              <a:spcBef>
                <a:spcPts val="0"/>
              </a:spcBef>
              <a:spcAft>
                <a:spcPts val="0"/>
              </a:spcAft>
              <a:buNone/>
            </a:pPr>
            <a:r>
              <a:rPr b="0" i="0" lang="en-US" sz="1800" u="none" cap="none" strike="noStrike">
                <a:solidFill>
                  <a:srgbClr val="FFFFFF"/>
                </a:solidFill>
                <a:latin typeface="Calibri"/>
                <a:ea typeface="Calibri"/>
                <a:cs typeface="Calibri"/>
                <a:sym typeface="Calibri"/>
              </a:rPr>
              <a:t>Analizar y optimizar el proceso del pedido garantizando mejor eficiencia y precisión</a:t>
            </a:r>
            <a:endParaRPr/>
          </a:p>
        </p:txBody>
      </p:sp>
      <p:sp>
        <p:nvSpPr>
          <p:cNvPr id="203" name="Google Shape;203;p11"/>
          <p:cNvSpPr txBox="1"/>
          <p:nvPr/>
        </p:nvSpPr>
        <p:spPr>
          <a:xfrm>
            <a:off x="11012619" y="3228590"/>
            <a:ext cx="6093300" cy="1490700"/>
          </a:xfrm>
          <a:prstGeom prst="rect">
            <a:avLst/>
          </a:prstGeom>
          <a:noFill/>
          <a:ln>
            <a:noFill/>
          </a:ln>
        </p:spPr>
        <p:txBody>
          <a:bodyPr anchorCtr="0" anchor="t" bIns="0" lIns="0" spcFirstLastPara="1" rIns="0" wrap="square" tIns="0">
            <a:spAutoFit/>
          </a:bodyPr>
          <a:lstStyle/>
          <a:p>
            <a:pPr indent="0" lvl="0" marL="0" marR="0" rtl="0" algn="l">
              <a:lnSpc>
                <a:spcPct val="146000"/>
              </a:lnSpc>
              <a:spcBef>
                <a:spcPts val="0"/>
              </a:spcBef>
              <a:spcAft>
                <a:spcPts val="0"/>
              </a:spcAft>
              <a:buNone/>
            </a:pPr>
            <a:r>
              <a:rPr b="0" i="0" lang="en-US" sz="1800" u="none" cap="none" strike="noStrike">
                <a:solidFill>
                  <a:srgbClr val="FFFFFF"/>
                </a:solidFill>
                <a:latin typeface="Calibri"/>
                <a:ea typeface="Calibri"/>
                <a:cs typeface="Calibri"/>
                <a:sym typeface="Calibri"/>
              </a:rPr>
              <a:t>Validación y confirmación: una de las funciones de este modulo es verificar los detalles del pedido para comparar los valores con la disponibilidad del inventario y posteriormente generar una cancelación o confirmación al cliente</a:t>
            </a:r>
            <a:endParaRPr/>
          </a:p>
        </p:txBody>
      </p:sp>
      <p:sp>
        <p:nvSpPr>
          <p:cNvPr id="204" name="Google Shape;204;p11"/>
          <p:cNvSpPr txBox="1"/>
          <p:nvPr/>
        </p:nvSpPr>
        <p:spPr>
          <a:xfrm>
            <a:off x="11012619" y="5722244"/>
            <a:ext cx="6118236" cy="1089850"/>
          </a:xfrm>
          <a:prstGeom prst="rect">
            <a:avLst/>
          </a:prstGeom>
          <a:noFill/>
          <a:ln>
            <a:noFill/>
          </a:ln>
        </p:spPr>
        <p:txBody>
          <a:bodyPr anchorCtr="0" anchor="t" bIns="0" lIns="0" spcFirstLastPara="1" rIns="0" wrap="square" tIns="0">
            <a:spAutoFit/>
          </a:bodyPr>
          <a:lstStyle/>
          <a:p>
            <a:pPr indent="0" lvl="0" marL="0" marR="0" rtl="0" algn="l">
              <a:lnSpc>
                <a:spcPct val="146666"/>
              </a:lnSpc>
              <a:spcBef>
                <a:spcPts val="0"/>
              </a:spcBef>
              <a:spcAft>
                <a:spcPts val="0"/>
              </a:spcAft>
              <a:buNone/>
            </a:pPr>
            <a:r>
              <a:rPr b="1" i="0" lang="en-US" sz="1800" u="none" cap="none" strike="noStrike">
                <a:solidFill>
                  <a:srgbClr val="FFFFFF"/>
                </a:solidFill>
                <a:latin typeface="Calibri"/>
                <a:ea typeface="Calibri"/>
                <a:cs typeface="Calibri"/>
                <a:sym typeface="Calibri"/>
              </a:rPr>
              <a:t>Automatización de Ventas:</a:t>
            </a:r>
            <a:r>
              <a:rPr b="0" i="0" lang="en-US" sz="1800" u="none" cap="none" strike="noStrike">
                <a:solidFill>
                  <a:srgbClr val="FFFFFF"/>
                </a:solidFill>
                <a:latin typeface="Calibri"/>
                <a:ea typeface="Calibri"/>
                <a:cs typeface="Calibri"/>
                <a:sym typeface="Calibri"/>
              </a:rPr>
              <a:t>Facilita la toma de pedidos, la comunicación con el cliente y la gestión de pagos,</a:t>
            </a:r>
            <a:r>
              <a:rPr b="1" i="0" lang="en-US" sz="1800" u="none" cap="none" strike="noStrike">
                <a:solidFill>
                  <a:srgbClr val="FFFFFF"/>
                </a:solidFill>
                <a:latin typeface="Calibri"/>
                <a:ea typeface="Calibri"/>
                <a:cs typeface="Calibri"/>
                <a:sym typeface="Calibri"/>
              </a:rPr>
              <a:t>reduciendo la carga de trabajo manual</a:t>
            </a:r>
            <a:endParaRPr/>
          </a:p>
        </p:txBody>
      </p:sp>
      <p:sp>
        <p:nvSpPr>
          <p:cNvPr id="205" name="Google Shape;205;p11"/>
          <p:cNvSpPr txBox="1"/>
          <p:nvPr/>
        </p:nvSpPr>
        <p:spPr>
          <a:xfrm>
            <a:off x="3052196" y="7680956"/>
            <a:ext cx="2533646" cy="6134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b="0" i="0" lang="en-US" sz="2700" u="none" cap="none" strike="noStrike">
                <a:solidFill>
                  <a:srgbClr val="FFFFFF"/>
                </a:solidFill>
                <a:latin typeface="Calibri"/>
                <a:ea typeface="Calibri"/>
                <a:cs typeface="Calibri"/>
                <a:sym typeface="Calibri"/>
              </a:rPr>
              <a:t>Sebastián Herrera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9" name="Shape 209"/>
        <p:cNvGrpSpPr/>
        <p:nvPr/>
      </p:nvGrpSpPr>
      <p:grpSpPr>
        <a:xfrm>
          <a:off x="0" y="0"/>
          <a:ext cx="0" cy="0"/>
          <a:chOff x="0" y="0"/>
          <a:chExt cx="0" cy="0"/>
        </a:xfrm>
      </p:grpSpPr>
      <p:sp>
        <p:nvSpPr>
          <p:cNvPr id="210" name="Google Shape;210;p12"/>
          <p:cNvSpPr/>
          <p:nvPr/>
        </p:nvSpPr>
        <p:spPr>
          <a:xfrm>
            <a:off x="0" y="-1905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3">
              <a:alphaModFix/>
            </a:blip>
            <a:stretch>
              <a:fillRect b="0" l="0" r="0" t="0"/>
            </a:stretch>
          </a:blipFill>
          <a:ln>
            <a:noFill/>
          </a:ln>
        </p:spPr>
      </p:sp>
      <p:sp>
        <p:nvSpPr>
          <p:cNvPr id="211" name="Google Shape;211;p12"/>
          <p:cNvSpPr/>
          <p:nvPr/>
        </p:nvSpPr>
        <p:spPr>
          <a:xfrm>
            <a:off x="29" y="72"/>
            <a:ext cx="9144000" cy="10286618"/>
          </a:xfrm>
          <a:custGeom>
            <a:rect b="b" l="l" r="r" t="t"/>
            <a:pathLst>
              <a:path extrusionOk="0" h="13715492" w="12192000">
                <a:moveTo>
                  <a:pt x="0" y="0"/>
                </a:moveTo>
                <a:lnTo>
                  <a:pt x="12192000" y="0"/>
                </a:lnTo>
                <a:lnTo>
                  <a:pt x="12192000" y="13715492"/>
                </a:lnTo>
                <a:lnTo>
                  <a:pt x="0" y="13715492"/>
                </a:lnTo>
                <a:lnTo>
                  <a:pt x="0" y="0"/>
                </a:lnTo>
                <a:close/>
              </a:path>
            </a:pathLst>
          </a:custGeom>
          <a:blipFill rotWithShape="1">
            <a:blip r:embed="rId4">
              <a:alphaModFix/>
            </a:blip>
            <a:stretch>
              <a:fillRect b="0" l="-10" r="-9" t="0"/>
            </a:stretch>
          </a:blipFill>
          <a:ln>
            <a:noFill/>
          </a:ln>
        </p:spPr>
      </p:sp>
      <p:sp>
        <p:nvSpPr>
          <p:cNvPr id="212" name="Google Shape;212;p12"/>
          <p:cNvSpPr/>
          <p:nvPr/>
        </p:nvSpPr>
        <p:spPr>
          <a:xfrm>
            <a:off x="10640122" y="923580"/>
            <a:ext cx="6033711" cy="8196267"/>
          </a:xfrm>
          <a:custGeom>
            <a:rect b="b" l="l" r="r" t="t"/>
            <a:pathLst>
              <a:path extrusionOk="0" h="8196267" w="6033711">
                <a:moveTo>
                  <a:pt x="0" y="0"/>
                </a:moveTo>
                <a:lnTo>
                  <a:pt x="6033712" y="0"/>
                </a:lnTo>
                <a:lnTo>
                  <a:pt x="6033712" y="8196267"/>
                </a:lnTo>
                <a:lnTo>
                  <a:pt x="0" y="8196267"/>
                </a:lnTo>
                <a:lnTo>
                  <a:pt x="0" y="0"/>
                </a:lnTo>
                <a:close/>
              </a:path>
            </a:pathLst>
          </a:custGeom>
          <a:blipFill rotWithShape="1">
            <a:blip r:embed="rId5">
              <a:alphaModFix/>
            </a:blip>
            <a:stretch>
              <a:fillRect b="-42" l="0" r="0" t="-43"/>
            </a:stretch>
          </a:blipFill>
          <a:ln>
            <a:noFill/>
          </a:ln>
        </p:spPr>
      </p:sp>
      <p:sp>
        <p:nvSpPr>
          <p:cNvPr id="213" name="Google Shape;213;p12"/>
          <p:cNvSpPr txBox="1"/>
          <p:nvPr/>
        </p:nvSpPr>
        <p:spPr>
          <a:xfrm>
            <a:off x="2771961" y="3351167"/>
            <a:ext cx="3967795" cy="960724"/>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0" i="0" lang="en-US" sz="4197" u="none" cap="none" strike="noStrike">
                <a:solidFill>
                  <a:srgbClr val="FFFFFF"/>
                </a:solidFill>
                <a:latin typeface="Calibri"/>
                <a:ea typeface="Calibri"/>
                <a:cs typeface="Calibri"/>
                <a:sym typeface="Calibri"/>
              </a:rPr>
              <a:t>GESTIÓN DE </a:t>
            </a:r>
            <a:endParaRPr/>
          </a:p>
        </p:txBody>
      </p:sp>
      <p:sp>
        <p:nvSpPr>
          <p:cNvPr id="214" name="Google Shape;214;p12"/>
          <p:cNvSpPr txBox="1"/>
          <p:nvPr/>
        </p:nvSpPr>
        <p:spPr>
          <a:xfrm>
            <a:off x="2771961" y="4130916"/>
            <a:ext cx="4692241" cy="813435"/>
          </a:xfrm>
          <a:prstGeom prst="rect">
            <a:avLst/>
          </a:prstGeom>
          <a:noFill/>
          <a:ln>
            <a:noFill/>
          </a:ln>
        </p:spPr>
        <p:txBody>
          <a:bodyPr anchorCtr="0" anchor="t" bIns="0" lIns="0" spcFirstLastPara="1" rIns="0" wrap="square" tIns="0">
            <a:spAutoFit/>
          </a:bodyPr>
          <a:lstStyle/>
          <a:p>
            <a:pPr indent="0" lvl="0" marL="0" marR="0" rtl="0" algn="l">
              <a:lnSpc>
                <a:spcPct val="144346"/>
              </a:lnSpc>
              <a:spcBef>
                <a:spcPts val="0"/>
              </a:spcBef>
              <a:spcAft>
                <a:spcPts val="0"/>
              </a:spcAft>
              <a:buNone/>
            </a:pPr>
            <a:r>
              <a:rPr b="0" i="0" lang="en-US" sz="4192" u="none" cap="none" strike="noStrike">
                <a:solidFill>
                  <a:srgbClr val="FFFFFF"/>
                </a:solidFill>
                <a:latin typeface="Calibri"/>
                <a:ea typeface="Calibri"/>
                <a:cs typeface="Calibri"/>
                <a:sym typeface="Calibri"/>
              </a:rPr>
              <a:t>PRODUCTOS Y</a:t>
            </a:r>
            <a:endParaRPr/>
          </a:p>
        </p:txBody>
      </p:sp>
      <p:sp>
        <p:nvSpPr>
          <p:cNvPr id="215" name="Google Shape;215;p12"/>
          <p:cNvSpPr txBox="1"/>
          <p:nvPr/>
        </p:nvSpPr>
        <p:spPr>
          <a:xfrm>
            <a:off x="2771961" y="4840739"/>
            <a:ext cx="3820964" cy="993534"/>
          </a:xfrm>
          <a:prstGeom prst="rect">
            <a:avLst/>
          </a:prstGeom>
          <a:noFill/>
          <a:ln>
            <a:noFill/>
          </a:ln>
        </p:spPr>
        <p:txBody>
          <a:bodyPr anchorCtr="0" anchor="t" bIns="0" lIns="0" spcFirstLastPara="1" rIns="0" wrap="square" tIns="0">
            <a:spAutoFit/>
          </a:bodyPr>
          <a:lstStyle/>
          <a:p>
            <a:pPr indent="0" lvl="0" marL="0" marR="0" rtl="0" algn="l">
              <a:lnSpc>
                <a:spcPct val="144346"/>
              </a:lnSpc>
              <a:spcBef>
                <a:spcPts val="0"/>
              </a:spcBef>
              <a:spcAft>
                <a:spcPts val="0"/>
              </a:spcAft>
              <a:buNone/>
            </a:pPr>
            <a:r>
              <a:rPr b="0" i="0" lang="en-US" sz="4192" u="none" cap="none" strike="noStrike">
                <a:solidFill>
                  <a:srgbClr val="FFFFFF"/>
                </a:solidFill>
                <a:latin typeface="Calibri"/>
                <a:ea typeface="Calibri"/>
                <a:cs typeface="Calibri"/>
                <a:sym typeface="Calibri"/>
              </a:rPr>
              <a:t>MANEJO DE </a:t>
            </a:r>
            <a:endParaRPr/>
          </a:p>
        </p:txBody>
      </p:sp>
      <p:sp>
        <p:nvSpPr>
          <p:cNvPr id="216" name="Google Shape;216;p12"/>
          <p:cNvSpPr txBox="1"/>
          <p:nvPr/>
        </p:nvSpPr>
        <p:spPr>
          <a:xfrm>
            <a:off x="2771961" y="5581902"/>
            <a:ext cx="4519042" cy="813435"/>
          </a:xfrm>
          <a:prstGeom prst="rect">
            <a:avLst/>
          </a:prstGeom>
          <a:noFill/>
          <a:ln>
            <a:noFill/>
          </a:ln>
        </p:spPr>
        <p:txBody>
          <a:bodyPr anchorCtr="0" anchor="t" bIns="0" lIns="0" spcFirstLastPara="1" rIns="0" wrap="square" tIns="0">
            <a:spAutoFit/>
          </a:bodyPr>
          <a:lstStyle/>
          <a:p>
            <a:pPr indent="0" lvl="0" marL="0" marR="0" rtl="0" algn="l">
              <a:lnSpc>
                <a:spcPct val="144346"/>
              </a:lnSpc>
              <a:spcBef>
                <a:spcPts val="0"/>
              </a:spcBef>
              <a:spcAft>
                <a:spcPts val="0"/>
              </a:spcAft>
              <a:buNone/>
            </a:pPr>
            <a:r>
              <a:rPr b="0" i="0" lang="en-US" sz="4192" u="none" cap="none" strike="noStrike">
                <a:solidFill>
                  <a:srgbClr val="FFFFFF"/>
                </a:solidFill>
                <a:latin typeface="Calibri"/>
                <a:ea typeface="Calibri"/>
                <a:cs typeface="Calibri"/>
                <a:sym typeface="Calibri"/>
              </a:rPr>
              <a:t>INVENTARIO</a:t>
            </a:r>
            <a:endParaRPr/>
          </a:p>
        </p:txBody>
      </p:sp>
      <p:sp>
        <p:nvSpPr>
          <p:cNvPr id="217" name="Google Shape;217;p12"/>
          <p:cNvSpPr txBox="1"/>
          <p:nvPr/>
        </p:nvSpPr>
        <p:spPr>
          <a:xfrm>
            <a:off x="10880153" y="3310359"/>
            <a:ext cx="2617500" cy="718200"/>
          </a:xfrm>
          <a:prstGeom prst="rect">
            <a:avLst/>
          </a:prstGeom>
          <a:noFill/>
          <a:ln>
            <a:noFill/>
          </a:ln>
        </p:spPr>
        <p:txBody>
          <a:bodyPr anchorCtr="0" anchor="t" bIns="0" lIns="0" spcFirstLastPara="1" rIns="0" wrap="square" tIns="0">
            <a:spAutoFit/>
          </a:bodyPr>
          <a:lstStyle/>
          <a:p>
            <a:pPr indent="0" lvl="0" marL="0" marR="0" rtl="0" algn="ctr">
              <a:lnSpc>
                <a:spcPct val="121768"/>
              </a:lnSpc>
              <a:spcBef>
                <a:spcPts val="0"/>
              </a:spcBef>
              <a:spcAft>
                <a:spcPts val="0"/>
              </a:spcAft>
              <a:buNone/>
            </a:pPr>
            <a:r>
              <a:rPr b="0" i="0" lang="en-US" sz="2104" u="none" cap="none" strike="noStrike">
                <a:solidFill>
                  <a:srgbClr val="FFFFFF"/>
                </a:solidFill>
                <a:latin typeface="Calibri"/>
                <a:ea typeface="Calibri"/>
                <a:cs typeface="Calibri"/>
                <a:sym typeface="Calibri"/>
              </a:rPr>
              <a:t>Manejo de productos por </a:t>
            </a:r>
            <a:r>
              <a:rPr lang="en-US" sz="2104">
                <a:solidFill>
                  <a:srgbClr val="FFFFFF"/>
                </a:solidFill>
                <a:latin typeface="Calibri"/>
                <a:ea typeface="Calibri"/>
                <a:cs typeface="Calibri"/>
                <a:sym typeface="Calibri"/>
              </a:rPr>
              <a:t>categorías</a:t>
            </a:r>
            <a:r>
              <a:rPr b="0" i="0" lang="en-US" sz="2104" u="none" cap="none" strike="noStrike">
                <a:solidFill>
                  <a:srgbClr val="FFFFFF"/>
                </a:solidFill>
                <a:latin typeface="Calibri"/>
                <a:ea typeface="Calibri"/>
                <a:cs typeface="Calibri"/>
                <a:sym typeface="Calibri"/>
              </a:rPr>
              <a:t> (aceites, </a:t>
            </a:r>
            <a:endParaRPr/>
          </a:p>
        </p:txBody>
      </p:sp>
      <p:sp>
        <p:nvSpPr>
          <p:cNvPr id="218" name="Google Shape;218;p12"/>
          <p:cNvSpPr txBox="1"/>
          <p:nvPr/>
        </p:nvSpPr>
        <p:spPr>
          <a:xfrm>
            <a:off x="11156151" y="3955717"/>
            <a:ext cx="2065458" cy="412356"/>
          </a:xfrm>
          <a:prstGeom prst="rect">
            <a:avLst/>
          </a:prstGeom>
          <a:noFill/>
          <a:ln>
            <a:noFill/>
          </a:ln>
        </p:spPr>
        <p:txBody>
          <a:bodyPr anchorCtr="0" anchor="t" bIns="0" lIns="0" spcFirstLastPara="1" rIns="0" wrap="square" tIns="0">
            <a:spAutoFit/>
          </a:bodyPr>
          <a:lstStyle/>
          <a:p>
            <a:pPr indent="0" lvl="0" marL="0" marR="0" rtl="0" algn="l">
              <a:lnSpc>
                <a:spcPct val="121768"/>
              </a:lnSpc>
              <a:spcBef>
                <a:spcPts val="0"/>
              </a:spcBef>
              <a:spcAft>
                <a:spcPts val="0"/>
              </a:spcAft>
              <a:buNone/>
            </a:pPr>
            <a:r>
              <a:rPr b="0" i="0" lang="en-US" sz="2104" u="none" cap="none" strike="noStrike">
                <a:solidFill>
                  <a:srgbClr val="FFFFFF"/>
                </a:solidFill>
                <a:latin typeface="Calibri"/>
                <a:ea typeface="Calibri"/>
                <a:cs typeface="Calibri"/>
                <a:sym typeface="Calibri"/>
              </a:rPr>
              <a:t>filtros, piezas etc..)</a:t>
            </a:r>
            <a:endParaRPr/>
          </a:p>
        </p:txBody>
      </p:sp>
      <p:sp>
        <p:nvSpPr>
          <p:cNvPr id="219" name="Google Shape;219;p12"/>
          <p:cNvSpPr txBox="1"/>
          <p:nvPr/>
        </p:nvSpPr>
        <p:spPr>
          <a:xfrm>
            <a:off x="12817545" y="6489711"/>
            <a:ext cx="1824300" cy="324000"/>
          </a:xfrm>
          <a:prstGeom prst="rect">
            <a:avLst/>
          </a:prstGeom>
          <a:noFill/>
          <a:ln>
            <a:noFill/>
          </a:ln>
        </p:spPr>
        <p:txBody>
          <a:bodyPr anchorCtr="0" anchor="t" bIns="0" lIns="0" spcFirstLastPara="1" rIns="0" wrap="square" tIns="0">
            <a:spAutoFit/>
          </a:bodyPr>
          <a:lstStyle/>
          <a:p>
            <a:pPr indent="0" lvl="0" marL="0" marR="0" rtl="0" algn="l">
              <a:lnSpc>
                <a:spcPct val="140066"/>
              </a:lnSpc>
              <a:spcBef>
                <a:spcPts val="0"/>
              </a:spcBef>
              <a:spcAft>
                <a:spcPts val="0"/>
              </a:spcAft>
              <a:buNone/>
            </a:pPr>
            <a:r>
              <a:rPr lang="en-US" sz="2104">
                <a:solidFill>
                  <a:srgbClr val="FFFFFF"/>
                </a:solidFill>
                <a:latin typeface="Calibri"/>
                <a:ea typeface="Calibri"/>
                <a:cs typeface="Calibri"/>
                <a:sym typeface="Calibri"/>
              </a:rPr>
              <a:t>C</a:t>
            </a:r>
            <a:r>
              <a:rPr b="0" i="0" lang="en-US" sz="2104" u="none" cap="none" strike="noStrike">
                <a:solidFill>
                  <a:srgbClr val="FFFFFF"/>
                </a:solidFill>
                <a:latin typeface="Calibri"/>
                <a:ea typeface="Calibri"/>
                <a:cs typeface="Calibri"/>
                <a:sym typeface="Calibri"/>
              </a:rPr>
              <a:t>ontrol del stock</a:t>
            </a:r>
            <a:endParaRPr/>
          </a:p>
        </p:txBody>
      </p:sp>
      <p:sp>
        <p:nvSpPr>
          <p:cNvPr id="220" name="Google Shape;220;p12"/>
          <p:cNvSpPr txBox="1"/>
          <p:nvPr/>
        </p:nvSpPr>
        <p:spPr>
          <a:xfrm>
            <a:off x="14168243" y="3264165"/>
            <a:ext cx="2141700" cy="324000"/>
          </a:xfrm>
          <a:prstGeom prst="rect">
            <a:avLst/>
          </a:prstGeom>
          <a:noFill/>
          <a:ln>
            <a:noFill/>
          </a:ln>
        </p:spPr>
        <p:txBody>
          <a:bodyPr anchorCtr="0" anchor="t" bIns="0" lIns="0" spcFirstLastPara="1" rIns="0" wrap="square" tIns="0">
            <a:spAutoFit/>
          </a:bodyPr>
          <a:lstStyle/>
          <a:p>
            <a:pPr indent="0" lvl="0" marL="0" marR="0" rtl="0" algn="l">
              <a:lnSpc>
                <a:spcPct val="140066"/>
              </a:lnSpc>
              <a:spcBef>
                <a:spcPts val="0"/>
              </a:spcBef>
              <a:spcAft>
                <a:spcPts val="0"/>
              </a:spcAft>
              <a:buNone/>
            </a:pPr>
            <a:r>
              <a:rPr lang="en-US" sz="2104">
                <a:solidFill>
                  <a:srgbClr val="FFFFFF"/>
                </a:solidFill>
                <a:latin typeface="Calibri"/>
                <a:ea typeface="Calibri"/>
                <a:cs typeface="Calibri"/>
                <a:sym typeface="Calibri"/>
              </a:rPr>
              <a:t>E</a:t>
            </a:r>
            <a:r>
              <a:rPr b="0" i="0" lang="en-US" sz="2104" u="none" cap="none" strike="noStrike">
                <a:solidFill>
                  <a:srgbClr val="FFFFFF"/>
                </a:solidFill>
                <a:latin typeface="Calibri"/>
                <a:ea typeface="Calibri"/>
                <a:cs typeface="Calibri"/>
                <a:sym typeface="Calibri"/>
              </a:rPr>
              <a:t>ntrada y salida de </a:t>
            </a:r>
            <a:endParaRPr/>
          </a:p>
        </p:txBody>
      </p:sp>
      <p:sp>
        <p:nvSpPr>
          <p:cNvPr id="221" name="Google Shape;221;p12"/>
          <p:cNvSpPr txBox="1"/>
          <p:nvPr/>
        </p:nvSpPr>
        <p:spPr>
          <a:xfrm>
            <a:off x="14681263" y="3580933"/>
            <a:ext cx="1115796" cy="479560"/>
          </a:xfrm>
          <a:prstGeom prst="rect">
            <a:avLst/>
          </a:prstGeom>
          <a:noFill/>
          <a:ln>
            <a:noFill/>
          </a:ln>
        </p:spPr>
        <p:txBody>
          <a:bodyPr anchorCtr="0" anchor="t" bIns="0" lIns="0" spcFirstLastPara="1" rIns="0" wrap="square" tIns="0">
            <a:spAutoFit/>
          </a:bodyPr>
          <a:lstStyle/>
          <a:p>
            <a:pPr indent="0" lvl="0" marL="0" marR="0" rtl="0" algn="l">
              <a:lnSpc>
                <a:spcPct val="139971"/>
              </a:lnSpc>
              <a:spcBef>
                <a:spcPts val="0"/>
              </a:spcBef>
              <a:spcAft>
                <a:spcPts val="0"/>
              </a:spcAft>
              <a:buNone/>
            </a:pPr>
            <a:r>
              <a:rPr b="0" i="0" lang="en-US" sz="2109" u="none" cap="none" strike="noStrike">
                <a:solidFill>
                  <a:srgbClr val="FFFFFF"/>
                </a:solidFill>
                <a:latin typeface="Calibri"/>
                <a:ea typeface="Calibri"/>
                <a:cs typeface="Calibri"/>
                <a:sym typeface="Calibri"/>
              </a:rPr>
              <a:t>productos</a:t>
            </a:r>
            <a:endParaRPr/>
          </a:p>
        </p:txBody>
      </p:sp>
      <p:sp>
        <p:nvSpPr>
          <p:cNvPr id="222" name="Google Shape;222;p12"/>
          <p:cNvSpPr txBox="1"/>
          <p:nvPr/>
        </p:nvSpPr>
        <p:spPr>
          <a:xfrm>
            <a:off x="3400239" y="8033041"/>
            <a:ext cx="2202432" cy="6134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b="0" i="0" lang="en-US" sz="2700" u="none" cap="none" strike="noStrike">
                <a:solidFill>
                  <a:srgbClr val="FFFFFF"/>
                </a:solidFill>
                <a:latin typeface="Calibri"/>
                <a:ea typeface="Calibri"/>
                <a:cs typeface="Calibri"/>
                <a:sym typeface="Calibri"/>
              </a:rPr>
              <a:t>David Camacho</a:t>
            </a:r>
            <a:endParaRPr/>
          </a:p>
        </p:txBody>
      </p:sp>
      <p:sp>
        <p:nvSpPr>
          <p:cNvPr id="223" name="Google Shape;223;p12"/>
          <p:cNvSpPr/>
          <p:nvPr/>
        </p:nvSpPr>
        <p:spPr>
          <a:xfrm>
            <a:off x="10640120" y="6489694"/>
            <a:ext cx="6033711" cy="8196267"/>
          </a:xfrm>
          <a:custGeom>
            <a:rect b="b" l="l" r="r" t="t"/>
            <a:pathLst>
              <a:path extrusionOk="0" h="8196267" w="6033711">
                <a:moveTo>
                  <a:pt x="0" y="0"/>
                </a:moveTo>
                <a:lnTo>
                  <a:pt x="6033711" y="0"/>
                </a:lnTo>
                <a:lnTo>
                  <a:pt x="6033711" y="8196267"/>
                </a:lnTo>
                <a:lnTo>
                  <a:pt x="0" y="8196267"/>
                </a:lnTo>
                <a:lnTo>
                  <a:pt x="0" y="0"/>
                </a:lnTo>
                <a:close/>
              </a:path>
            </a:pathLst>
          </a:custGeom>
          <a:blipFill rotWithShape="1">
            <a:blip r:embed="rId5">
              <a:alphaModFix/>
            </a:blip>
            <a:stretch>
              <a:fillRect b="-42" l="0" r="0" t="-43"/>
            </a:stretch>
          </a:blipFill>
          <a:ln>
            <a:noFill/>
          </a:ln>
        </p:spPr>
      </p:sp>
      <p:sp>
        <p:nvSpPr>
          <p:cNvPr id="224" name="Google Shape;224;p12"/>
          <p:cNvSpPr txBox="1"/>
          <p:nvPr/>
        </p:nvSpPr>
        <p:spPr>
          <a:xfrm>
            <a:off x="10880153" y="8798305"/>
            <a:ext cx="2617500" cy="324000"/>
          </a:xfrm>
          <a:prstGeom prst="rect">
            <a:avLst/>
          </a:prstGeom>
          <a:noFill/>
          <a:ln>
            <a:noFill/>
          </a:ln>
        </p:spPr>
        <p:txBody>
          <a:bodyPr anchorCtr="0" anchor="t" bIns="0" lIns="0" spcFirstLastPara="1" rIns="0" wrap="square" tIns="0">
            <a:spAutoFit/>
          </a:bodyPr>
          <a:lstStyle/>
          <a:p>
            <a:pPr indent="0" lvl="0" marL="0" marR="0" rtl="0" algn="ctr">
              <a:lnSpc>
                <a:spcPct val="121768"/>
              </a:lnSpc>
              <a:spcBef>
                <a:spcPts val="0"/>
              </a:spcBef>
              <a:spcAft>
                <a:spcPts val="0"/>
              </a:spcAft>
              <a:buNone/>
            </a:pPr>
            <a:r>
              <a:rPr lang="en-US" sz="2104">
                <a:solidFill>
                  <a:srgbClr val="FFFFFF"/>
                </a:solidFill>
                <a:latin typeface="Calibri"/>
                <a:ea typeface="Calibri"/>
                <a:cs typeface="Calibri"/>
                <a:sym typeface="Calibri"/>
              </a:rPr>
              <a:t>Gestión</a:t>
            </a:r>
            <a:r>
              <a:rPr b="0" i="0" lang="en-US" sz="2104" u="none" cap="none" strike="noStrike">
                <a:solidFill>
                  <a:srgbClr val="FFFFFF"/>
                </a:solidFill>
                <a:latin typeface="Calibri"/>
                <a:ea typeface="Calibri"/>
                <a:cs typeface="Calibri"/>
                <a:sym typeface="Calibri"/>
              </a:rPr>
              <a:t> </a:t>
            </a:r>
            <a:r>
              <a:rPr lang="en-US" sz="2104">
                <a:solidFill>
                  <a:srgbClr val="FFFFFF"/>
                </a:solidFill>
                <a:latin typeface="Calibri"/>
                <a:ea typeface="Calibri"/>
                <a:cs typeface="Calibri"/>
                <a:sym typeface="Calibri"/>
              </a:rPr>
              <a:t>d</a:t>
            </a:r>
            <a:r>
              <a:rPr b="0" i="0" lang="en-US" sz="2104" u="none" cap="none" strike="noStrike">
                <a:solidFill>
                  <a:srgbClr val="FFFFFF"/>
                </a:solidFill>
                <a:latin typeface="Calibri"/>
                <a:ea typeface="Calibri"/>
                <a:cs typeface="Calibri"/>
                <a:sym typeface="Calibri"/>
              </a:rPr>
              <a:t>e proveedores</a:t>
            </a:r>
            <a:endParaRPr/>
          </a:p>
        </p:txBody>
      </p:sp>
      <p:sp>
        <p:nvSpPr>
          <p:cNvPr id="225" name="Google Shape;225;p12"/>
          <p:cNvSpPr txBox="1"/>
          <p:nvPr/>
        </p:nvSpPr>
        <p:spPr>
          <a:xfrm>
            <a:off x="14251532" y="8731631"/>
            <a:ext cx="3091200" cy="777600"/>
          </a:xfrm>
          <a:prstGeom prst="rect">
            <a:avLst/>
          </a:prstGeom>
          <a:noFill/>
          <a:ln>
            <a:noFill/>
          </a:ln>
        </p:spPr>
        <p:txBody>
          <a:bodyPr anchorCtr="0" anchor="t" bIns="0" lIns="0" spcFirstLastPara="1" rIns="0" wrap="square" tIns="0">
            <a:spAutoFit/>
          </a:bodyPr>
          <a:lstStyle/>
          <a:p>
            <a:pPr indent="0" lvl="0" marL="0" marR="0" rtl="0" algn="l">
              <a:lnSpc>
                <a:spcPct val="140066"/>
              </a:lnSpc>
              <a:spcBef>
                <a:spcPts val="0"/>
              </a:spcBef>
              <a:spcAft>
                <a:spcPts val="0"/>
              </a:spcAft>
              <a:buNone/>
            </a:pPr>
            <a:r>
              <a:rPr lang="en-US" sz="2104">
                <a:solidFill>
                  <a:srgbClr val="FFFFFF"/>
                </a:solidFill>
                <a:latin typeface="Calibri"/>
                <a:ea typeface="Calibri"/>
                <a:cs typeface="Calibri"/>
                <a:sym typeface="Calibri"/>
              </a:rPr>
              <a:t>A</a:t>
            </a:r>
            <a:r>
              <a:rPr b="0" i="0" lang="en-US" sz="2104" u="none" cap="none" strike="noStrike">
                <a:solidFill>
                  <a:srgbClr val="FFFFFF"/>
                </a:solidFill>
                <a:latin typeface="Calibri"/>
                <a:ea typeface="Calibri"/>
                <a:cs typeface="Calibri"/>
                <a:sym typeface="Calibri"/>
              </a:rPr>
              <a:t>ctualizacion y evaluacion general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9" name="Shape 229"/>
        <p:cNvGrpSpPr/>
        <p:nvPr/>
      </p:nvGrpSpPr>
      <p:grpSpPr>
        <a:xfrm>
          <a:off x="0" y="0"/>
          <a:ext cx="0" cy="0"/>
          <a:chOff x="0" y="0"/>
          <a:chExt cx="0" cy="0"/>
        </a:xfrm>
      </p:grpSpPr>
      <p:sp>
        <p:nvSpPr>
          <p:cNvPr id="230" name="Google Shape;230;p13"/>
          <p:cNvSpPr/>
          <p:nvPr/>
        </p:nvSpPr>
        <p:spPr>
          <a:xfrm>
            <a:off x="11752226" y="6528716"/>
            <a:ext cx="4313868" cy="3758284"/>
          </a:xfrm>
          <a:custGeom>
            <a:rect b="b" l="l" r="r" t="t"/>
            <a:pathLst>
              <a:path extrusionOk="0" h="3758284" w="4313868">
                <a:moveTo>
                  <a:pt x="0" y="0"/>
                </a:moveTo>
                <a:lnTo>
                  <a:pt x="4313868" y="0"/>
                </a:lnTo>
                <a:lnTo>
                  <a:pt x="4313868" y="3758284"/>
                </a:lnTo>
                <a:lnTo>
                  <a:pt x="0" y="3758284"/>
                </a:lnTo>
                <a:lnTo>
                  <a:pt x="0" y="0"/>
                </a:lnTo>
                <a:close/>
              </a:path>
            </a:pathLst>
          </a:custGeom>
          <a:blipFill rotWithShape="1">
            <a:blip r:embed="rId3">
              <a:alphaModFix/>
            </a:blip>
            <a:stretch>
              <a:fillRect b="-168" l="0" r="0" t="-169"/>
            </a:stretch>
          </a:blipFill>
          <a:ln>
            <a:noFill/>
          </a:ln>
        </p:spPr>
      </p:sp>
      <p:sp>
        <p:nvSpPr>
          <p:cNvPr id="231" name="Google Shape;231;p13"/>
          <p:cNvSpPr/>
          <p:nvPr/>
        </p:nvSpPr>
        <p:spPr>
          <a:xfrm>
            <a:off x="0" y="0"/>
            <a:ext cx="7989856" cy="10287000"/>
          </a:xfrm>
          <a:custGeom>
            <a:rect b="b" l="l" r="r" t="t"/>
            <a:pathLst>
              <a:path extrusionOk="0" h="13716000" w="10653141">
                <a:moveTo>
                  <a:pt x="0" y="0"/>
                </a:moveTo>
                <a:lnTo>
                  <a:pt x="10653141" y="0"/>
                </a:lnTo>
                <a:lnTo>
                  <a:pt x="10653141" y="13716000"/>
                </a:lnTo>
                <a:lnTo>
                  <a:pt x="0" y="13716000"/>
                </a:lnTo>
                <a:lnTo>
                  <a:pt x="0" y="0"/>
                </a:lnTo>
                <a:close/>
              </a:path>
            </a:pathLst>
          </a:custGeom>
          <a:blipFill rotWithShape="1">
            <a:blip r:embed="rId4">
              <a:alphaModFix/>
            </a:blip>
            <a:stretch>
              <a:fillRect b="0" l="-448" r="-447" t="0"/>
            </a:stretch>
          </a:blipFill>
          <a:ln>
            <a:noFill/>
          </a:ln>
        </p:spPr>
      </p:sp>
      <p:sp>
        <p:nvSpPr>
          <p:cNvPr id="232" name="Google Shape;232;p13"/>
          <p:cNvSpPr/>
          <p:nvPr/>
        </p:nvSpPr>
        <p:spPr>
          <a:xfrm>
            <a:off x="8116828" y="7507781"/>
            <a:ext cx="3209158" cy="553998"/>
          </a:xfrm>
          <a:custGeom>
            <a:rect b="b" l="l" r="r" t="t"/>
            <a:pathLst>
              <a:path extrusionOk="0" h="553998" w="3209158">
                <a:moveTo>
                  <a:pt x="0" y="0"/>
                </a:moveTo>
                <a:lnTo>
                  <a:pt x="3209159" y="0"/>
                </a:lnTo>
                <a:lnTo>
                  <a:pt x="3209159" y="553998"/>
                </a:lnTo>
                <a:lnTo>
                  <a:pt x="0" y="553998"/>
                </a:lnTo>
                <a:lnTo>
                  <a:pt x="0" y="0"/>
                </a:lnTo>
                <a:close/>
              </a:path>
            </a:pathLst>
          </a:custGeom>
          <a:blipFill rotWithShape="1">
            <a:blip r:embed="rId5">
              <a:alphaModFix/>
            </a:blip>
            <a:stretch>
              <a:fillRect b="-1566" l="0" r="0" t="-1565"/>
            </a:stretch>
          </a:blipFill>
          <a:ln>
            <a:noFill/>
          </a:ln>
        </p:spPr>
      </p:sp>
      <p:sp>
        <p:nvSpPr>
          <p:cNvPr id="233" name="Google Shape;233;p13"/>
          <p:cNvSpPr/>
          <p:nvPr/>
        </p:nvSpPr>
        <p:spPr>
          <a:xfrm>
            <a:off x="8773282" y="5032929"/>
            <a:ext cx="2261811" cy="571572"/>
          </a:xfrm>
          <a:custGeom>
            <a:rect b="b" l="l" r="r" t="t"/>
            <a:pathLst>
              <a:path extrusionOk="0" h="571572" w="2261811">
                <a:moveTo>
                  <a:pt x="0" y="0"/>
                </a:moveTo>
                <a:lnTo>
                  <a:pt x="2261812" y="0"/>
                </a:lnTo>
                <a:lnTo>
                  <a:pt x="2261812" y="571572"/>
                </a:lnTo>
                <a:lnTo>
                  <a:pt x="0" y="571572"/>
                </a:lnTo>
                <a:lnTo>
                  <a:pt x="0" y="0"/>
                </a:lnTo>
                <a:close/>
              </a:path>
            </a:pathLst>
          </a:custGeom>
          <a:blipFill rotWithShape="1">
            <a:blip r:embed="rId6">
              <a:alphaModFix/>
            </a:blip>
            <a:stretch>
              <a:fillRect b="-497" l="0" r="0" t="-498"/>
            </a:stretch>
          </a:blipFill>
          <a:ln>
            <a:noFill/>
          </a:ln>
        </p:spPr>
      </p:sp>
      <p:sp>
        <p:nvSpPr>
          <p:cNvPr id="234" name="Google Shape;234;p13"/>
          <p:cNvSpPr/>
          <p:nvPr/>
        </p:nvSpPr>
        <p:spPr>
          <a:xfrm>
            <a:off x="8404094" y="6047956"/>
            <a:ext cx="3000189" cy="969492"/>
          </a:xfrm>
          <a:custGeom>
            <a:rect b="b" l="l" r="r" t="t"/>
            <a:pathLst>
              <a:path extrusionOk="0" h="969492" w="3000189">
                <a:moveTo>
                  <a:pt x="0" y="0"/>
                </a:moveTo>
                <a:lnTo>
                  <a:pt x="3000188" y="0"/>
                </a:lnTo>
                <a:lnTo>
                  <a:pt x="3000188" y="969492"/>
                </a:lnTo>
                <a:lnTo>
                  <a:pt x="0" y="969492"/>
                </a:lnTo>
                <a:lnTo>
                  <a:pt x="0" y="0"/>
                </a:lnTo>
                <a:close/>
              </a:path>
            </a:pathLst>
          </a:custGeom>
          <a:blipFill rotWithShape="1">
            <a:blip r:embed="rId7">
              <a:alphaModFix/>
            </a:blip>
            <a:stretch>
              <a:fillRect b="0" l="-53" r="-54" t="0"/>
            </a:stretch>
          </a:blipFill>
          <a:ln>
            <a:noFill/>
          </a:ln>
        </p:spPr>
      </p:sp>
      <p:sp>
        <p:nvSpPr>
          <p:cNvPr id="235" name="Google Shape;235;p13"/>
          <p:cNvSpPr/>
          <p:nvPr/>
        </p:nvSpPr>
        <p:spPr>
          <a:xfrm>
            <a:off x="12049692" y="5032929"/>
            <a:ext cx="2261811" cy="571572"/>
          </a:xfrm>
          <a:custGeom>
            <a:rect b="b" l="l" r="r" t="t"/>
            <a:pathLst>
              <a:path extrusionOk="0" h="571572" w="2261811">
                <a:moveTo>
                  <a:pt x="0" y="0"/>
                </a:moveTo>
                <a:lnTo>
                  <a:pt x="2261811" y="0"/>
                </a:lnTo>
                <a:lnTo>
                  <a:pt x="2261811" y="571572"/>
                </a:lnTo>
                <a:lnTo>
                  <a:pt x="0" y="571572"/>
                </a:lnTo>
                <a:lnTo>
                  <a:pt x="0" y="0"/>
                </a:lnTo>
                <a:close/>
              </a:path>
            </a:pathLst>
          </a:custGeom>
          <a:blipFill rotWithShape="1">
            <a:blip r:embed="rId6">
              <a:alphaModFix/>
            </a:blip>
            <a:stretch>
              <a:fillRect b="-497" l="0" r="0" t="-498"/>
            </a:stretch>
          </a:blipFill>
          <a:ln>
            <a:noFill/>
          </a:ln>
        </p:spPr>
      </p:sp>
      <p:sp>
        <p:nvSpPr>
          <p:cNvPr id="236" name="Google Shape;236;p13"/>
          <p:cNvSpPr/>
          <p:nvPr/>
        </p:nvSpPr>
        <p:spPr>
          <a:xfrm>
            <a:off x="12107613" y="6018238"/>
            <a:ext cx="2261811" cy="969492"/>
          </a:xfrm>
          <a:custGeom>
            <a:rect b="b" l="l" r="r" t="t"/>
            <a:pathLst>
              <a:path extrusionOk="0" h="969492" w="2261811">
                <a:moveTo>
                  <a:pt x="0" y="0"/>
                </a:moveTo>
                <a:lnTo>
                  <a:pt x="2261811" y="0"/>
                </a:lnTo>
                <a:lnTo>
                  <a:pt x="2261811" y="969492"/>
                </a:lnTo>
                <a:lnTo>
                  <a:pt x="0" y="969492"/>
                </a:lnTo>
                <a:lnTo>
                  <a:pt x="0" y="0"/>
                </a:lnTo>
                <a:close/>
              </a:path>
            </a:pathLst>
          </a:custGeom>
          <a:blipFill rotWithShape="1">
            <a:blip r:embed="rId8">
              <a:alphaModFix/>
            </a:blip>
            <a:stretch>
              <a:fillRect b="0" l="-6" r="-6" t="0"/>
            </a:stretch>
          </a:blipFill>
          <a:ln>
            <a:noFill/>
          </a:ln>
        </p:spPr>
      </p:sp>
      <p:sp>
        <p:nvSpPr>
          <p:cNvPr id="237" name="Google Shape;237;p13"/>
          <p:cNvSpPr/>
          <p:nvPr/>
        </p:nvSpPr>
        <p:spPr>
          <a:xfrm>
            <a:off x="11575918" y="8895240"/>
            <a:ext cx="3209158" cy="969492"/>
          </a:xfrm>
          <a:custGeom>
            <a:rect b="b" l="l" r="r" t="t"/>
            <a:pathLst>
              <a:path extrusionOk="0" h="969492" w="3209158">
                <a:moveTo>
                  <a:pt x="0" y="0"/>
                </a:moveTo>
                <a:lnTo>
                  <a:pt x="3209159" y="0"/>
                </a:lnTo>
                <a:lnTo>
                  <a:pt x="3209159" y="969492"/>
                </a:lnTo>
                <a:lnTo>
                  <a:pt x="0" y="969492"/>
                </a:lnTo>
                <a:lnTo>
                  <a:pt x="0" y="0"/>
                </a:lnTo>
                <a:close/>
              </a:path>
            </a:pathLst>
          </a:custGeom>
          <a:blipFill rotWithShape="1">
            <a:blip r:embed="rId9">
              <a:alphaModFix/>
            </a:blip>
            <a:stretch>
              <a:fillRect b="0" l="-53" r="-52" t="0"/>
            </a:stretch>
          </a:blipFill>
          <a:ln>
            <a:noFill/>
          </a:ln>
        </p:spPr>
      </p:sp>
      <p:sp>
        <p:nvSpPr>
          <p:cNvPr id="238" name="Google Shape;238;p13"/>
          <p:cNvSpPr/>
          <p:nvPr/>
        </p:nvSpPr>
        <p:spPr>
          <a:xfrm>
            <a:off x="11818234" y="7507724"/>
            <a:ext cx="2724726" cy="969492"/>
          </a:xfrm>
          <a:custGeom>
            <a:rect b="b" l="l" r="r" t="t"/>
            <a:pathLst>
              <a:path extrusionOk="0" h="969492" w="2724726">
                <a:moveTo>
                  <a:pt x="0" y="0"/>
                </a:moveTo>
                <a:lnTo>
                  <a:pt x="2724727" y="0"/>
                </a:lnTo>
                <a:lnTo>
                  <a:pt x="2724727" y="969492"/>
                </a:lnTo>
                <a:lnTo>
                  <a:pt x="0" y="969492"/>
                </a:lnTo>
                <a:lnTo>
                  <a:pt x="0" y="0"/>
                </a:lnTo>
                <a:close/>
              </a:path>
            </a:pathLst>
          </a:custGeom>
          <a:blipFill rotWithShape="1">
            <a:blip r:embed="rId10">
              <a:alphaModFix/>
            </a:blip>
            <a:stretch>
              <a:fillRect b="0" l="-231" r="-231" t="0"/>
            </a:stretch>
          </a:blipFill>
          <a:ln>
            <a:noFill/>
          </a:ln>
        </p:spPr>
      </p:sp>
      <p:sp>
        <p:nvSpPr>
          <p:cNvPr id="239" name="Google Shape;239;p13"/>
          <p:cNvSpPr/>
          <p:nvPr/>
        </p:nvSpPr>
        <p:spPr>
          <a:xfrm>
            <a:off x="11893672" y="3830294"/>
            <a:ext cx="2558606" cy="877152"/>
          </a:xfrm>
          <a:custGeom>
            <a:rect b="b" l="l" r="r" t="t"/>
            <a:pathLst>
              <a:path extrusionOk="0" h="877152" w="2558606">
                <a:moveTo>
                  <a:pt x="0" y="0"/>
                </a:moveTo>
                <a:lnTo>
                  <a:pt x="2558606" y="0"/>
                </a:lnTo>
                <a:lnTo>
                  <a:pt x="2558606" y="877152"/>
                </a:lnTo>
                <a:lnTo>
                  <a:pt x="0" y="877152"/>
                </a:lnTo>
                <a:lnTo>
                  <a:pt x="0" y="0"/>
                </a:lnTo>
                <a:close/>
              </a:path>
            </a:pathLst>
          </a:custGeom>
          <a:blipFill rotWithShape="1">
            <a:blip r:embed="rId11">
              <a:alphaModFix/>
            </a:blip>
            <a:stretch>
              <a:fillRect b="-963" l="0" r="0" t="-963"/>
            </a:stretch>
          </a:blipFill>
          <a:ln>
            <a:noFill/>
          </a:ln>
        </p:spPr>
      </p:sp>
      <p:sp>
        <p:nvSpPr>
          <p:cNvPr id="240" name="Google Shape;240;p13"/>
          <p:cNvSpPr/>
          <p:nvPr/>
        </p:nvSpPr>
        <p:spPr>
          <a:xfrm>
            <a:off x="14636872" y="4978507"/>
            <a:ext cx="3079242" cy="553998"/>
          </a:xfrm>
          <a:custGeom>
            <a:rect b="b" l="l" r="r" t="t"/>
            <a:pathLst>
              <a:path extrusionOk="0" h="553998" w="3079242">
                <a:moveTo>
                  <a:pt x="0" y="0"/>
                </a:moveTo>
                <a:lnTo>
                  <a:pt x="3079242" y="0"/>
                </a:lnTo>
                <a:lnTo>
                  <a:pt x="3079242" y="553998"/>
                </a:lnTo>
                <a:lnTo>
                  <a:pt x="0" y="553998"/>
                </a:lnTo>
                <a:lnTo>
                  <a:pt x="0" y="0"/>
                </a:lnTo>
                <a:close/>
              </a:path>
            </a:pathLst>
          </a:custGeom>
          <a:blipFill rotWithShape="1">
            <a:blip r:embed="rId12">
              <a:alphaModFix/>
            </a:blip>
            <a:stretch>
              <a:fillRect b="-1463" l="0" r="0" t="-1462"/>
            </a:stretch>
          </a:blipFill>
          <a:ln>
            <a:noFill/>
          </a:ln>
        </p:spPr>
      </p:sp>
      <p:sp>
        <p:nvSpPr>
          <p:cNvPr id="241" name="Google Shape;241;p13"/>
          <p:cNvSpPr/>
          <p:nvPr/>
        </p:nvSpPr>
        <p:spPr>
          <a:xfrm>
            <a:off x="14636872" y="5965274"/>
            <a:ext cx="3079242" cy="969492"/>
          </a:xfrm>
          <a:custGeom>
            <a:rect b="b" l="l" r="r" t="t"/>
            <a:pathLst>
              <a:path extrusionOk="0" h="969492" w="3079242">
                <a:moveTo>
                  <a:pt x="0" y="0"/>
                </a:moveTo>
                <a:lnTo>
                  <a:pt x="3079242" y="0"/>
                </a:lnTo>
                <a:lnTo>
                  <a:pt x="3079242" y="969491"/>
                </a:lnTo>
                <a:lnTo>
                  <a:pt x="0" y="969491"/>
                </a:lnTo>
                <a:lnTo>
                  <a:pt x="0" y="0"/>
                </a:lnTo>
                <a:close/>
              </a:path>
            </a:pathLst>
          </a:custGeom>
          <a:blipFill rotWithShape="1">
            <a:blip r:embed="rId13">
              <a:alphaModFix/>
            </a:blip>
            <a:stretch>
              <a:fillRect b="0" l="-4" r="-3" t="0"/>
            </a:stretch>
          </a:blipFill>
          <a:ln>
            <a:noFill/>
          </a:ln>
        </p:spPr>
      </p:sp>
      <p:sp>
        <p:nvSpPr>
          <p:cNvPr id="242" name="Google Shape;242;p13"/>
          <p:cNvSpPr/>
          <p:nvPr/>
        </p:nvSpPr>
        <p:spPr>
          <a:xfrm>
            <a:off x="14991402" y="7549287"/>
            <a:ext cx="2724726" cy="969492"/>
          </a:xfrm>
          <a:custGeom>
            <a:rect b="b" l="l" r="r" t="t"/>
            <a:pathLst>
              <a:path extrusionOk="0" h="969492" w="2724726">
                <a:moveTo>
                  <a:pt x="0" y="0"/>
                </a:moveTo>
                <a:lnTo>
                  <a:pt x="2724726" y="0"/>
                </a:lnTo>
                <a:lnTo>
                  <a:pt x="2724726" y="969492"/>
                </a:lnTo>
                <a:lnTo>
                  <a:pt x="0" y="969492"/>
                </a:lnTo>
                <a:lnTo>
                  <a:pt x="0" y="0"/>
                </a:lnTo>
                <a:close/>
              </a:path>
            </a:pathLst>
          </a:custGeom>
          <a:blipFill rotWithShape="1">
            <a:blip r:embed="rId10">
              <a:alphaModFix/>
            </a:blip>
            <a:stretch>
              <a:fillRect b="0" l="-231" r="-231" t="0"/>
            </a:stretch>
          </a:blipFill>
          <a:ln>
            <a:noFill/>
          </a:ln>
        </p:spPr>
      </p:sp>
      <p:sp>
        <p:nvSpPr>
          <p:cNvPr id="243" name="Google Shape;243;p13"/>
          <p:cNvSpPr txBox="1"/>
          <p:nvPr/>
        </p:nvSpPr>
        <p:spPr>
          <a:xfrm>
            <a:off x="3921447" y="8507159"/>
            <a:ext cx="2298258" cy="61341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b="0" i="0" lang="en-US" sz="2700" u="none" cap="none" strike="noStrike">
                <a:solidFill>
                  <a:srgbClr val="FFFFFF"/>
                </a:solidFill>
                <a:latin typeface="Calibri"/>
                <a:ea typeface="Calibri"/>
                <a:cs typeface="Calibri"/>
                <a:sym typeface="Calibri"/>
              </a:rPr>
              <a:t>Mabel Chaparro</a:t>
            </a:r>
            <a:endParaRPr/>
          </a:p>
        </p:txBody>
      </p:sp>
      <p:sp>
        <p:nvSpPr>
          <p:cNvPr id="244" name="Google Shape;244;p13"/>
          <p:cNvSpPr txBox="1"/>
          <p:nvPr/>
        </p:nvSpPr>
        <p:spPr>
          <a:xfrm>
            <a:off x="8895888" y="4965473"/>
            <a:ext cx="2016600" cy="4155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rPr b="0" i="0" lang="en-US" sz="2700" u="none" cap="none" strike="noStrike">
                <a:solidFill>
                  <a:srgbClr val="FFFFFF"/>
                </a:solidFill>
                <a:latin typeface="Calibri"/>
                <a:ea typeface="Calibri"/>
                <a:cs typeface="Calibri"/>
                <a:sym typeface="Calibri"/>
              </a:rPr>
              <a:t>PREPARACION</a:t>
            </a:r>
            <a:endParaRPr/>
          </a:p>
        </p:txBody>
      </p:sp>
      <p:sp>
        <p:nvSpPr>
          <p:cNvPr id="245" name="Google Shape;245;p13"/>
          <p:cNvSpPr txBox="1"/>
          <p:nvPr/>
        </p:nvSpPr>
        <p:spPr>
          <a:xfrm>
            <a:off x="8733900" y="6085110"/>
            <a:ext cx="2340600" cy="4155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rPr b="0" i="0" lang="en-US" sz="2700" u="none" cap="none" strike="noStrike">
                <a:solidFill>
                  <a:srgbClr val="FFFFFF"/>
                </a:solidFill>
                <a:latin typeface="Calibri"/>
                <a:ea typeface="Calibri"/>
                <a:cs typeface="Calibri"/>
                <a:sym typeface="Calibri"/>
              </a:rPr>
              <a:t>VERIFICACION Y </a:t>
            </a:r>
            <a:endParaRPr/>
          </a:p>
        </p:txBody>
      </p:sp>
      <p:sp>
        <p:nvSpPr>
          <p:cNvPr id="246" name="Google Shape;246;p13"/>
          <p:cNvSpPr txBox="1"/>
          <p:nvPr/>
        </p:nvSpPr>
        <p:spPr>
          <a:xfrm>
            <a:off x="9144000" y="6722178"/>
            <a:ext cx="1208766" cy="156210"/>
          </a:xfrm>
          <a:prstGeom prst="rect">
            <a:avLst/>
          </a:prstGeom>
          <a:noFill/>
          <a:ln>
            <a:noFill/>
          </a:ln>
        </p:spPr>
        <p:txBody>
          <a:bodyPr anchorCtr="0" anchor="t" bIns="0" lIns="0" spcFirstLastPara="1" rIns="0" wrap="square" tIns="0">
            <a:spAutoFit/>
          </a:bodyPr>
          <a:lstStyle/>
          <a:p>
            <a:pPr indent="0" lvl="0" marL="0" marR="0" rtl="0" algn="l">
              <a:lnSpc>
                <a:spcPct val="50000"/>
              </a:lnSpc>
              <a:spcBef>
                <a:spcPts val="0"/>
              </a:spcBef>
              <a:spcAft>
                <a:spcPts val="0"/>
              </a:spcAft>
              <a:buNone/>
            </a:pPr>
            <a:r>
              <a:rPr b="0" i="0" lang="en-US" sz="2700" u="none" cap="none" strike="noStrike">
                <a:solidFill>
                  <a:srgbClr val="FFFFFF"/>
                </a:solidFill>
                <a:latin typeface="Calibri"/>
                <a:ea typeface="Calibri"/>
                <a:cs typeface="Calibri"/>
                <a:sym typeface="Calibri"/>
              </a:rPr>
              <a:t>CONTEO</a:t>
            </a:r>
            <a:endParaRPr/>
          </a:p>
        </p:txBody>
      </p:sp>
      <p:sp>
        <p:nvSpPr>
          <p:cNvPr id="247" name="Google Shape;247;p13"/>
          <p:cNvSpPr txBox="1"/>
          <p:nvPr/>
        </p:nvSpPr>
        <p:spPr>
          <a:xfrm>
            <a:off x="8214752" y="7526563"/>
            <a:ext cx="3079200" cy="4155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rPr lang="en-US" sz="2700">
                <a:solidFill>
                  <a:srgbClr val="FFFFFF"/>
                </a:solidFill>
                <a:latin typeface="Calibri"/>
                <a:ea typeface="Calibri"/>
                <a:cs typeface="Calibri"/>
                <a:sym typeface="Calibri"/>
              </a:rPr>
              <a:t>ALMACENAMIENTO</a:t>
            </a:r>
            <a:endParaRPr/>
          </a:p>
        </p:txBody>
      </p:sp>
      <p:sp>
        <p:nvSpPr>
          <p:cNvPr id="248" name="Google Shape;248;p13"/>
          <p:cNvSpPr txBox="1"/>
          <p:nvPr/>
        </p:nvSpPr>
        <p:spPr>
          <a:xfrm>
            <a:off x="12496838" y="5102144"/>
            <a:ext cx="1560300" cy="420300"/>
          </a:xfrm>
          <a:prstGeom prst="rect">
            <a:avLst/>
          </a:prstGeom>
          <a:noFill/>
          <a:ln>
            <a:noFill/>
          </a:ln>
        </p:spPr>
        <p:txBody>
          <a:bodyPr anchorCtr="0" anchor="t" bIns="0" lIns="0" spcFirstLastPara="1" rIns="0" wrap="square" tIns="0">
            <a:spAutoFit/>
          </a:bodyPr>
          <a:lstStyle/>
          <a:p>
            <a:pPr indent="0" lvl="0" marL="0" marR="0" rtl="0" algn="l">
              <a:lnSpc>
                <a:spcPct val="250018"/>
              </a:lnSpc>
              <a:spcBef>
                <a:spcPts val="0"/>
              </a:spcBef>
              <a:spcAft>
                <a:spcPts val="0"/>
              </a:spcAft>
              <a:buNone/>
            </a:pPr>
            <a:r>
              <a:rPr b="0" i="0" lang="en-US" sz="2731" u="none" cap="none" strike="noStrike">
                <a:solidFill>
                  <a:srgbClr val="FFFFFF"/>
                </a:solidFill>
                <a:latin typeface="Calibri"/>
                <a:ea typeface="Calibri"/>
                <a:cs typeface="Calibri"/>
                <a:sym typeface="Calibri"/>
              </a:rPr>
              <a:t>DESCARGA</a:t>
            </a:r>
            <a:endParaRPr/>
          </a:p>
        </p:txBody>
      </p:sp>
      <p:sp>
        <p:nvSpPr>
          <p:cNvPr id="249" name="Google Shape;249;p13"/>
          <p:cNvSpPr txBox="1"/>
          <p:nvPr/>
        </p:nvSpPr>
        <p:spPr>
          <a:xfrm>
            <a:off x="12293363" y="5929976"/>
            <a:ext cx="1919100" cy="4155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rPr b="0" i="0" lang="en-US" sz="2700" u="none" cap="none" strike="noStrike">
                <a:solidFill>
                  <a:srgbClr val="FFFFFF"/>
                </a:solidFill>
                <a:latin typeface="Calibri"/>
                <a:ea typeface="Calibri"/>
                <a:cs typeface="Calibri"/>
                <a:sym typeface="Calibri"/>
              </a:rPr>
              <a:t>CONTROL DE </a:t>
            </a:r>
            <a:endParaRPr/>
          </a:p>
        </p:txBody>
      </p:sp>
      <p:sp>
        <p:nvSpPr>
          <p:cNvPr id="250" name="Google Shape;250;p13"/>
          <p:cNvSpPr txBox="1"/>
          <p:nvPr/>
        </p:nvSpPr>
        <p:spPr>
          <a:xfrm>
            <a:off x="12050835" y="7500938"/>
            <a:ext cx="2384700" cy="415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700">
                <a:solidFill>
                  <a:srgbClr val="FFFFFF"/>
                </a:solidFill>
                <a:latin typeface="Calibri"/>
                <a:ea typeface="Calibri"/>
                <a:cs typeface="Calibri"/>
                <a:sym typeface="Calibri"/>
              </a:rPr>
              <a:t>ACTUALIZACIÓN</a:t>
            </a:r>
            <a:r>
              <a:rPr b="0" i="0" lang="en-US" sz="2700" u="none" cap="none" strike="noStrike">
                <a:solidFill>
                  <a:srgbClr val="FFFFFF"/>
                </a:solidFill>
                <a:latin typeface="Calibri"/>
                <a:ea typeface="Calibri"/>
                <a:cs typeface="Calibri"/>
                <a:sym typeface="Calibri"/>
              </a:rPr>
              <a:t> </a:t>
            </a:r>
            <a:endParaRPr/>
          </a:p>
        </p:txBody>
      </p:sp>
      <p:sp>
        <p:nvSpPr>
          <p:cNvPr id="251" name="Google Shape;251;p13"/>
          <p:cNvSpPr txBox="1"/>
          <p:nvPr/>
        </p:nvSpPr>
        <p:spPr>
          <a:xfrm>
            <a:off x="12261147" y="7912418"/>
            <a:ext cx="1876806" cy="50863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700" u="none" cap="none" strike="noStrike">
                <a:solidFill>
                  <a:srgbClr val="FFFFFF"/>
                </a:solidFill>
                <a:latin typeface="Calibri"/>
                <a:ea typeface="Calibri"/>
                <a:cs typeface="Calibri"/>
                <a:sym typeface="Calibri"/>
              </a:rPr>
              <a:t>DE REGISTRO</a:t>
            </a:r>
            <a:endParaRPr/>
          </a:p>
        </p:txBody>
      </p:sp>
      <p:sp>
        <p:nvSpPr>
          <p:cNvPr id="252" name="Google Shape;252;p13"/>
          <p:cNvSpPr txBox="1"/>
          <p:nvPr/>
        </p:nvSpPr>
        <p:spPr>
          <a:xfrm>
            <a:off x="11980475" y="9053846"/>
            <a:ext cx="2385000" cy="4155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None/>
            </a:pPr>
            <a:r>
              <a:rPr b="0" i="0" lang="en-US" sz="2700" u="none" cap="none" strike="noStrike">
                <a:solidFill>
                  <a:srgbClr val="FFFFFF"/>
                </a:solidFill>
                <a:latin typeface="Calibri"/>
                <a:ea typeface="Calibri"/>
                <a:cs typeface="Calibri"/>
                <a:sym typeface="Calibri"/>
              </a:rPr>
              <a:t>RESOLUCION DE </a:t>
            </a:r>
            <a:endParaRPr/>
          </a:p>
        </p:txBody>
      </p:sp>
      <p:sp>
        <p:nvSpPr>
          <p:cNvPr id="253" name="Google Shape;253;p13"/>
          <p:cNvSpPr txBox="1"/>
          <p:nvPr/>
        </p:nvSpPr>
        <p:spPr>
          <a:xfrm>
            <a:off x="12314296" y="9652902"/>
            <a:ext cx="1767321" cy="156210"/>
          </a:xfrm>
          <a:prstGeom prst="rect">
            <a:avLst/>
          </a:prstGeom>
          <a:noFill/>
          <a:ln>
            <a:noFill/>
          </a:ln>
        </p:spPr>
        <p:txBody>
          <a:bodyPr anchorCtr="0" anchor="t" bIns="0" lIns="0" spcFirstLastPara="1" rIns="0" wrap="square" tIns="0">
            <a:spAutoFit/>
          </a:bodyPr>
          <a:lstStyle/>
          <a:p>
            <a:pPr indent="0" lvl="0" marL="0" marR="0" rtl="0" algn="l">
              <a:lnSpc>
                <a:spcPct val="50000"/>
              </a:lnSpc>
              <a:spcBef>
                <a:spcPts val="0"/>
              </a:spcBef>
              <a:spcAft>
                <a:spcPts val="0"/>
              </a:spcAft>
              <a:buNone/>
            </a:pPr>
            <a:r>
              <a:rPr b="0" i="0" lang="en-US" sz="2700" u="none" cap="none" strike="noStrike">
                <a:solidFill>
                  <a:srgbClr val="FFFFFF"/>
                </a:solidFill>
                <a:latin typeface="Calibri"/>
                <a:ea typeface="Calibri"/>
                <a:cs typeface="Calibri"/>
                <a:sym typeface="Calibri"/>
              </a:rPr>
              <a:t>PROBLEMAS</a:t>
            </a:r>
            <a:endParaRPr/>
          </a:p>
        </p:txBody>
      </p:sp>
      <p:sp>
        <p:nvSpPr>
          <p:cNvPr id="254" name="Google Shape;254;p13"/>
          <p:cNvSpPr txBox="1"/>
          <p:nvPr/>
        </p:nvSpPr>
        <p:spPr>
          <a:xfrm>
            <a:off x="15533270" y="6426130"/>
            <a:ext cx="1410919" cy="508635"/>
          </a:xfrm>
          <a:prstGeom prst="rect">
            <a:avLst/>
          </a:prstGeom>
          <a:noFill/>
          <a:ln>
            <a:noFill/>
          </a:ln>
        </p:spPr>
        <p:txBody>
          <a:bodyPr anchorCtr="0" anchor="t" bIns="0" lIns="0" spcFirstLastPara="1" rIns="0" wrap="square" tIns="0">
            <a:spAutoFit/>
          </a:bodyPr>
          <a:lstStyle/>
          <a:p>
            <a:pPr indent="0" lvl="0" marL="0" marR="0" rtl="0" algn="l">
              <a:lnSpc>
                <a:spcPct val="120037"/>
              </a:lnSpc>
              <a:spcBef>
                <a:spcPts val="0"/>
              </a:spcBef>
              <a:spcAft>
                <a:spcPts val="0"/>
              </a:spcAft>
              <a:buNone/>
            </a:pPr>
            <a:r>
              <a:rPr b="0" i="0" lang="en-US" sz="2700" u="none" cap="none" strike="noStrike">
                <a:solidFill>
                  <a:srgbClr val="FFFFFF"/>
                </a:solidFill>
                <a:latin typeface="Calibri"/>
                <a:ea typeface="Calibri"/>
                <a:cs typeface="Calibri"/>
                <a:sym typeface="Calibri"/>
              </a:rPr>
              <a:t>REGISTRO</a:t>
            </a:r>
            <a:endParaRPr/>
          </a:p>
        </p:txBody>
      </p:sp>
      <p:sp>
        <p:nvSpPr>
          <p:cNvPr id="255" name="Google Shape;255;p13"/>
          <p:cNvSpPr txBox="1"/>
          <p:nvPr/>
        </p:nvSpPr>
        <p:spPr>
          <a:xfrm>
            <a:off x="8453628" y="314710"/>
            <a:ext cx="9099309" cy="2977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700" u="none" cap="none" strike="noStrike">
                <a:solidFill>
                  <a:srgbClr val="FFFFFF"/>
                </a:solidFill>
                <a:latin typeface="Calibri"/>
                <a:ea typeface="Calibri"/>
                <a:cs typeface="Calibri"/>
                <a:sym typeface="Calibri"/>
              </a:rPr>
              <a:t>La recepción de mercancías es el proceso de recibir y verificar los productos entregados por proveedores. Incluye revisar la cantidad, calidad y estado de los artículos para confirmar que coincidan con el pedido y no tengan daños. Luego, la mercancía se registra en el sistema de inventario y se almacena correctamente. Este proceso garantiza la exactitud del inventario y una gestión eficiente de las existencias.</a:t>
            </a:r>
            <a:endParaRPr/>
          </a:p>
        </p:txBody>
      </p:sp>
      <p:sp>
        <p:nvSpPr>
          <p:cNvPr id="256" name="Google Shape;256;p13"/>
          <p:cNvSpPr txBox="1"/>
          <p:nvPr/>
        </p:nvSpPr>
        <p:spPr>
          <a:xfrm>
            <a:off x="15192370" y="7542471"/>
            <a:ext cx="2450406" cy="92011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700" u="none" cap="none" strike="noStrike">
                <a:solidFill>
                  <a:srgbClr val="FFFFFF"/>
                </a:solidFill>
                <a:latin typeface="Calibri"/>
                <a:ea typeface="Calibri"/>
                <a:cs typeface="Calibri"/>
                <a:sym typeface="Calibri"/>
              </a:rPr>
              <a:t>COMUNICACIÓN INTERNA </a:t>
            </a:r>
            <a:endParaRPr/>
          </a:p>
        </p:txBody>
      </p:sp>
      <p:sp>
        <p:nvSpPr>
          <p:cNvPr id="257" name="Google Shape;257;p13"/>
          <p:cNvSpPr txBox="1"/>
          <p:nvPr/>
        </p:nvSpPr>
        <p:spPr>
          <a:xfrm>
            <a:off x="14761206" y="4948792"/>
            <a:ext cx="2830500" cy="415500"/>
          </a:xfrm>
          <a:prstGeom prst="rect">
            <a:avLst/>
          </a:prstGeom>
          <a:noFill/>
          <a:ln>
            <a:noFill/>
          </a:ln>
        </p:spPr>
        <p:txBody>
          <a:bodyPr anchorCtr="0" anchor="t" bIns="0" lIns="0" spcFirstLastPara="1" rIns="0" wrap="square" tIns="0">
            <a:spAutoFit/>
          </a:bodyPr>
          <a:lstStyle/>
          <a:p>
            <a:pPr indent="0" lvl="0" marL="0" marR="0" rtl="0" algn="l">
              <a:lnSpc>
                <a:spcPct val="139962"/>
              </a:lnSpc>
              <a:spcBef>
                <a:spcPts val="0"/>
              </a:spcBef>
              <a:spcAft>
                <a:spcPts val="0"/>
              </a:spcAft>
              <a:buNone/>
            </a:pPr>
            <a:r>
              <a:rPr b="0" i="0" lang="en-US" sz="2700" u="none" cap="none" strike="noStrike">
                <a:solidFill>
                  <a:srgbClr val="FFFFFF"/>
                </a:solidFill>
                <a:latin typeface="Calibri"/>
                <a:ea typeface="Calibri"/>
                <a:cs typeface="Calibri"/>
                <a:sym typeface="Calibri"/>
              </a:rPr>
              <a:t>INSPECCION VISUAL</a:t>
            </a:r>
            <a:endParaRPr/>
          </a:p>
        </p:txBody>
      </p:sp>
      <p:sp>
        <p:nvSpPr>
          <p:cNvPr id="258" name="Google Shape;258;p13"/>
          <p:cNvSpPr txBox="1"/>
          <p:nvPr/>
        </p:nvSpPr>
        <p:spPr>
          <a:xfrm>
            <a:off x="12626535" y="6317171"/>
            <a:ext cx="1252757" cy="613938"/>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0" i="0" lang="en-US" sz="2703" u="none" cap="none" strike="noStrike">
                <a:solidFill>
                  <a:srgbClr val="FFFFFF"/>
                </a:solidFill>
                <a:latin typeface="Calibri"/>
                <a:ea typeface="Calibri"/>
                <a:cs typeface="Calibri"/>
                <a:sym typeface="Calibri"/>
              </a:rPr>
              <a:t>CALIDAD</a:t>
            </a:r>
            <a:endParaRPr/>
          </a:p>
        </p:txBody>
      </p:sp>
      <p:sp>
        <p:nvSpPr>
          <p:cNvPr id="259" name="Google Shape;259;p13"/>
          <p:cNvSpPr txBox="1"/>
          <p:nvPr/>
        </p:nvSpPr>
        <p:spPr>
          <a:xfrm>
            <a:off x="15264743" y="5948052"/>
            <a:ext cx="2178043" cy="512331"/>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0" i="0" lang="en-US" sz="2703" u="none" cap="none" strike="noStrike">
                <a:solidFill>
                  <a:srgbClr val="FFFFFF"/>
                </a:solidFill>
                <a:latin typeface="Calibri"/>
                <a:ea typeface="Calibri"/>
                <a:cs typeface="Calibri"/>
                <a:sym typeface="Calibri"/>
              </a:rPr>
              <a:t>ETIQUETADO Y </a:t>
            </a:r>
            <a:endParaRPr/>
          </a:p>
        </p:txBody>
      </p:sp>
      <p:sp>
        <p:nvSpPr>
          <p:cNvPr id="260" name="Google Shape;260;p13"/>
          <p:cNvSpPr txBox="1"/>
          <p:nvPr/>
        </p:nvSpPr>
        <p:spPr>
          <a:xfrm>
            <a:off x="1111911" y="2441205"/>
            <a:ext cx="5812641" cy="873366"/>
          </a:xfrm>
          <a:prstGeom prst="rect">
            <a:avLst/>
          </a:prstGeom>
          <a:noFill/>
          <a:ln>
            <a:noFill/>
          </a:ln>
        </p:spPr>
        <p:txBody>
          <a:bodyPr anchorCtr="0" anchor="t" bIns="0" lIns="0" spcFirstLastPara="1" rIns="0" wrap="square" tIns="0">
            <a:spAutoFit/>
          </a:bodyPr>
          <a:lstStyle/>
          <a:p>
            <a:pPr indent="0" lvl="0" marL="0" marR="0" rtl="0" algn="l">
              <a:lnSpc>
                <a:spcPct val="119870"/>
              </a:lnSpc>
              <a:spcBef>
                <a:spcPts val="0"/>
              </a:spcBef>
              <a:spcAft>
                <a:spcPts val="0"/>
              </a:spcAft>
              <a:buNone/>
            </a:pPr>
            <a:r>
              <a:rPr b="1" i="0" lang="en-US" sz="4806" u="none" cap="none" strike="noStrike">
                <a:solidFill>
                  <a:srgbClr val="FFFFFF"/>
                </a:solidFill>
                <a:latin typeface="Calibri"/>
                <a:ea typeface="Calibri"/>
                <a:cs typeface="Calibri"/>
                <a:sym typeface="Calibri"/>
              </a:rPr>
              <a:t>Gestión de mercancías</a:t>
            </a:r>
            <a:endParaRPr/>
          </a:p>
        </p:txBody>
      </p:sp>
      <p:sp>
        <p:nvSpPr>
          <p:cNvPr id="261" name="Google Shape;261;p13"/>
          <p:cNvSpPr txBox="1"/>
          <p:nvPr/>
        </p:nvSpPr>
        <p:spPr>
          <a:xfrm>
            <a:off x="12107613" y="3699743"/>
            <a:ext cx="1920900" cy="906600"/>
          </a:xfrm>
          <a:prstGeom prst="rect">
            <a:avLst/>
          </a:prstGeom>
          <a:noFill/>
          <a:ln>
            <a:noFill/>
          </a:ln>
        </p:spPr>
        <p:txBody>
          <a:bodyPr anchorCtr="0" anchor="t" bIns="0" lIns="0" spcFirstLastPara="1" rIns="0" wrap="square" tIns="0">
            <a:spAutoFit/>
          </a:bodyPr>
          <a:lstStyle/>
          <a:p>
            <a:pPr indent="0" lvl="0" marL="0" marR="0" rtl="0" algn="ctr">
              <a:lnSpc>
                <a:spcPct val="139970"/>
              </a:lnSpc>
              <a:spcBef>
                <a:spcPts val="0"/>
              </a:spcBef>
              <a:spcAft>
                <a:spcPts val="0"/>
              </a:spcAft>
              <a:buNone/>
            </a:pPr>
            <a:r>
              <a:rPr b="0" i="0" lang="en-US" sz="4806" u="none" cap="none" strike="noStrike">
                <a:solidFill>
                  <a:srgbClr val="FFFFFF"/>
                </a:solidFill>
                <a:latin typeface="Calibri"/>
                <a:ea typeface="Calibri"/>
                <a:cs typeface="Calibri"/>
                <a:sym typeface="Calibri"/>
              </a:rPr>
              <a:t>FASES</a:t>
            </a:r>
            <a:endParaRPr/>
          </a:p>
        </p:txBody>
      </p:sp>
      <p:sp>
        <p:nvSpPr>
          <p:cNvPr id="262" name="Google Shape;262;p13"/>
          <p:cNvSpPr txBox="1"/>
          <p:nvPr/>
        </p:nvSpPr>
        <p:spPr>
          <a:xfrm>
            <a:off x="2769303" y="1527953"/>
            <a:ext cx="2435448" cy="1054871"/>
          </a:xfrm>
          <a:prstGeom prst="rect">
            <a:avLst/>
          </a:prstGeom>
          <a:noFill/>
          <a:ln>
            <a:noFill/>
          </a:ln>
        </p:spPr>
        <p:txBody>
          <a:bodyPr anchorCtr="0" anchor="t" bIns="0" lIns="0" spcFirstLastPara="1" rIns="0" wrap="square" tIns="0">
            <a:spAutoFit/>
          </a:bodyPr>
          <a:lstStyle/>
          <a:p>
            <a:pPr indent="0" lvl="0" marL="0" marR="0" rtl="0" algn="ctr">
              <a:lnSpc>
                <a:spcPct val="139966"/>
              </a:lnSpc>
              <a:spcBef>
                <a:spcPts val="0"/>
              </a:spcBef>
              <a:spcAft>
                <a:spcPts val="0"/>
              </a:spcAft>
              <a:buNone/>
            </a:pPr>
            <a:r>
              <a:rPr b="1" i="0" lang="en-US" sz="4809" u="none" cap="none" strike="noStrike">
                <a:solidFill>
                  <a:srgbClr val="FFFFFF"/>
                </a:solidFill>
                <a:latin typeface="Calibri"/>
                <a:ea typeface="Calibri"/>
                <a:cs typeface="Calibri"/>
                <a:sym typeface="Calibri"/>
              </a:rPr>
              <a:t>MODULO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000000"/>
          </a:solidFill>
          <a:ln cap="flat" cmpd="sng" w="12700">
            <a:solidFill>
              <a:srgbClr val="000000"/>
            </a:solidFill>
            <a:prstDash val="solid"/>
            <a:round/>
            <a:headEnd len="sm" w="sm" type="none"/>
            <a:tailEnd len="sm" w="sm" type="none"/>
          </a:ln>
        </p:spPr>
      </p:sp>
      <p:sp>
        <p:nvSpPr>
          <p:cNvPr id="268" name="Google Shape;268;p14"/>
          <p:cNvSpPr/>
          <p:nvPr/>
        </p:nvSpPr>
        <p:spPr>
          <a:xfrm>
            <a:off x="1163866" y="1192361"/>
            <a:ext cx="5500457" cy="4822320"/>
          </a:xfrm>
          <a:custGeom>
            <a:rect b="b" l="l" r="r" t="t"/>
            <a:pathLst>
              <a:path extrusionOk="0" h="4822320" w="5500457">
                <a:moveTo>
                  <a:pt x="0" y="0"/>
                </a:moveTo>
                <a:lnTo>
                  <a:pt x="5500456" y="0"/>
                </a:lnTo>
                <a:lnTo>
                  <a:pt x="5500456" y="4822320"/>
                </a:lnTo>
                <a:lnTo>
                  <a:pt x="0" y="4822320"/>
                </a:lnTo>
                <a:lnTo>
                  <a:pt x="0" y="0"/>
                </a:lnTo>
                <a:close/>
              </a:path>
            </a:pathLst>
          </a:custGeom>
          <a:blipFill rotWithShape="1">
            <a:blip r:embed="rId3">
              <a:alphaModFix/>
            </a:blip>
            <a:stretch>
              <a:fillRect b="0" l="0" r="0" t="0"/>
            </a:stretch>
          </a:blipFill>
          <a:ln>
            <a:noFill/>
          </a:ln>
        </p:spPr>
      </p:sp>
      <p:grpSp>
        <p:nvGrpSpPr>
          <p:cNvPr id="269" name="Google Shape;269;p14"/>
          <p:cNvGrpSpPr/>
          <p:nvPr/>
        </p:nvGrpSpPr>
        <p:grpSpPr>
          <a:xfrm>
            <a:off x="1021541" y="1007276"/>
            <a:ext cx="5480304" cy="4832699"/>
            <a:chOff x="0" y="0"/>
            <a:chExt cx="7307072" cy="6443599"/>
          </a:xfrm>
        </p:grpSpPr>
        <p:sp>
          <p:nvSpPr>
            <p:cNvPr id="270" name="Google Shape;270;p14"/>
            <p:cNvSpPr/>
            <p:nvPr/>
          </p:nvSpPr>
          <p:spPr>
            <a:xfrm>
              <a:off x="28575" y="28575"/>
              <a:ext cx="7249922" cy="6386449"/>
            </a:xfrm>
            <a:custGeom>
              <a:rect b="b" l="l" r="r" t="t"/>
              <a:pathLst>
                <a:path extrusionOk="0" h="6386449" w="7249922">
                  <a:moveTo>
                    <a:pt x="0" y="0"/>
                  </a:moveTo>
                  <a:lnTo>
                    <a:pt x="7249922" y="0"/>
                  </a:lnTo>
                  <a:lnTo>
                    <a:pt x="7249922" y="6386449"/>
                  </a:lnTo>
                  <a:lnTo>
                    <a:pt x="0" y="6386449"/>
                  </a:lnTo>
                  <a:close/>
                </a:path>
              </a:pathLst>
            </a:custGeom>
            <a:solidFill>
              <a:srgbClr val="000000"/>
            </a:solidFill>
            <a:ln cap="flat" cmpd="sng" w="12700">
              <a:solidFill>
                <a:srgbClr val="000000"/>
              </a:solidFill>
              <a:prstDash val="solid"/>
              <a:round/>
              <a:headEnd len="sm" w="sm" type="none"/>
              <a:tailEnd len="sm" w="sm" type="none"/>
            </a:ln>
          </p:spPr>
        </p:sp>
        <p:sp>
          <p:nvSpPr>
            <p:cNvPr id="271" name="Google Shape;271;p14"/>
            <p:cNvSpPr/>
            <p:nvPr/>
          </p:nvSpPr>
          <p:spPr>
            <a:xfrm>
              <a:off x="0" y="0"/>
              <a:ext cx="7307072" cy="6443599"/>
            </a:xfrm>
            <a:custGeom>
              <a:rect b="b" l="l" r="r" t="t"/>
              <a:pathLst>
                <a:path extrusionOk="0" h="6443599" w="7307072">
                  <a:moveTo>
                    <a:pt x="28575" y="0"/>
                  </a:moveTo>
                  <a:lnTo>
                    <a:pt x="7278497" y="0"/>
                  </a:lnTo>
                  <a:cubicBezTo>
                    <a:pt x="7294245" y="0"/>
                    <a:pt x="7307072" y="12827"/>
                    <a:pt x="7307072" y="28575"/>
                  </a:cubicBezTo>
                  <a:lnTo>
                    <a:pt x="7307072" y="6415024"/>
                  </a:lnTo>
                  <a:cubicBezTo>
                    <a:pt x="7307072" y="6430772"/>
                    <a:pt x="7294245" y="6443599"/>
                    <a:pt x="7278497" y="6443599"/>
                  </a:cubicBezTo>
                  <a:lnTo>
                    <a:pt x="28575" y="6443599"/>
                  </a:lnTo>
                  <a:cubicBezTo>
                    <a:pt x="12827" y="6443599"/>
                    <a:pt x="0" y="6430772"/>
                    <a:pt x="0" y="6415024"/>
                  </a:cubicBezTo>
                  <a:lnTo>
                    <a:pt x="0" y="28575"/>
                  </a:lnTo>
                  <a:cubicBezTo>
                    <a:pt x="0" y="12827"/>
                    <a:pt x="12827" y="0"/>
                    <a:pt x="28575" y="0"/>
                  </a:cubicBezTo>
                  <a:moveTo>
                    <a:pt x="28575" y="57150"/>
                  </a:moveTo>
                  <a:lnTo>
                    <a:pt x="28575" y="28575"/>
                  </a:lnTo>
                  <a:lnTo>
                    <a:pt x="57150" y="28575"/>
                  </a:lnTo>
                  <a:lnTo>
                    <a:pt x="57150" y="6415024"/>
                  </a:lnTo>
                  <a:lnTo>
                    <a:pt x="28575" y="6415024"/>
                  </a:lnTo>
                  <a:lnTo>
                    <a:pt x="28575" y="6386449"/>
                  </a:lnTo>
                  <a:lnTo>
                    <a:pt x="7278497" y="6386449"/>
                  </a:lnTo>
                  <a:lnTo>
                    <a:pt x="7278497" y="6415024"/>
                  </a:lnTo>
                  <a:lnTo>
                    <a:pt x="7249922" y="6415024"/>
                  </a:lnTo>
                  <a:lnTo>
                    <a:pt x="7249922" y="28575"/>
                  </a:lnTo>
                  <a:lnTo>
                    <a:pt x="7278497" y="28575"/>
                  </a:lnTo>
                  <a:lnTo>
                    <a:pt x="7278497" y="57150"/>
                  </a:lnTo>
                  <a:lnTo>
                    <a:pt x="28575" y="5715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 name="Google Shape;272;p14"/>
          <p:cNvGrpSpPr/>
          <p:nvPr/>
        </p:nvGrpSpPr>
        <p:grpSpPr>
          <a:xfrm>
            <a:off x="1110876" y="1289712"/>
            <a:ext cx="5314796" cy="4318479"/>
            <a:chOff x="0" y="0"/>
            <a:chExt cx="7086394" cy="5757972"/>
          </a:xfrm>
        </p:grpSpPr>
        <p:sp>
          <p:nvSpPr>
            <p:cNvPr id="273" name="Google Shape;273;p14"/>
            <p:cNvSpPr/>
            <p:nvPr/>
          </p:nvSpPr>
          <p:spPr>
            <a:xfrm>
              <a:off x="0" y="0"/>
              <a:ext cx="7086394" cy="5757972"/>
            </a:xfrm>
            <a:custGeom>
              <a:rect b="b" l="l" r="r" t="t"/>
              <a:pathLst>
                <a:path extrusionOk="0" h="5757972" w="7086394">
                  <a:moveTo>
                    <a:pt x="0" y="0"/>
                  </a:moveTo>
                  <a:lnTo>
                    <a:pt x="7086394" y="0"/>
                  </a:lnTo>
                  <a:lnTo>
                    <a:pt x="7086394" y="5757972"/>
                  </a:lnTo>
                  <a:lnTo>
                    <a:pt x="0" y="5757972"/>
                  </a:lnTo>
                  <a:close/>
                </a:path>
              </a:pathLst>
            </a:custGeom>
            <a:solidFill>
              <a:srgbClr val="000000">
                <a:alpha val="0"/>
              </a:srgbClr>
            </a:solidFill>
            <a:ln>
              <a:noFill/>
            </a:ln>
          </p:spPr>
        </p:sp>
        <p:sp>
          <p:nvSpPr>
            <p:cNvPr id="274" name="Google Shape;274;p14"/>
            <p:cNvSpPr txBox="1"/>
            <p:nvPr/>
          </p:nvSpPr>
          <p:spPr>
            <a:xfrm>
              <a:off x="0" y="38100"/>
              <a:ext cx="7086394" cy="57198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6600" u="none" cap="none" strike="noStrike">
                  <a:solidFill>
                    <a:srgbClr val="FFFFFF"/>
                  </a:solidFill>
                  <a:latin typeface="Arimo"/>
                  <a:ea typeface="Arimo"/>
                  <a:cs typeface="Arimo"/>
                  <a:sym typeface="Arimo"/>
                </a:rPr>
                <a:t>Recoleccion de Informacion</a:t>
              </a:r>
              <a:endParaRPr/>
            </a:p>
          </p:txBody>
        </p:sp>
      </p:grpSp>
      <p:sp>
        <p:nvSpPr>
          <p:cNvPr id="275" name="Google Shape;275;p14"/>
          <p:cNvSpPr/>
          <p:nvPr/>
        </p:nvSpPr>
        <p:spPr>
          <a:xfrm>
            <a:off x="0" y="175506"/>
            <a:ext cx="2055147" cy="763489"/>
          </a:xfrm>
          <a:custGeom>
            <a:rect b="b" l="l" r="r" t="t"/>
            <a:pathLst>
              <a:path extrusionOk="0" h="763489" w="2055147">
                <a:moveTo>
                  <a:pt x="0" y="0"/>
                </a:moveTo>
                <a:lnTo>
                  <a:pt x="2055147" y="0"/>
                </a:lnTo>
                <a:lnTo>
                  <a:pt x="2055147" y="763489"/>
                </a:lnTo>
                <a:lnTo>
                  <a:pt x="0" y="763489"/>
                </a:lnTo>
                <a:lnTo>
                  <a:pt x="0" y="0"/>
                </a:lnTo>
                <a:close/>
              </a:path>
            </a:pathLst>
          </a:custGeom>
          <a:blipFill rotWithShape="1">
            <a:blip r:embed="rId4">
              <a:alphaModFix/>
            </a:blip>
            <a:stretch>
              <a:fillRect b="0" l="0" r="0" t="0"/>
            </a:stretch>
          </a:blipFill>
          <a:ln>
            <a:noFill/>
          </a:ln>
        </p:spPr>
      </p:sp>
      <p:sp>
        <p:nvSpPr>
          <p:cNvPr id="276" name="Google Shape;276;p14"/>
          <p:cNvSpPr/>
          <p:nvPr/>
        </p:nvSpPr>
        <p:spPr>
          <a:xfrm>
            <a:off x="7033572" y="3668294"/>
            <a:ext cx="1274047" cy="1274049"/>
          </a:xfrm>
          <a:custGeom>
            <a:rect b="b" l="l" r="r" t="t"/>
            <a:pathLst>
              <a:path extrusionOk="0" h="1274049" w="1274047">
                <a:moveTo>
                  <a:pt x="0" y="0"/>
                </a:moveTo>
                <a:lnTo>
                  <a:pt x="1274047" y="0"/>
                </a:lnTo>
                <a:lnTo>
                  <a:pt x="1274047" y="1274048"/>
                </a:lnTo>
                <a:lnTo>
                  <a:pt x="0" y="1274048"/>
                </a:lnTo>
                <a:lnTo>
                  <a:pt x="0" y="0"/>
                </a:lnTo>
                <a:close/>
              </a:path>
            </a:pathLst>
          </a:custGeom>
          <a:blipFill rotWithShape="1">
            <a:blip r:embed="rId5">
              <a:alphaModFix/>
            </a:blip>
            <a:stretch>
              <a:fillRect b="0" l="0" r="0" t="0"/>
            </a:stretch>
          </a:blipFill>
          <a:ln>
            <a:noFill/>
          </a:ln>
        </p:spPr>
      </p:sp>
      <p:sp>
        <p:nvSpPr>
          <p:cNvPr id="277" name="Google Shape;277;p14"/>
          <p:cNvSpPr/>
          <p:nvPr/>
        </p:nvSpPr>
        <p:spPr>
          <a:xfrm>
            <a:off x="7033572" y="3668294"/>
            <a:ext cx="1274047" cy="1274049"/>
          </a:xfrm>
          <a:custGeom>
            <a:rect b="b" l="l" r="r" t="t"/>
            <a:pathLst>
              <a:path extrusionOk="0" h="1274049" w="1274047">
                <a:moveTo>
                  <a:pt x="0" y="0"/>
                </a:moveTo>
                <a:lnTo>
                  <a:pt x="1274047" y="0"/>
                </a:lnTo>
                <a:lnTo>
                  <a:pt x="1274047" y="1274048"/>
                </a:lnTo>
                <a:lnTo>
                  <a:pt x="0" y="1274048"/>
                </a:lnTo>
                <a:lnTo>
                  <a:pt x="0" y="0"/>
                </a:lnTo>
                <a:close/>
              </a:path>
            </a:pathLst>
          </a:custGeom>
          <a:blipFill rotWithShape="1">
            <a:blip r:embed="rId5">
              <a:alphaModFix/>
            </a:blip>
            <a:stretch>
              <a:fillRect b="0" l="0" r="0" t="0"/>
            </a:stretch>
          </a:blipFill>
          <a:ln>
            <a:noFill/>
          </a:ln>
        </p:spPr>
      </p:sp>
      <p:sp>
        <p:nvSpPr>
          <p:cNvPr id="278" name="Google Shape;278;p14"/>
          <p:cNvSpPr/>
          <p:nvPr/>
        </p:nvSpPr>
        <p:spPr>
          <a:xfrm>
            <a:off x="8686530" y="1647530"/>
            <a:ext cx="2733960" cy="1640395"/>
          </a:xfrm>
          <a:custGeom>
            <a:rect b="b" l="l" r="r" t="t"/>
            <a:pathLst>
              <a:path extrusionOk="0" h="2187194" w="3645281">
                <a:moveTo>
                  <a:pt x="0" y="0"/>
                </a:moveTo>
                <a:lnTo>
                  <a:pt x="3645281" y="0"/>
                </a:lnTo>
                <a:lnTo>
                  <a:pt x="3645281" y="2187194"/>
                </a:lnTo>
                <a:lnTo>
                  <a:pt x="0" y="2187194"/>
                </a:lnTo>
                <a:close/>
              </a:path>
            </a:pathLst>
          </a:custGeom>
          <a:gradFill>
            <a:gsLst>
              <a:gs pos="0">
                <a:srgbClr val="45B1B7"/>
              </a:gs>
              <a:gs pos="50000">
                <a:srgbClr val="00A5AB"/>
              </a:gs>
              <a:gs pos="100000">
                <a:srgbClr val="009297"/>
              </a:gs>
            </a:gsLst>
            <a:lin ang="5400000" scaled="0"/>
          </a:gradFill>
          <a:ln>
            <a:noFill/>
          </a:ln>
        </p:spPr>
      </p:sp>
      <p:grpSp>
        <p:nvGrpSpPr>
          <p:cNvPr id="279" name="Google Shape;279;p14"/>
          <p:cNvGrpSpPr/>
          <p:nvPr/>
        </p:nvGrpSpPr>
        <p:grpSpPr>
          <a:xfrm>
            <a:off x="8681768" y="1642767"/>
            <a:ext cx="2743495" cy="1649907"/>
            <a:chOff x="0" y="0"/>
            <a:chExt cx="3657994" cy="2199876"/>
          </a:xfrm>
        </p:grpSpPr>
        <p:sp>
          <p:nvSpPr>
            <p:cNvPr id="280" name="Google Shape;280;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281" name="Google Shape;281;p14"/>
            <p:cNvGrpSpPr/>
            <p:nvPr/>
          </p:nvGrpSpPr>
          <p:grpSpPr>
            <a:xfrm>
              <a:off x="0" y="0"/>
              <a:ext cx="3657994" cy="2199876"/>
              <a:chOff x="0" y="0"/>
              <a:chExt cx="3657994" cy="2199876"/>
            </a:xfrm>
          </p:grpSpPr>
          <p:sp>
            <p:nvSpPr>
              <p:cNvPr id="282" name="Google Shape;282;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283" name="Google Shape;283;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500" u="none" cap="none" strike="noStrike">
                    <a:solidFill>
                      <a:srgbClr val="FFFFFF"/>
                    </a:solidFill>
                    <a:latin typeface="Arimo"/>
                    <a:ea typeface="Arimo"/>
                    <a:cs typeface="Arimo"/>
                    <a:sym typeface="Arimo"/>
                  </a:rPr>
                  <a:t>Mecánico - Entrevista - Sebastian Herrera</a:t>
                </a:r>
                <a:endParaRPr/>
              </a:p>
            </p:txBody>
          </p:sp>
        </p:grpSp>
      </p:grpSp>
      <p:sp>
        <p:nvSpPr>
          <p:cNvPr id="284" name="Google Shape;284;p14"/>
          <p:cNvSpPr/>
          <p:nvPr/>
        </p:nvSpPr>
        <p:spPr>
          <a:xfrm>
            <a:off x="11693897" y="1647530"/>
            <a:ext cx="2733961" cy="1640395"/>
          </a:xfrm>
          <a:custGeom>
            <a:rect b="b" l="l" r="r" t="t"/>
            <a:pathLst>
              <a:path extrusionOk="0" h="2187194" w="3645281">
                <a:moveTo>
                  <a:pt x="0" y="0"/>
                </a:moveTo>
                <a:lnTo>
                  <a:pt x="3645281" y="0"/>
                </a:lnTo>
                <a:lnTo>
                  <a:pt x="3645281" y="2187194"/>
                </a:lnTo>
                <a:lnTo>
                  <a:pt x="0" y="2187194"/>
                </a:lnTo>
                <a:close/>
              </a:path>
            </a:pathLst>
          </a:custGeom>
          <a:gradFill>
            <a:gsLst>
              <a:gs pos="0">
                <a:srgbClr val="B146B4"/>
              </a:gs>
              <a:gs pos="50000">
                <a:srgbClr val="A200AA"/>
              </a:gs>
              <a:gs pos="100000">
                <a:srgbClr val="8F0096"/>
              </a:gs>
            </a:gsLst>
            <a:lin ang="5400000" scaled="0"/>
          </a:gradFill>
          <a:ln>
            <a:noFill/>
          </a:ln>
        </p:spPr>
      </p:sp>
      <p:grpSp>
        <p:nvGrpSpPr>
          <p:cNvPr id="285" name="Google Shape;285;p14"/>
          <p:cNvGrpSpPr/>
          <p:nvPr/>
        </p:nvGrpSpPr>
        <p:grpSpPr>
          <a:xfrm>
            <a:off x="11689134" y="1642767"/>
            <a:ext cx="2743496" cy="1649907"/>
            <a:chOff x="0" y="0"/>
            <a:chExt cx="3657994" cy="2199876"/>
          </a:xfrm>
        </p:grpSpPr>
        <p:sp>
          <p:nvSpPr>
            <p:cNvPr id="286" name="Google Shape;286;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287" name="Google Shape;287;p14"/>
            <p:cNvGrpSpPr/>
            <p:nvPr/>
          </p:nvGrpSpPr>
          <p:grpSpPr>
            <a:xfrm>
              <a:off x="0" y="0"/>
              <a:ext cx="3657994" cy="2199876"/>
              <a:chOff x="0" y="0"/>
              <a:chExt cx="3657994" cy="2199876"/>
            </a:xfrm>
          </p:grpSpPr>
          <p:sp>
            <p:nvSpPr>
              <p:cNvPr id="288" name="Google Shape;288;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289" name="Google Shape;289;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1. ¿Con qué frecuencia recibe encargos con información incompleta o faltante? ¿Qué tipo de datos suelen faltar? </a:t>
                </a:r>
                <a:endParaRPr/>
              </a:p>
            </p:txBody>
          </p:sp>
        </p:grpSp>
      </p:grpSp>
      <p:sp>
        <p:nvSpPr>
          <p:cNvPr id="290" name="Google Shape;290;p14"/>
          <p:cNvSpPr/>
          <p:nvPr/>
        </p:nvSpPr>
        <p:spPr>
          <a:xfrm>
            <a:off x="14701264" y="1647530"/>
            <a:ext cx="2733961" cy="1640395"/>
          </a:xfrm>
          <a:custGeom>
            <a:rect b="b" l="l" r="r" t="t"/>
            <a:pathLst>
              <a:path extrusionOk="0" h="2187194" w="3645281">
                <a:moveTo>
                  <a:pt x="0" y="0"/>
                </a:moveTo>
                <a:lnTo>
                  <a:pt x="3645281" y="0"/>
                </a:lnTo>
                <a:lnTo>
                  <a:pt x="3645281" y="2187194"/>
                </a:lnTo>
                <a:lnTo>
                  <a:pt x="0" y="2187194"/>
                </a:lnTo>
                <a:close/>
              </a:path>
            </a:pathLst>
          </a:custGeom>
          <a:gradFill>
            <a:gsLst>
              <a:gs pos="0">
                <a:srgbClr val="B2A600"/>
              </a:gs>
              <a:gs pos="50000">
                <a:srgbClr val="A99300"/>
              </a:gs>
              <a:gs pos="100000">
                <a:srgbClr val="958200"/>
              </a:gs>
            </a:gsLst>
            <a:lin ang="5400000" scaled="0"/>
          </a:gradFill>
          <a:ln>
            <a:noFill/>
          </a:ln>
        </p:spPr>
      </p:sp>
      <p:grpSp>
        <p:nvGrpSpPr>
          <p:cNvPr id="291" name="Google Shape;291;p14"/>
          <p:cNvGrpSpPr/>
          <p:nvPr/>
        </p:nvGrpSpPr>
        <p:grpSpPr>
          <a:xfrm>
            <a:off x="14696502" y="1642767"/>
            <a:ext cx="2743496" cy="1649907"/>
            <a:chOff x="0" y="0"/>
            <a:chExt cx="3657994" cy="2199876"/>
          </a:xfrm>
        </p:grpSpPr>
        <p:sp>
          <p:nvSpPr>
            <p:cNvPr id="292" name="Google Shape;292;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293" name="Google Shape;293;p14"/>
            <p:cNvGrpSpPr/>
            <p:nvPr/>
          </p:nvGrpSpPr>
          <p:grpSpPr>
            <a:xfrm>
              <a:off x="0" y="0"/>
              <a:ext cx="3657994" cy="2199876"/>
              <a:chOff x="0" y="0"/>
              <a:chExt cx="3657994" cy="2199876"/>
            </a:xfrm>
          </p:grpSpPr>
          <p:sp>
            <p:nvSpPr>
              <p:cNvPr id="294" name="Google Shape;294;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295" name="Google Shape;295;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2. ¿Cómo se registran actualmente los encargos de los clientes? ¿Se usa papel, Excel, o algún otro método? </a:t>
                </a:r>
                <a:endParaRPr/>
              </a:p>
            </p:txBody>
          </p:sp>
        </p:grpSp>
      </p:grpSp>
      <p:sp>
        <p:nvSpPr>
          <p:cNvPr id="296" name="Google Shape;296;p14"/>
          <p:cNvSpPr/>
          <p:nvPr/>
        </p:nvSpPr>
        <p:spPr>
          <a:xfrm>
            <a:off x="8686530" y="3561309"/>
            <a:ext cx="2733960" cy="1640396"/>
          </a:xfrm>
          <a:custGeom>
            <a:rect b="b" l="l" r="r" t="t"/>
            <a:pathLst>
              <a:path extrusionOk="0" h="2187194" w="3645281">
                <a:moveTo>
                  <a:pt x="0" y="0"/>
                </a:moveTo>
                <a:lnTo>
                  <a:pt x="3645281" y="0"/>
                </a:lnTo>
                <a:lnTo>
                  <a:pt x="3645281" y="2187194"/>
                </a:lnTo>
                <a:lnTo>
                  <a:pt x="0" y="2187194"/>
                </a:lnTo>
                <a:close/>
              </a:path>
            </a:pathLst>
          </a:custGeom>
          <a:gradFill>
            <a:gsLst>
              <a:gs pos="0">
                <a:srgbClr val="48B09B"/>
              </a:gs>
              <a:gs pos="50000">
                <a:srgbClr val="00A784"/>
              </a:gs>
              <a:gs pos="100000">
                <a:srgbClr val="009474"/>
              </a:gs>
            </a:gsLst>
            <a:lin ang="5400000" scaled="0"/>
          </a:gradFill>
          <a:ln>
            <a:noFill/>
          </a:ln>
        </p:spPr>
      </p:sp>
      <p:grpSp>
        <p:nvGrpSpPr>
          <p:cNvPr id="297" name="Google Shape;297;p14"/>
          <p:cNvGrpSpPr/>
          <p:nvPr/>
        </p:nvGrpSpPr>
        <p:grpSpPr>
          <a:xfrm>
            <a:off x="8681768" y="3556546"/>
            <a:ext cx="2743495" cy="1649907"/>
            <a:chOff x="0" y="0"/>
            <a:chExt cx="3657994" cy="2199876"/>
          </a:xfrm>
        </p:grpSpPr>
        <p:sp>
          <p:nvSpPr>
            <p:cNvPr id="298" name="Google Shape;298;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299" name="Google Shape;299;p14"/>
            <p:cNvGrpSpPr/>
            <p:nvPr/>
          </p:nvGrpSpPr>
          <p:grpSpPr>
            <a:xfrm>
              <a:off x="0" y="0"/>
              <a:ext cx="3657994" cy="2199876"/>
              <a:chOff x="0" y="0"/>
              <a:chExt cx="3657994" cy="2199876"/>
            </a:xfrm>
          </p:grpSpPr>
          <p:sp>
            <p:nvSpPr>
              <p:cNvPr id="300" name="Google Shape;300;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01" name="Google Shape;301;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3. ¿Qué problemas genera recibir encargos incompletos?</a:t>
                </a:r>
                <a:endParaRPr/>
              </a:p>
            </p:txBody>
          </p:sp>
        </p:grpSp>
      </p:grpSp>
      <p:sp>
        <p:nvSpPr>
          <p:cNvPr id="302" name="Google Shape;302;p14"/>
          <p:cNvSpPr/>
          <p:nvPr/>
        </p:nvSpPr>
        <p:spPr>
          <a:xfrm>
            <a:off x="11693897" y="3561309"/>
            <a:ext cx="2733961" cy="1640396"/>
          </a:xfrm>
          <a:custGeom>
            <a:rect b="b" l="l" r="r" t="t"/>
            <a:pathLst>
              <a:path extrusionOk="0" h="2187194" w="3645281">
                <a:moveTo>
                  <a:pt x="0" y="0"/>
                </a:moveTo>
                <a:lnTo>
                  <a:pt x="3645281" y="0"/>
                </a:lnTo>
                <a:lnTo>
                  <a:pt x="3645281" y="2187194"/>
                </a:lnTo>
                <a:lnTo>
                  <a:pt x="0" y="2187194"/>
                </a:lnTo>
                <a:close/>
              </a:path>
            </a:pathLst>
          </a:custGeom>
          <a:gradFill>
            <a:gsLst>
              <a:gs pos="0">
                <a:srgbClr val="9149AE"/>
              </a:gs>
              <a:gs pos="50000">
                <a:srgbClr val="7500A6"/>
              </a:gs>
              <a:gs pos="100000">
                <a:srgbClr val="670092"/>
              </a:gs>
            </a:gsLst>
            <a:lin ang="5400000" scaled="0"/>
          </a:gradFill>
          <a:ln>
            <a:noFill/>
          </a:ln>
        </p:spPr>
      </p:sp>
      <p:grpSp>
        <p:nvGrpSpPr>
          <p:cNvPr id="303" name="Google Shape;303;p14"/>
          <p:cNvGrpSpPr/>
          <p:nvPr/>
        </p:nvGrpSpPr>
        <p:grpSpPr>
          <a:xfrm>
            <a:off x="11689134" y="3556546"/>
            <a:ext cx="2743496" cy="1649907"/>
            <a:chOff x="0" y="0"/>
            <a:chExt cx="3657994" cy="2199876"/>
          </a:xfrm>
        </p:grpSpPr>
        <p:sp>
          <p:nvSpPr>
            <p:cNvPr id="304" name="Google Shape;304;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305" name="Google Shape;305;p14"/>
            <p:cNvGrpSpPr/>
            <p:nvPr/>
          </p:nvGrpSpPr>
          <p:grpSpPr>
            <a:xfrm>
              <a:off x="0" y="0"/>
              <a:ext cx="3657994" cy="2199876"/>
              <a:chOff x="0" y="0"/>
              <a:chExt cx="3657994" cy="2199876"/>
            </a:xfrm>
          </p:grpSpPr>
          <p:sp>
            <p:nvSpPr>
              <p:cNvPr id="306" name="Google Shape;306;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07" name="Google Shape;307;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4. ¿Cómo se lleva el control de las reparaciones pendientes o las piezas en espera?</a:t>
                </a:r>
                <a:endParaRPr/>
              </a:p>
            </p:txBody>
          </p:sp>
        </p:grpSp>
      </p:grpSp>
      <p:sp>
        <p:nvSpPr>
          <p:cNvPr id="308" name="Google Shape;308;p14"/>
          <p:cNvSpPr/>
          <p:nvPr/>
        </p:nvSpPr>
        <p:spPr>
          <a:xfrm>
            <a:off x="14701264" y="3561309"/>
            <a:ext cx="2733961" cy="1640396"/>
          </a:xfrm>
          <a:custGeom>
            <a:rect b="b" l="l" r="r" t="t"/>
            <a:pathLst>
              <a:path extrusionOk="0" h="2187194" w="3645281">
                <a:moveTo>
                  <a:pt x="0" y="0"/>
                </a:moveTo>
                <a:lnTo>
                  <a:pt x="3645281" y="0"/>
                </a:lnTo>
                <a:lnTo>
                  <a:pt x="3645281" y="2187194"/>
                </a:lnTo>
                <a:lnTo>
                  <a:pt x="0" y="2187194"/>
                </a:lnTo>
                <a:close/>
              </a:path>
            </a:pathLst>
          </a:custGeom>
          <a:gradFill>
            <a:gsLst>
              <a:gs pos="0">
                <a:srgbClr val="AB8800"/>
              </a:gs>
              <a:gs pos="50000">
                <a:srgbClr val="A56700"/>
              </a:gs>
              <a:gs pos="100000">
                <a:srgbClr val="915A00"/>
              </a:gs>
            </a:gsLst>
            <a:lin ang="5400000" scaled="0"/>
          </a:gradFill>
          <a:ln>
            <a:noFill/>
          </a:ln>
        </p:spPr>
      </p:sp>
      <p:grpSp>
        <p:nvGrpSpPr>
          <p:cNvPr id="309" name="Google Shape;309;p14"/>
          <p:cNvGrpSpPr/>
          <p:nvPr/>
        </p:nvGrpSpPr>
        <p:grpSpPr>
          <a:xfrm>
            <a:off x="14696502" y="3556546"/>
            <a:ext cx="2743496" cy="1649907"/>
            <a:chOff x="0" y="0"/>
            <a:chExt cx="3657994" cy="2199876"/>
          </a:xfrm>
        </p:grpSpPr>
        <p:sp>
          <p:nvSpPr>
            <p:cNvPr id="310" name="Google Shape;310;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311" name="Google Shape;311;p14"/>
            <p:cNvGrpSpPr/>
            <p:nvPr/>
          </p:nvGrpSpPr>
          <p:grpSpPr>
            <a:xfrm>
              <a:off x="0" y="0"/>
              <a:ext cx="3657994" cy="2199876"/>
              <a:chOff x="0" y="0"/>
              <a:chExt cx="3657994" cy="2199876"/>
            </a:xfrm>
          </p:grpSpPr>
          <p:sp>
            <p:nvSpPr>
              <p:cNvPr id="312" name="Google Shape;312;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13" name="Google Shape;313;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5. ¿Cuáles son los datos más importantes que deberían estar siempre en un encargo?</a:t>
                </a:r>
                <a:endParaRPr/>
              </a:p>
            </p:txBody>
          </p:sp>
        </p:grpSp>
      </p:grpSp>
      <p:sp>
        <p:nvSpPr>
          <p:cNvPr id="314" name="Google Shape;314;p14"/>
          <p:cNvSpPr/>
          <p:nvPr/>
        </p:nvSpPr>
        <p:spPr>
          <a:xfrm>
            <a:off x="8686530" y="5475088"/>
            <a:ext cx="2733960" cy="1640395"/>
          </a:xfrm>
          <a:custGeom>
            <a:rect b="b" l="l" r="r" t="t"/>
            <a:pathLst>
              <a:path extrusionOk="0" h="2187194" w="3645281">
                <a:moveTo>
                  <a:pt x="0" y="0"/>
                </a:moveTo>
                <a:lnTo>
                  <a:pt x="3645281" y="0"/>
                </a:lnTo>
                <a:lnTo>
                  <a:pt x="3645281" y="2187194"/>
                </a:lnTo>
                <a:lnTo>
                  <a:pt x="0" y="2187194"/>
                </a:lnTo>
                <a:close/>
              </a:path>
            </a:pathLst>
          </a:custGeom>
          <a:gradFill>
            <a:gsLst>
              <a:gs pos="0">
                <a:srgbClr val="4BA97F"/>
              </a:gs>
              <a:gs pos="50000">
                <a:srgbClr val="00A458"/>
              </a:gs>
              <a:gs pos="100000">
                <a:srgbClr val="00904E"/>
              </a:gs>
            </a:gsLst>
            <a:lin ang="5400000" scaled="0"/>
          </a:gradFill>
          <a:ln>
            <a:noFill/>
          </a:ln>
        </p:spPr>
      </p:sp>
      <p:grpSp>
        <p:nvGrpSpPr>
          <p:cNvPr id="315" name="Google Shape;315;p14"/>
          <p:cNvGrpSpPr/>
          <p:nvPr/>
        </p:nvGrpSpPr>
        <p:grpSpPr>
          <a:xfrm>
            <a:off x="8681768" y="5470326"/>
            <a:ext cx="2743495" cy="1649907"/>
            <a:chOff x="0" y="0"/>
            <a:chExt cx="3657994" cy="2199876"/>
          </a:xfrm>
        </p:grpSpPr>
        <p:sp>
          <p:nvSpPr>
            <p:cNvPr id="316" name="Google Shape;316;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317" name="Google Shape;317;p14"/>
            <p:cNvGrpSpPr/>
            <p:nvPr/>
          </p:nvGrpSpPr>
          <p:grpSpPr>
            <a:xfrm>
              <a:off x="0" y="0"/>
              <a:ext cx="3657994" cy="2199876"/>
              <a:chOff x="0" y="0"/>
              <a:chExt cx="3657994" cy="2199876"/>
            </a:xfrm>
          </p:grpSpPr>
          <p:sp>
            <p:nvSpPr>
              <p:cNvPr id="318" name="Google Shape;318;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19" name="Google Shape;319;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6. ¿Quién suele proporcionar la información de los encargos? ¿El cliente, el recepcionista, o alguien más? ¿Cree que hay falta de comunicación entre ellos?</a:t>
                </a:r>
                <a:endParaRPr/>
              </a:p>
            </p:txBody>
          </p:sp>
        </p:grpSp>
      </p:grpSp>
      <p:sp>
        <p:nvSpPr>
          <p:cNvPr id="320" name="Google Shape;320;p14"/>
          <p:cNvSpPr/>
          <p:nvPr/>
        </p:nvSpPr>
        <p:spPr>
          <a:xfrm>
            <a:off x="11693897" y="5475088"/>
            <a:ext cx="2733961" cy="1640395"/>
          </a:xfrm>
          <a:custGeom>
            <a:rect b="b" l="l" r="r" t="t"/>
            <a:pathLst>
              <a:path extrusionOk="0" h="2187194" w="3645281">
                <a:moveTo>
                  <a:pt x="0" y="0"/>
                </a:moveTo>
                <a:lnTo>
                  <a:pt x="3645281" y="0"/>
                </a:lnTo>
                <a:lnTo>
                  <a:pt x="3645281" y="2187194"/>
                </a:lnTo>
                <a:lnTo>
                  <a:pt x="0" y="2187194"/>
                </a:lnTo>
                <a:close/>
              </a:path>
            </a:pathLst>
          </a:custGeom>
          <a:gradFill>
            <a:gsLst>
              <a:gs pos="0">
                <a:srgbClr val="774CA7"/>
              </a:gs>
              <a:gs pos="50000">
                <a:srgbClr val="4A00A3"/>
              </a:gs>
              <a:gs pos="100000">
                <a:srgbClr val="41008F"/>
              </a:gs>
            </a:gsLst>
            <a:lin ang="5400000" scaled="0"/>
          </a:gradFill>
          <a:ln>
            <a:noFill/>
          </a:ln>
        </p:spPr>
      </p:sp>
      <p:grpSp>
        <p:nvGrpSpPr>
          <p:cNvPr id="321" name="Google Shape;321;p14"/>
          <p:cNvGrpSpPr/>
          <p:nvPr/>
        </p:nvGrpSpPr>
        <p:grpSpPr>
          <a:xfrm>
            <a:off x="11689134" y="5470326"/>
            <a:ext cx="2743496" cy="1649907"/>
            <a:chOff x="0" y="0"/>
            <a:chExt cx="3657994" cy="2199876"/>
          </a:xfrm>
        </p:grpSpPr>
        <p:sp>
          <p:nvSpPr>
            <p:cNvPr id="322" name="Google Shape;322;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323" name="Google Shape;323;p14"/>
            <p:cNvGrpSpPr/>
            <p:nvPr/>
          </p:nvGrpSpPr>
          <p:grpSpPr>
            <a:xfrm>
              <a:off x="0" y="0"/>
              <a:ext cx="3657994" cy="2199876"/>
              <a:chOff x="0" y="0"/>
              <a:chExt cx="3657994" cy="2199876"/>
            </a:xfrm>
          </p:grpSpPr>
          <p:sp>
            <p:nvSpPr>
              <p:cNvPr id="324" name="Google Shape;324;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25" name="Google Shape;325;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7. ¿Le ayudaría tener acceso rápido al historial de reparaciones anteriores de un vehículo para evitar datos incompletos?</a:t>
                </a:r>
                <a:endParaRPr/>
              </a:p>
            </p:txBody>
          </p:sp>
        </p:grpSp>
      </p:grpSp>
      <p:sp>
        <p:nvSpPr>
          <p:cNvPr id="326" name="Google Shape;326;p14"/>
          <p:cNvSpPr/>
          <p:nvPr/>
        </p:nvSpPr>
        <p:spPr>
          <a:xfrm>
            <a:off x="14701264" y="5475088"/>
            <a:ext cx="2733961" cy="1640395"/>
          </a:xfrm>
          <a:custGeom>
            <a:rect b="b" l="l" r="r" t="t"/>
            <a:pathLst>
              <a:path extrusionOk="0" h="2187194" w="3645281">
                <a:moveTo>
                  <a:pt x="0" y="0"/>
                </a:moveTo>
                <a:lnTo>
                  <a:pt x="3645281" y="0"/>
                </a:lnTo>
                <a:lnTo>
                  <a:pt x="3645281" y="2187194"/>
                </a:lnTo>
                <a:lnTo>
                  <a:pt x="0" y="2187194"/>
                </a:lnTo>
                <a:close/>
              </a:path>
            </a:pathLst>
          </a:custGeom>
          <a:gradFill>
            <a:gsLst>
              <a:gs pos="0">
                <a:srgbClr val="A56F00"/>
              </a:gs>
              <a:gs pos="50000">
                <a:srgbClr val="A13C00"/>
              </a:gs>
              <a:gs pos="100000">
                <a:srgbClr val="8E3500"/>
              </a:gs>
            </a:gsLst>
            <a:lin ang="5400000" scaled="0"/>
          </a:gradFill>
          <a:ln>
            <a:noFill/>
          </a:ln>
        </p:spPr>
      </p:sp>
      <p:grpSp>
        <p:nvGrpSpPr>
          <p:cNvPr id="327" name="Google Shape;327;p14"/>
          <p:cNvGrpSpPr/>
          <p:nvPr/>
        </p:nvGrpSpPr>
        <p:grpSpPr>
          <a:xfrm>
            <a:off x="14696502" y="5470326"/>
            <a:ext cx="2743496" cy="1649907"/>
            <a:chOff x="0" y="0"/>
            <a:chExt cx="3657994" cy="2199876"/>
          </a:xfrm>
        </p:grpSpPr>
        <p:sp>
          <p:nvSpPr>
            <p:cNvPr id="328" name="Google Shape;328;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329" name="Google Shape;329;p14"/>
            <p:cNvGrpSpPr/>
            <p:nvPr/>
          </p:nvGrpSpPr>
          <p:grpSpPr>
            <a:xfrm>
              <a:off x="0" y="0"/>
              <a:ext cx="3657994" cy="2199876"/>
              <a:chOff x="0" y="0"/>
              <a:chExt cx="3657994" cy="2199876"/>
            </a:xfrm>
          </p:grpSpPr>
          <p:sp>
            <p:nvSpPr>
              <p:cNvPr id="330" name="Google Shape;330;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31" name="Google Shape;331;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8. ¿Cuánto tiempo adicional dedica a buscar o confirmar información faltante en los encargos?</a:t>
                </a:r>
                <a:endParaRPr/>
              </a:p>
            </p:txBody>
          </p:sp>
        </p:grpSp>
      </p:grpSp>
      <p:sp>
        <p:nvSpPr>
          <p:cNvPr id="332" name="Google Shape;332;p14"/>
          <p:cNvSpPr/>
          <p:nvPr/>
        </p:nvSpPr>
        <p:spPr>
          <a:xfrm>
            <a:off x="10190212" y="7388868"/>
            <a:ext cx="2733961" cy="1640396"/>
          </a:xfrm>
          <a:custGeom>
            <a:rect b="b" l="l" r="r" t="t"/>
            <a:pathLst>
              <a:path extrusionOk="0" h="2187194" w="3645281">
                <a:moveTo>
                  <a:pt x="0" y="0"/>
                </a:moveTo>
                <a:lnTo>
                  <a:pt x="3645281" y="0"/>
                </a:lnTo>
                <a:lnTo>
                  <a:pt x="3645281" y="2187194"/>
                </a:lnTo>
                <a:lnTo>
                  <a:pt x="0" y="2187194"/>
                </a:lnTo>
                <a:close/>
              </a:path>
            </a:pathLst>
          </a:custGeom>
          <a:gradFill>
            <a:gsLst>
              <a:gs pos="0">
                <a:srgbClr val="4EA368"/>
              </a:gs>
              <a:gs pos="50000">
                <a:srgbClr val="00A02F"/>
              </a:gs>
              <a:gs pos="100000">
                <a:srgbClr val="008C29"/>
              </a:gs>
            </a:gsLst>
            <a:lin ang="5400000" scaled="0"/>
          </a:gradFill>
          <a:ln>
            <a:noFill/>
          </a:ln>
        </p:spPr>
      </p:sp>
      <p:grpSp>
        <p:nvGrpSpPr>
          <p:cNvPr id="333" name="Google Shape;333;p14"/>
          <p:cNvGrpSpPr/>
          <p:nvPr/>
        </p:nvGrpSpPr>
        <p:grpSpPr>
          <a:xfrm>
            <a:off x="10185450" y="7384105"/>
            <a:ext cx="2743496" cy="1649907"/>
            <a:chOff x="0" y="0"/>
            <a:chExt cx="3657994" cy="2199876"/>
          </a:xfrm>
        </p:grpSpPr>
        <p:sp>
          <p:nvSpPr>
            <p:cNvPr id="334" name="Google Shape;334;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335" name="Google Shape;335;p14"/>
            <p:cNvGrpSpPr/>
            <p:nvPr/>
          </p:nvGrpSpPr>
          <p:grpSpPr>
            <a:xfrm>
              <a:off x="0" y="0"/>
              <a:ext cx="3657994" cy="2199876"/>
              <a:chOff x="0" y="0"/>
              <a:chExt cx="3657994" cy="2199876"/>
            </a:xfrm>
          </p:grpSpPr>
          <p:sp>
            <p:nvSpPr>
              <p:cNvPr id="336" name="Google Shape;336;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37" name="Google Shape;337;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9.Si existiera un sistema donde todos los datos del cliente y su vehículo estén centralizados, ¿cree que reduciría los errores en los encargos?</a:t>
                </a:r>
                <a:endParaRPr/>
              </a:p>
            </p:txBody>
          </p:sp>
        </p:grpSp>
      </p:grpSp>
      <p:sp>
        <p:nvSpPr>
          <p:cNvPr id="338" name="Google Shape;338;p14"/>
          <p:cNvSpPr/>
          <p:nvPr/>
        </p:nvSpPr>
        <p:spPr>
          <a:xfrm>
            <a:off x="13197580" y="7388868"/>
            <a:ext cx="2733961" cy="1640396"/>
          </a:xfrm>
          <a:custGeom>
            <a:rect b="b" l="l" r="r" t="t"/>
            <a:pathLst>
              <a:path extrusionOk="0" h="2187194" w="3645281">
                <a:moveTo>
                  <a:pt x="0" y="0"/>
                </a:moveTo>
                <a:lnTo>
                  <a:pt x="3645281" y="0"/>
                </a:lnTo>
                <a:lnTo>
                  <a:pt x="3645281" y="2187194"/>
                </a:lnTo>
                <a:lnTo>
                  <a:pt x="0" y="2187194"/>
                </a:lnTo>
                <a:close/>
              </a:path>
            </a:pathLst>
          </a:custGeom>
          <a:gradFill>
            <a:gsLst>
              <a:gs pos="0">
                <a:srgbClr val="614FA0"/>
              </a:gs>
              <a:gs pos="50000">
                <a:srgbClr val="22019E"/>
              </a:gs>
              <a:gs pos="100000">
                <a:srgbClr val="1D008B"/>
              </a:gs>
            </a:gsLst>
            <a:lin ang="5400000" scaled="0"/>
          </a:gradFill>
          <a:ln>
            <a:noFill/>
          </a:ln>
        </p:spPr>
      </p:sp>
      <p:grpSp>
        <p:nvGrpSpPr>
          <p:cNvPr id="339" name="Google Shape;339;p14"/>
          <p:cNvGrpSpPr/>
          <p:nvPr/>
        </p:nvGrpSpPr>
        <p:grpSpPr>
          <a:xfrm>
            <a:off x="13192818" y="7384105"/>
            <a:ext cx="2743496" cy="1649907"/>
            <a:chOff x="0" y="0"/>
            <a:chExt cx="3657994" cy="2199876"/>
          </a:xfrm>
        </p:grpSpPr>
        <p:sp>
          <p:nvSpPr>
            <p:cNvPr id="340" name="Google Shape;340;p14"/>
            <p:cNvSpPr/>
            <p:nvPr/>
          </p:nvSpPr>
          <p:spPr>
            <a:xfrm>
              <a:off x="0" y="0"/>
              <a:ext cx="3657994" cy="2199876"/>
            </a:xfrm>
            <a:custGeom>
              <a:rect b="b" l="l" r="r" t="t"/>
              <a:pathLst>
                <a:path extrusionOk="0" h="2199876" w="3657994">
                  <a:moveTo>
                    <a:pt x="0" y="0"/>
                  </a:moveTo>
                  <a:lnTo>
                    <a:pt x="3657994" y="0"/>
                  </a:lnTo>
                  <a:lnTo>
                    <a:pt x="3657994" y="2199876"/>
                  </a:lnTo>
                  <a:lnTo>
                    <a:pt x="0" y="2199876"/>
                  </a:lnTo>
                  <a:lnTo>
                    <a:pt x="0" y="0"/>
                  </a:lnTo>
                  <a:close/>
                </a:path>
              </a:pathLst>
            </a:custGeom>
            <a:blipFill rotWithShape="1">
              <a:blip r:embed="rId6">
                <a:alphaModFix/>
              </a:blip>
              <a:stretch>
                <a:fillRect b="0" l="0" r="0" t="0"/>
              </a:stretch>
            </a:blipFill>
            <a:ln>
              <a:noFill/>
            </a:ln>
          </p:spPr>
        </p:sp>
        <p:grpSp>
          <p:nvGrpSpPr>
            <p:cNvPr id="341" name="Google Shape;341;p14"/>
            <p:cNvGrpSpPr/>
            <p:nvPr/>
          </p:nvGrpSpPr>
          <p:grpSpPr>
            <a:xfrm>
              <a:off x="0" y="0"/>
              <a:ext cx="3657994" cy="2199876"/>
              <a:chOff x="0" y="0"/>
              <a:chExt cx="3657994" cy="2199876"/>
            </a:xfrm>
          </p:grpSpPr>
          <p:sp>
            <p:nvSpPr>
              <p:cNvPr id="342" name="Google Shape;342;p14"/>
              <p:cNvSpPr/>
              <p:nvPr/>
            </p:nvSpPr>
            <p:spPr>
              <a:xfrm>
                <a:off x="0" y="0"/>
                <a:ext cx="3657994" cy="2199876"/>
              </a:xfrm>
              <a:custGeom>
                <a:rect b="b" l="l" r="r" t="t"/>
                <a:pathLst>
                  <a:path extrusionOk="0" h="2199876" w="3657994">
                    <a:moveTo>
                      <a:pt x="0" y="0"/>
                    </a:moveTo>
                    <a:lnTo>
                      <a:pt x="3657994" y="0"/>
                    </a:lnTo>
                    <a:lnTo>
                      <a:pt x="3657994" y="2199876"/>
                    </a:lnTo>
                    <a:lnTo>
                      <a:pt x="0" y="2199876"/>
                    </a:lnTo>
                    <a:close/>
                  </a:path>
                </a:pathLst>
              </a:custGeom>
              <a:solidFill>
                <a:srgbClr val="000000">
                  <a:alpha val="0"/>
                </a:srgbClr>
              </a:solidFill>
              <a:ln>
                <a:noFill/>
              </a:ln>
            </p:spPr>
          </p:sp>
          <p:sp>
            <p:nvSpPr>
              <p:cNvPr id="343" name="Google Shape;343;p14"/>
              <p:cNvSpPr txBox="1"/>
              <p:nvPr/>
            </p:nvSpPr>
            <p:spPr>
              <a:xfrm>
                <a:off x="0" y="0"/>
                <a:ext cx="3657994" cy="219987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500" u="none" cap="none" strike="noStrike">
                    <a:solidFill>
                      <a:srgbClr val="FFFFFF"/>
                    </a:solidFill>
                    <a:latin typeface="Arimo"/>
                    <a:ea typeface="Arimo"/>
                    <a:cs typeface="Arimo"/>
                    <a:sym typeface="Arimo"/>
                  </a:rPr>
                  <a:t>10. ¿Estaría dispuesto a adaptarse a un sistema digitalizado de registro si esto optimiza el proceso?</a:t>
                </a: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5"/>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000000"/>
          </a:solidFill>
          <a:ln cap="flat" cmpd="sng" w="12700">
            <a:solidFill>
              <a:srgbClr val="000000"/>
            </a:solidFill>
            <a:prstDash val="solid"/>
            <a:round/>
            <a:headEnd len="sm" w="sm" type="none"/>
            <a:tailEnd len="sm" w="sm" type="none"/>
          </a:ln>
        </p:spPr>
      </p:sp>
      <p:grpSp>
        <p:nvGrpSpPr>
          <p:cNvPr id="349" name="Google Shape;349;p15"/>
          <p:cNvGrpSpPr/>
          <p:nvPr/>
        </p:nvGrpSpPr>
        <p:grpSpPr>
          <a:xfrm>
            <a:off x="1261872" y="640080"/>
            <a:ext cx="15759685" cy="2878712"/>
            <a:chOff x="0" y="0"/>
            <a:chExt cx="21012913" cy="3838282"/>
          </a:xfrm>
        </p:grpSpPr>
        <p:sp>
          <p:nvSpPr>
            <p:cNvPr id="350" name="Google Shape;350;p15"/>
            <p:cNvSpPr/>
            <p:nvPr/>
          </p:nvSpPr>
          <p:spPr>
            <a:xfrm>
              <a:off x="0" y="0"/>
              <a:ext cx="21012913" cy="3838282"/>
            </a:xfrm>
            <a:custGeom>
              <a:rect b="b" l="l" r="r" t="t"/>
              <a:pathLst>
                <a:path extrusionOk="0" h="3838282" w="21012913">
                  <a:moveTo>
                    <a:pt x="0" y="0"/>
                  </a:moveTo>
                  <a:lnTo>
                    <a:pt x="21012913" y="0"/>
                  </a:lnTo>
                  <a:lnTo>
                    <a:pt x="21012913" y="3838282"/>
                  </a:lnTo>
                  <a:lnTo>
                    <a:pt x="0" y="3838282"/>
                  </a:lnTo>
                  <a:close/>
                </a:path>
              </a:pathLst>
            </a:custGeom>
            <a:solidFill>
              <a:srgbClr val="000000">
                <a:alpha val="0"/>
              </a:srgbClr>
            </a:solidFill>
            <a:ln>
              <a:noFill/>
            </a:ln>
          </p:spPr>
        </p:sp>
        <p:sp>
          <p:nvSpPr>
            <p:cNvPr id="351" name="Google Shape;351;p15"/>
            <p:cNvSpPr txBox="1"/>
            <p:nvPr/>
          </p:nvSpPr>
          <p:spPr>
            <a:xfrm>
              <a:off x="0" y="66675"/>
              <a:ext cx="21012912" cy="3771607"/>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None/>
              </a:pPr>
              <a:r>
                <a:rPr b="1" i="0" lang="en-US" sz="9000" u="none" cap="none" strike="noStrike">
                  <a:solidFill>
                    <a:srgbClr val="FFFFFF"/>
                  </a:solidFill>
                  <a:latin typeface="Arimo"/>
                  <a:ea typeface="Arimo"/>
                  <a:cs typeface="Arimo"/>
                  <a:sym typeface="Arimo"/>
                </a:rPr>
                <a:t>Recoleccion de Informacion</a:t>
              </a:r>
              <a:endParaRPr/>
            </a:p>
          </p:txBody>
        </p:sp>
      </p:grpSp>
      <p:sp>
        <p:nvSpPr>
          <p:cNvPr id="352" name="Google Shape;352;p15"/>
          <p:cNvSpPr/>
          <p:nvPr/>
        </p:nvSpPr>
        <p:spPr>
          <a:xfrm>
            <a:off x="1298930" y="4349890"/>
            <a:ext cx="15677389" cy="27432"/>
          </a:xfrm>
          <a:custGeom>
            <a:rect b="b" l="l" r="r" t="t"/>
            <a:pathLst>
              <a:path extrusionOk="0" h="36576" w="20903185">
                <a:moveTo>
                  <a:pt x="0" y="0"/>
                </a:moveTo>
                <a:lnTo>
                  <a:pt x="20903185" y="0"/>
                </a:lnTo>
                <a:lnTo>
                  <a:pt x="20903185" y="36576"/>
                </a:lnTo>
                <a:lnTo>
                  <a:pt x="0" y="36576"/>
                </a:lnTo>
                <a:close/>
              </a:path>
            </a:pathLst>
          </a:custGeom>
          <a:solidFill>
            <a:srgbClr val="FFFFFF"/>
          </a:solidFill>
          <a:ln cap="flat" cmpd="sng" w="12700">
            <a:solidFill>
              <a:srgbClr val="000000"/>
            </a:solidFill>
            <a:prstDash val="solid"/>
            <a:round/>
            <a:headEnd len="sm" w="sm" type="none"/>
            <a:tailEnd len="sm" w="sm" type="none"/>
          </a:ln>
        </p:spPr>
      </p:sp>
      <p:sp>
        <p:nvSpPr>
          <p:cNvPr id="353" name="Google Shape;353;p15"/>
          <p:cNvSpPr/>
          <p:nvPr/>
        </p:nvSpPr>
        <p:spPr>
          <a:xfrm>
            <a:off x="1298930" y="4144150"/>
            <a:ext cx="2810161" cy="205740"/>
          </a:xfrm>
          <a:custGeom>
            <a:rect b="b" l="l" r="r" t="t"/>
            <a:pathLst>
              <a:path extrusionOk="0" h="274320" w="3746881">
                <a:moveTo>
                  <a:pt x="0" y="274320"/>
                </a:moveTo>
                <a:lnTo>
                  <a:pt x="3746881" y="274320"/>
                </a:lnTo>
                <a:lnTo>
                  <a:pt x="3746881" y="0"/>
                </a:lnTo>
                <a:lnTo>
                  <a:pt x="0" y="0"/>
                </a:lnTo>
                <a:close/>
              </a:path>
            </a:pathLst>
          </a:custGeom>
          <a:solidFill>
            <a:srgbClr val="00A5AB"/>
          </a:solidFill>
          <a:ln cap="flat" cmpd="sng" w="12700">
            <a:solidFill>
              <a:srgbClr val="000000"/>
            </a:solidFill>
            <a:prstDash val="solid"/>
            <a:round/>
            <a:headEnd len="sm" w="sm" type="none"/>
            <a:tailEnd len="sm" w="sm" type="none"/>
          </a:ln>
        </p:spPr>
      </p:sp>
      <p:grpSp>
        <p:nvGrpSpPr>
          <p:cNvPr id="354" name="Google Shape;354;p15"/>
          <p:cNvGrpSpPr/>
          <p:nvPr/>
        </p:nvGrpSpPr>
        <p:grpSpPr>
          <a:xfrm>
            <a:off x="90297" y="5603259"/>
            <a:ext cx="2274475" cy="1376076"/>
            <a:chOff x="0" y="0"/>
            <a:chExt cx="3032633" cy="1834769"/>
          </a:xfrm>
        </p:grpSpPr>
        <p:sp>
          <p:nvSpPr>
            <p:cNvPr id="355" name="Google Shape;355;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00A5A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15"/>
          <p:cNvGrpSpPr/>
          <p:nvPr/>
        </p:nvGrpSpPr>
        <p:grpSpPr>
          <a:xfrm>
            <a:off x="129764" y="5628439"/>
            <a:ext cx="2195475" cy="1311428"/>
            <a:chOff x="0" y="-19050"/>
            <a:chExt cx="2927300" cy="1748572"/>
          </a:xfrm>
        </p:grpSpPr>
        <p:sp>
          <p:nvSpPr>
            <p:cNvPr id="358" name="Google Shape;358;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359" name="Google Shape;359;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Calibri"/>
                  <a:ea typeface="Calibri"/>
                  <a:cs typeface="Calibri"/>
                  <a:sym typeface="Calibri"/>
                </a:rPr>
                <a:t>Jefe de Taller - Entrevista - Mabel Chaparro</a:t>
              </a:r>
              <a:endParaRPr/>
            </a:p>
          </p:txBody>
        </p:sp>
      </p:grpSp>
      <p:sp>
        <p:nvSpPr>
          <p:cNvPr id="360" name="Google Shape;360;p15"/>
          <p:cNvSpPr/>
          <p:nvPr/>
        </p:nvSpPr>
        <p:spPr>
          <a:xfrm>
            <a:off x="2548052" y="6012813"/>
            <a:ext cx="476154"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00A5AB"/>
          </a:solidFill>
          <a:ln cap="flat" cmpd="sng" w="12700">
            <a:solidFill>
              <a:srgbClr val="000000"/>
            </a:solidFill>
            <a:prstDash val="solid"/>
            <a:round/>
            <a:headEnd len="sm" w="sm" type="none"/>
            <a:tailEnd len="sm" w="sm" type="none"/>
          </a:ln>
        </p:spPr>
      </p:sp>
      <p:grpSp>
        <p:nvGrpSpPr>
          <p:cNvPr id="361" name="Google Shape;361;p15"/>
          <p:cNvGrpSpPr/>
          <p:nvPr/>
        </p:nvGrpSpPr>
        <p:grpSpPr>
          <a:xfrm>
            <a:off x="3234464" y="5603259"/>
            <a:ext cx="2274475" cy="1376076"/>
            <a:chOff x="0" y="0"/>
            <a:chExt cx="3032633" cy="1834769"/>
          </a:xfrm>
        </p:grpSpPr>
        <p:sp>
          <p:nvSpPr>
            <p:cNvPr id="362" name="Google Shape;362;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09963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15"/>
          <p:cNvGrpSpPr/>
          <p:nvPr/>
        </p:nvGrpSpPr>
        <p:grpSpPr>
          <a:xfrm>
            <a:off x="3273930" y="5628439"/>
            <a:ext cx="2195475" cy="1311428"/>
            <a:chOff x="0" y="-19050"/>
            <a:chExt cx="2927300" cy="1748572"/>
          </a:xfrm>
        </p:grpSpPr>
        <p:sp>
          <p:nvSpPr>
            <p:cNvPr id="365" name="Google Shape;365;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366" name="Google Shape;366;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Calibri"/>
                  <a:ea typeface="Calibri"/>
                  <a:cs typeface="Calibri"/>
                  <a:sym typeface="Calibri"/>
                </a:rPr>
                <a:t>1.</a:t>
              </a:r>
              <a:r>
                <a:rPr b="0" i="0" lang="en-US" sz="1800" u="none" cap="none" strike="noStrike">
                  <a:solidFill>
                    <a:srgbClr val="FFFFFF"/>
                  </a:solidFill>
                  <a:latin typeface="Calibri"/>
                  <a:ea typeface="Calibri"/>
                  <a:cs typeface="Calibri"/>
                  <a:sym typeface="Calibri"/>
                </a:rPr>
                <a:t> ¿Cuáles son las medidas de seguridad actuales para prevenir la pérdida de elementosen el taller?</a:t>
              </a:r>
              <a:endParaRPr/>
            </a:p>
          </p:txBody>
        </p:sp>
      </p:grpSp>
      <p:sp>
        <p:nvSpPr>
          <p:cNvPr id="367" name="Google Shape;367;p15"/>
          <p:cNvSpPr/>
          <p:nvPr/>
        </p:nvSpPr>
        <p:spPr>
          <a:xfrm>
            <a:off x="5692220" y="6012813"/>
            <a:ext cx="476154"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09963B"/>
          </a:solidFill>
          <a:ln cap="flat" cmpd="sng" w="12700">
            <a:solidFill>
              <a:srgbClr val="000000"/>
            </a:solidFill>
            <a:prstDash val="solid"/>
            <a:round/>
            <a:headEnd len="sm" w="sm" type="none"/>
            <a:tailEnd len="sm" w="sm" type="none"/>
          </a:ln>
        </p:spPr>
      </p:sp>
      <p:grpSp>
        <p:nvGrpSpPr>
          <p:cNvPr id="368" name="Google Shape;368;p15"/>
          <p:cNvGrpSpPr/>
          <p:nvPr/>
        </p:nvGrpSpPr>
        <p:grpSpPr>
          <a:xfrm>
            <a:off x="6378632" y="5603259"/>
            <a:ext cx="2274475" cy="1376076"/>
            <a:chOff x="0" y="0"/>
            <a:chExt cx="3032633" cy="1834769"/>
          </a:xfrm>
        </p:grpSpPr>
        <p:sp>
          <p:nvSpPr>
            <p:cNvPr id="369" name="Google Shape;369;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E64823"/>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 name="Google Shape;371;p15"/>
          <p:cNvGrpSpPr/>
          <p:nvPr/>
        </p:nvGrpSpPr>
        <p:grpSpPr>
          <a:xfrm>
            <a:off x="6418098" y="5628439"/>
            <a:ext cx="2195475" cy="1311428"/>
            <a:chOff x="0" y="-19050"/>
            <a:chExt cx="2927300" cy="1748572"/>
          </a:xfrm>
        </p:grpSpPr>
        <p:sp>
          <p:nvSpPr>
            <p:cNvPr id="372" name="Google Shape;372;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373" name="Google Shape;373;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Calibri"/>
                  <a:ea typeface="Calibri"/>
                  <a:cs typeface="Calibri"/>
                  <a:sym typeface="Calibri"/>
                </a:rPr>
                <a:t>2.</a:t>
              </a:r>
              <a:r>
                <a:rPr b="0" i="0" lang="en-US" sz="1800" u="none" cap="none" strike="noStrike">
                  <a:solidFill>
                    <a:srgbClr val="FFFFFF"/>
                  </a:solidFill>
                  <a:latin typeface="Calibri"/>
                  <a:ea typeface="Calibri"/>
                  <a:cs typeface="Calibri"/>
                  <a:sym typeface="Calibri"/>
                </a:rPr>
                <a:t> ¿Cuáles son los principales desafíos que enfrenta el taller y cómo se abordan?</a:t>
              </a:r>
              <a:endParaRPr/>
            </a:p>
          </p:txBody>
        </p:sp>
      </p:grpSp>
      <p:sp>
        <p:nvSpPr>
          <p:cNvPr id="374" name="Google Shape;374;p15"/>
          <p:cNvSpPr/>
          <p:nvPr/>
        </p:nvSpPr>
        <p:spPr>
          <a:xfrm>
            <a:off x="8836388" y="6012813"/>
            <a:ext cx="476154"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E64823"/>
          </a:solidFill>
          <a:ln cap="flat" cmpd="sng" w="12700">
            <a:solidFill>
              <a:srgbClr val="000000"/>
            </a:solidFill>
            <a:prstDash val="solid"/>
            <a:round/>
            <a:headEnd len="sm" w="sm" type="none"/>
            <a:tailEnd len="sm" w="sm" type="none"/>
          </a:ln>
        </p:spPr>
      </p:sp>
      <p:grpSp>
        <p:nvGrpSpPr>
          <p:cNvPr id="375" name="Google Shape;375;p15"/>
          <p:cNvGrpSpPr/>
          <p:nvPr/>
        </p:nvGrpSpPr>
        <p:grpSpPr>
          <a:xfrm>
            <a:off x="9522800" y="5603259"/>
            <a:ext cx="2274475" cy="1376076"/>
            <a:chOff x="0" y="0"/>
            <a:chExt cx="3032633" cy="1834769"/>
          </a:xfrm>
        </p:grpSpPr>
        <p:sp>
          <p:nvSpPr>
            <p:cNvPr id="376" name="Google Shape;376;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9C6A6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5"/>
          <p:cNvGrpSpPr/>
          <p:nvPr/>
        </p:nvGrpSpPr>
        <p:grpSpPr>
          <a:xfrm>
            <a:off x="9562266" y="5628439"/>
            <a:ext cx="2195475" cy="1311428"/>
            <a:chOff x="0" y="-19050"/>
            <a:chExt cx="2927300" cy="1748572"/>
          </a:xfrm>
        </p:grpSpPr>
        <p:sp>
          <p:nvSpPr>
            <p:cNvPr id="379" name="Google Shape;379;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380" name="Google Shape;380;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Calibri"/>
                  <a:ea typeface="Calibri"/>
                  <a:cs typeface="Calibri"/>
                  <a:sym typeface="Calibri"/>
                </a:rPr>
                <a:t>3.</a:t>
              </a:r>
              <a:r>
                <a:rPr b="0" i="0" lang="en-US" sz="1800" u="none" cap="none" strike="noStrike">
                  <a:solidFill>
                    <a:srgbClr val="FFFFFF"/>
                  </a:solidFill>
                  <a:latin typeface="Calibri"/>
                  <a:ea typeface="Calibri"/>
                  <a:cs typeface="Calibri"/>
                  <a:sym typeface="Calibri"/>
                </a:rPr>
                <a:t> ¿Cómo se planifica y organiza el trabajo en el taller?</a:t>
              </a:r>
              <a:endParaRPr/>
            </a:p>
          </p:txBody>
        </p:sp>
      </p:grpSp>
      <p:sp>
        <p:nvSpPr>
          <p:cNvPr id="381" name="Google Shape;381;p15"/>
          <p:cNvSpPr/>
          <p:nvPr/>
        </p:nvSpPr>
        <p:spPr>
          <a:xfrm>
            <a:off x="11980554" y="6012813"/>
            <a:ext cx="476155"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9C6A6A"/>
          </a:solidFill>
          <a:ln cap="flat" cmpd="sng" w="12700">
            <a:solidFill>
              <a:srgbClr val="000000"/>
            </a:solidFill>
            <a:prstDash val="solid"/>
            <a:round/>
            <a:headEnd len="sm" w="sm" type="none"/>
            <a:tailEnd len="sm" w="sm" type="none"/>
          </a:ln>
        </p:spPr>
      </p:sp>
      <p:grpSp>
        <p:nvGrpSpPr>
          <p:cNvPr id="382" name="Google Shape;382;p15"/>
          <p:cNvGrpSpPr/>
          <p:nvPr/>
        </p:nvGrpSpPr>
        <p:grpSpPr>
          <a:xfrm>
            <a:off x="12666968" y="5603259"/>
            <a:ext cx="2274475" cy="1376076"/>
            <a:chOff x="0" y="0"/>
            <a:chExt cx="3032633" cy="1834769"/>
          </a:xfrm>
        </p:grpSpPr>
        <p:sp>
          <p:nvSpPr>
            <p:cNvPr id="383" name="Google Shape;383;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824F8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 name="Google Shape;385;p15"/>
          <p:cNvGrpSpPr/>
          <p:nvPr/>
        </p:nvGrpSpPr>
        <p:grpSpPr>
          <a:xfrm>
            <a:off x="12706434" y="5635582"/>
            <a:ext cx="2195475" cy="1304285"/>
            <a:chOff x="0" y="-9525"/>
            <a:chExt cx="2927300" cy="1739047"/>
          </a:xfrm>
        </p:grpSpPr>
        <p:sp>
          <p:nvSpPr>
            <p:cNvPr id="386" name="Google Shape;386;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387" name="Google Shape;387;p15"/>
            <p:cNvSpPr txBox="1"/>
            <p:nvPr/>
          </p:nvSpPr>
          <p:spPr>
            <a:xfrm>
              <a:off x="0" y="-9525"/>
              <a:ext cx="2927300" cy="1739047"/>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650" u="none" cap="none" strike="noStrike">
                  <a:solidFill>
                    <a:srgbClr val="FFFFFF"/>
                  </a:solidFill>
                  <a:latin typeface="Calibri"/>
                  <a:ea typeface="Calibri"/>
                  <a:cs typeface="Calibri"/>
                  <a:sym typeface="Calibri"/>
                </a:rPr>
                <a:t>4.</a:t>
              </a:r>
              <a:r>
                <a:rPr b="0" i="0" lang="en-US" sz="1650" u="none" cap="none" strike="noStrike">
                  <a:solidFill>
                    <a:srgbClr val="FFFFFF"/>
                  </a:solidFill>
                  <a:latin typeface="Calibri"/>
                  <a:ea typeface="Calibri"/>
                  <a:cs typeface="Calibri"/>
                  <a:sym typeface="Calibri"/>
                </a:rPr>
                <a:t> ¿Se están implementando cambios en los procesos o procedimientos para reducir lapérdida de elementos? </a:t>
              </a:r>
              <a:endParaRPr/>
            </a:p>
          </p:txBody>
        </p:sp>
      </p:grpSp>
      <p:sp>
        <p:nvSpPr>
          <p:cNvPr id="388" name="Google Shape;388;p15"/>
          <p:cNvSpPr/>
          <p:nvPr/>
        </p:nvSpPr>
        <p:spPr>
          <a:xfrm>
            <a:off x="15124722" y="6012813"/>
            <a:ext cx="476155"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824F8C"/>
          </a:solidFill>
          <a:ln cap="flat" cmpd="sng" w="12700">
            <a:solidFill>
              <a:srgbClr val="000000"/>
            </a:solidFill>
            <a:prstDash val="solid"/>
            <a:round/>
            <a:headEnd len="sm" w="sm" type="none"/>
            <a:tailEnd len="sm" w="sm" type="none"/>
          </a:ln>
        </p:spPr>
      </p:sp>
      <p:grpSp>
        <p:nvGrpSpPr>
          <p:cNvPr id="389" name="Google Shape;389;p15"/>
          <p:cNvGrpSpPr/>
          <p:nvPr/>
        </p:nvGrpSpPr>
        <p:grpSpPr>
          <a:xfrm>
            <a:off x="15811136" y="5603259"/>
            <a:ext cx="2274475" cy="1376076"/>
            <a:chOff x="0" y="0"/>
            <a:chExt cx="3032633" cy="1834769"/>
          </a:xfrm>
        </p:grpSpPr>
        <p:sp>
          <p:nvSpPr>
            <p:cNvPr id="390" name="Google Shape;390;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00A5A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 name="Google Shape;392;p15"/>
          <p:cNvGrpSpPr/>
          <p:nvPr/>
        </p:nvGrpSpPr>
        <p:grpSpPr>
          <a:xfrm>
            <a:off x="15850602" y="5628439"/>
            <a:ext cx="2195475" cy="1311428"/>
            <a:chOff x="0" y="-19050"/>
            <a:chExt cx="2927300" cy="1748572"/>
          </a:xfrm>
        </p:grpSpPr>
        <p:sp>
          <p:nvSpPr>
            <p:cNvPr id="393" name="Google Shape;393;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394" name="Google Shape;394;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Calibri"/>
                  <a:ea typeface="Calibri"/>
                  <a:cs typeface="Calibri"/>
                  <a:sym typeface="Calibri"/>
                </a:rPr>
                <a:t>5.</a:t>
              </a:r>
              <a:r>
                <a:rPr b="0" i="0" lang="en-US" sz="1800" u="none" cap="none" strike="noStrike">
                  <a:solidFill>
                    <a:srgbClr val="FFFFFF"/>
                  </a:solidFill>
                  <a:latin typeface="Calibri"/>
                  <a:ea typeface="Calibri"/>
                  <a:cs typeface="Calibri"/>
                  <a:sym typeface="Calibri"/>
                </a:rPr>
                <a:t> ¿Se están considerando opciones de seguro para cubrir la pérdida de elementos?</a:t>
              </a:r>
              <a:endParaRPr/>
            </a:p>
          </p:txBody>
        </p:sp>
      </p:grpSp>
      <p:sp>
        <p:nvSpPr>
          <p:cNvPr id="395" name="Google Shape;395;p15"/>
          <p:cNvSpPr/>
          <p:nvPr/>
        </p:nvSpPr>
        <p:spPr>
          <a:xfrm rot="5400000">
            <a:off x="16710283" y="7122294"/>
            <a:ext cx="476155"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00A5AB"/>
          </a:solidFill>
          <a:ln cap="flat" cmpd="sng" w="12700">
            <a:solidFill>
              <a:srgbClr val="000000"/>
            </a:solidFill>
            <a:prstDash val="solid"/>
            <a:round/>
            <a:headEnd len="sm" w="sm" type="none"/>
            <a:tailEnd len="sm" w="sm" type="none"/>
          </a:ln>
        </p:spPr>
      </p:sp>
      <p:grpSp>
        <p:nvGrpSpPr>
          <p:cNvPr id="396" name="Google Shape;396;p15"/>
          <p:cNvGrpSpPr/>
          <p:nvPr/>
        </p:nvGrpSpPr>
        <p:grpSpPr>
          <a:xfrm>
            <a:off x="15811136" y="7849093"/>
            <a:ext cx="2274475" cy="1376077"/>
            <a:chOff x="0" y="0"/>
            <a:chExt cx="3032633" cy="1834769"/>
          </a:xfrm>
        </p:grpSpPr>
        <p:sp>
          <p:nvSpPr>
            <p:cNvPr id="397" name="Google Shape;397;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09963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 name="Google Shape;399;p15"/>
          <p:cNvGrpSpPr/>
          <p:nvPr/>
        </p:nvGrpSpPr>
        <p:grpSpPr>
          <a:xfrm>
            <a:off x="15850602" y="7881416"/>
            <a:ext cx="2195475" cy="1304286"/>
            <a:chOff x="0" y="-9525"/>
            <a:chExt cx="2927300" cy="1739047"/>
          </a:xfrm>
        </p:grpSpPr>
        <p:sp>
          <p:nvSpPr>
            <p:cNvPr id="400" name="Google Shape;400;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401" name="Google Shape;401;p15"/>
            <p:cNvSpPr txBox="1"/>
            <p:nvPr/>
          </p:nvSpPr>
          <p:spPr>
            <a:xfrm>
              <a:off x="0" y="-9525"/>
              <a:ext cx="2927300" cy="1739047"/>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650" u="none" cap="none" strike="noStrike">
                  <a:solidFill>
                    <a:srgbClr val="FFFFFF"/>
                  </a:solidFill>
                  <a:latin typeface="Calibri"/>
                  <a:ea typeface="Calibri"/>
                  <a:cs typeface="Calibri"/>
                  <a:sym typeface="Calibri"/>
                </a:rPr>
                <a:t>6. ¿Cuáles son los plane de crecimiento y desarrollo para el taller en el futuro?</a:t>
              </a:r>
              <a:endParaRPr/>
            </a:p>
          </p:txBody>
        </p:sp>
      </p:grpSp>
      <p:sp>
        <p:nvSpPr>
          <p:cNvPr id="402" name="Google Shape;402;p15"/>
          <p:cNvSpPr/>
          <p:nvPr/>
        </p:nvSpPr>
        <p:spPr>
          <a:xfrm rot="10800000">
            <a:off x="15151635" y="8258688"/>
            <a:ext cx="476155"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09963B"/>
          </a:solidFill>
          <a:ln cap="flat" cmpd="sng" w="12700">
            <a:solidFill>
              <a:srgbClr val="000000"/>
            </a:solidFill>
            <a:prstDash val="solid"/>
            <a:round/>
            <a:headEnd len="sm" w="sm" type="none"/>
            <a:tailEnd len="sm" w="sm" type="none"/>
          </a:ln>
        </p:spPr>
      </p:sp>
      <p:grpSp>
        <p:nvGrpSpPr>
          <p:cNvPr id="403" name="Google Shape;403;p15"/>
          <p:cNvGrpSpPr/>
          <p:nvPr/>
        </p:nvGrpSpPr>
        <p:grpSpPr>
          <a:xfrm>
            <a:off x="12666968" y="7849093"/>
            <a:ext cx="2274475" cy="1376077"/>
            <a:chOff x="0" y="0"/>
            <a:chExt cx="3032633" cy="1834769"/>
          </a:xfrm>
        </p:grpSpPr>
        <p:sp>
          <p:nvSpPr>
            <p:cNvPr id="404" name="Google Shape;404;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E64823"/>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 name="Google Shape;406;p15"/>
          <p:cNvGrpSpPr/>
          <p:nvPr/>
        </p:nvGrpSpPr>
        <p:grpSpPr>
          <a:xfrm>
            <a:off x="12706434" y="7874272"/>
            <a:ext cx="2195475" cy="1311430"/>
            <a:chOff x="0" y="-19050"/>
            <a:chExt cx="2927300" cy="1748572"/>
          </a:xfrm>
        </p:grpSpPr>
        <p:sp>
          <p:nvSpPr>
            <p:cNvPr id="407" name="Google Shape;407;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408" name="Google Shape;408;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800" u="none" cap="none" strike="noStrike">
                  <a:solidFill>
                    <a:srgbClr val="FFFFFF"/>
                  </a:solidFill>
                  <a:latin typeface="Calibri"/>
                  <a:ea typeface="Calibri"/>
                  <a:cs typeface="Calibri"/>
                  <a:sym typeface="Calibri"/>
                </a:rPr>
                <a:t>7. ¿Cómo se garantiza la calidad del trabajo realizado en el taller?</a:t>
              </a:r>
              <a:endParaRPr/>
            </a:p>
          </p:txBody>
        </p:sp>
      </p:grpSp>
      <p:sp>
        <p:nvSpPr>
          <p:cNvPr id="409" name="Google Shape;409;p15"/>
          <p:cNvSpPr/>
          <p:nvPr/>
        </p:nvSpPr>
        <p:spPr>
          <a:xfrm rot="10800000">
            <a:off x="12007466" y="8258688"/>
            <a:ext cx="476155"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E64823"/>
          </a:solidFill>
          <a:ln cap="flat" cmpd="sng" w="12700">
            <a:solidFill>
              <a:srgbClr val="000000"/>
            </a:solidFill>
            <a:prstDash val="solid"/>
            <a:round/>
            <a:headEnd len="sm" w="sm" type="none"/>
            <a:tailEnd len="sm" w="sm" type="none"/>
          </a:ln>
        </p:spPr>
      </p:sp>
      <p:grpSp>
        <p:nvGrpSpPr>
          <p:cNvPr id="410" name="Google Shape;410;p15"/>
          <p:cNvGrpSpPr/>
          <p:nvPr/>
        </p:nvGrpSpPr>
        <p:grpSpPr>
          <a:xfrm>
            <a:off x="9522800" y="7849093"/>
            <a:ext cx="2274475" cy="1376077"/>
            <a:chOff x="0" y="0"/>
            <a:chExt cx="3032633" cy="1834769"/>
          </a:xfrm>
        </p:grpSpPr>
        <p:sp>
          <p:nvSpPr>
            <p:cNvPr id="411" name="Google Shape;411;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9C6A6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 name="Google Shape;413;p15"/>
          <p:cNvGrpSpPr/>
          <p:nvPr/>
        </p:nvGrpSpPr>
        <p:grpSpPr>
          <a:xfrm>
            <a:off x="9562266" y="7874272"/>
            <a:ext cx="2195475" cy="1311430"/>
            <a:chOff x="0" y="-19050"/>
            <a:chExt cx="2927300" cy="1748572"/>
          </a:xfrm>
        </p:grpSpPr>
        <p:sp>
          <p:nvSpPr>
            <p:cNvPr id="414" name="Google Shape;414;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415" name="Google Shape;415;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800" u="none" cap="none" strike="noStrike">
                  <a:solidFill>
                    <a:srgbClr val="FFFFFF"/>
                  </a:solidFill>
                  <a:latin typeface="Calibri"/>
                  <a:ea typeface="Calibri"/>
                  <a:cs typeface="Calibri"/>
                  <a:sym typeface="Calibri"/>
                </a:rPr>
                <a:t>8. ¿Cómo se implementan mejoras en el proceso de producción?</a:t>
              </a:r>
              <a:endParaRPr/>
            </a:p>
          </p:txBody>
        </p:sp>
      </p:grpSp>
      <p:sp>
        <p:nvSpPr>
          <p:cNvPr id="416" name="Google Shape;416;p15"/>
          <p:cNvSpPr/>
          <p:nvPr/>
        </p:nvSpPr>
        <p:spPr>
          <a:xfrm rot="10800000">
            <a:off x="8863299" y="8258688"/>
            <a:ext cx="476154"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9C6A6A"/>
          </a:solidFill>
          <a:ln cap="flat" cmpd="sng" w="12700">
            <a:solidFill>
              <a:srgbClr val="000000"/>
            </a:solidFill>
            <a:prstDash val="solid"/>
            <a:round/>
            <a:headEnd len="sm" w="sm" type="none"/>
            <a:tailEnd len="sm" w="sm" type="none"/>
          </a:ln>
        </p:spPr>
      </p:sp>
      <p:grpSp>
        <p:nvGrpSpPr>
          <p:cNvPr id="417" name="Google Shape;417;p15"/>
          <p:cNvGrpSpPr/>
          <p:nvPr/>
        </p:nvGrpSpPr>
        <p:grpSpPr>
          <a:xfrm>
            <a:off x="6378632" y="7849093"/>
            <a:ext cx="2274475" cy="1376077"/>
            <a:chOff x="0" y="0"/>
            <a:chExt cx="3032633" cy="1834769"/>
          </a:xfrm>
        </p:grpSpPr>
        <p:sp>
          <p:nvSpPr>
            <p:cNvPr id="418" name="Google Shape;418;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824F8C"/>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 name="Google Shape;420;p15"/>
          <p:cNvGrpSpPr/>
          <p:nvPr/>
        </p:nvGrpSpPr>
        <p:grpSpPr>
          <a:xfrm>
            <a:off x="6418098" y="7874272"/>
            <a:ext cx="2195475" cy="1311430"/>
            <a:chOff x="0" y="-19050"/>
            <a:chExt cx="2927300" cy="1748572"/>
          </a:xfrm>
        </p:grpSpPr>
        <p:sp>
          <p:nvSpPr>
            <p:cNvPr id="421" name="Google Shape;421;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422" name="Google Shape;422;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800" u="none" cap="none" strike="noStrike">
                  <a:solidFill>
                    <a:srgbClr val="FFFFFF"/>
                  </a:solidFill>
                  <a:latin typeface="Calibri"/>
                  <a:ea typeface="Calibri"/>
                  <a:cs typeface="Calibri"/>
                  <a:sym typeface="Calibri"/>
                </a:rPr>
                <a:t>9. ¿Cómo se involucra al equipo en la identificación y resolución de problemas?</a:t>
              </a:r>
              <a:endParaRPr/>
            </a:p>
          </p:txBody>
        </p:sp>
      </p:grpSp>
      <p:sp>
        <p:nvSpPr>
          <p:cNvPr id="423" name="Google Shape;423;p15"/>
          <p:cNvSpPr/>
          <p:nvPr/>
        </p:nvSpPr>
        <p:spPr>
          <a:xfrm rot="10800000">
            <a:off x="5719130" y="8258688"/>
            <a:ext cx="476154" cy="556926"/>
          </a:xfrm>
          <a:custGeom>
            <a:rect b="b" l="l" r="r" t="t"/>
            <a:pathLst>
              <a:path extrusionOk="0" h="742569" w="634873">
                <a:moveTo>
                  <a:pt x="0" y="148463"/>
                </a:moveTo>
                <a:lnTo>
                  <a:pt x="317373" y="148463"/>
                </a:lnTo>
                <a:lnTo>
                  <a:pt x="317373" y="0"/>
                </a:lnTo>
                <a:lnTo>
                  <a:pt x="634873" y="371348"/>
                </a:lnTo>
                <a:lnTo>
                  <a:pt x="317373" y="742569"/>
                </a:lnTo>
                <a:lnTo>
                  <a:pt x="317373" y="594106"/>
                </a:lnTo>
                <a:lnTo>
                  <a:pt x="0" y="594106"/>
                </a:lnTo>
                <a:close/>
              </a:path>
            </a:pathLst>
          </a:custGeom>
          <a:solidFill>
            <a:srgbClr val="824F8C"/>
          </a:solidFill>
          <a:ln cap="flat" cmpd="sng" w="12700">
            <a:solidFill>
              <a:srgbClr val="000000"/>
            </a:solidFill>
            <a:prstDash val="solid"/>
            <a:round/>
            <a:headEnd len="sm" w="sm" type="none"/>
            <a:tailEnd len="sm" w="sm" type="none"/>
          </a:ln>
        </p:spPr>
      </p:sp>
      <p:grpSp>
        <p:nvGrpSpPr>
          <p:cNvPr id="424" name="Google Shape;424;p15"/>
          <p:cNvGrpSpPr/>
          <p:nvPr/>
        </p:nvGrpSpPr>
        <p:grpSpPr>
          <a:xfrm>
            <a:off x="3234464" y="7849093"/>
            <a:ext cx="2274475" cy="1376077"/>
            <a:chOff x="0" y="0"/>
            <a:chExt cx="3032633" cy="1834769"/>
          </a:xfrm>
        </p:grpSpPr>
        <p:sp>
          <p:nvSpPr>
            <p:cNvPr id="425" name="Google Shape;425;p15"/>
            <p:cNvSpPr/>
            <p:nvPr/>
          </p:nvSpPr>
          <p:spPr>
            <a:xfrm>
              <a:off x="19050" y="19050"/>
              <a:ext cx="2994533" cy="1796669"/>
            </a:xfrm>
            <a:custGeom>
              <a:rect b="b" l="l" r="r" t="t"/>
              <a:pathLst>
                <a:path extrusionOk="0" h="1796669" w="2994533">
                  <a:moveTo>
                    <a:pt x="0" y="179705"/>
                  </a:moveTo>
                  <a:cubicBezTo>
                    <a:pt x="0" y="80391"/>
                    <a:pt x="81153" y="0"/>
                    <a:pt x="181229" y="0"/>
                  </a:cubicBezTo>
                  <a:lnTo>
                    <a:pt x="2813304" y="0"/>
                  </a:lnTo>
                  <a:cubicBezTo>
                    <a:pt x="2913380" y="0"/>
                    <a:pt x="2994533" y="80391"/>
                    <a:pt x="2994533" y="179705"/>
                  </a:cubicBezTo>
                  <a:lnTo>
                    <a:pt x="2994533" y="1616964"/>
                  </a:lnTo>
                  <a:cubicBezTo>
                    <a:pt x="2994533" y="1716151"/>
                    <a:pt x="2913380" y="1796669"/>
                    <a:pt x="2813304" y="1796669"/>
                  </a:cubicBezTo>
                  <a:lnTo>
                    <a:pt x="181229" y="1796669"/>
                  </a:lnTo>
                  <a:cubicBezTo>
                    <a:pt x="81153" y="1796669"/>
                    <a:pt x="0" y="1716278"/>
                    <a:pt x="0" y="1616964"/>
                  </a:cubicBezTo>
                  <a:close/>
                </a:path>
              </a:pathLst>
            </a:custGeom>
            <a:solidFill>
              <a:srgbClr val="00A5A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0" y="0"/>
              <a:ext cx="3032633" cy="1834769"/>
            </a:xfrm>
            <a:custGeom>
              <a:rect b="b" l="l" r="r" t="t"/>
              <a:pathLst>
                <a:path extrusionOk="0" h="1834769" w="3032633">
                  <a:moveTo>
                    <a:pt x="0" y="198755"/>
                  </a:moveTo>
                  <a:cubicBezTo>
                    <a:pt x="0" y="88773"/>
                    <a:pt x="89789" y="0"/>
                    <a:pt x="200279" y="0"/>
                  </a:cubicBezTo>
                  <a:lnTo>
                    <a:pt x="2832354" y="0"/>
                  </a:lnTo>
                  <a:lnTo>
                    <a:pt x="2832354" y="19050"/>
                  </a:lnTo>
                  <a:lnTo>
                    <a:pt x="2832354" y="0"/>
                  </a:lnTo>
                  <a:cubicBezTo>
                    <a:pt x="2942844" y="0"/>
                    <a:pt x="3032633" y="88773"/>
                    <a:pt x="3032633" y="198755"/>
                  </a:cubicBezTo>
                  <a:lnTo>
                    <a:pt x="3013583" y="198755"/>
                  </a:lnTo>
                  <a:lnTo>
                    <a:pt x="3032633" y="198755"/>
                  </a:lnTo>
                  <a:lnTo>
                    <a:pt x="3032633" y="1636014"/>
                  </a:lnTo>
                  <a:lnTo>
                    <a:pt x="3013583" y="1636014"/>
                  </a:lnTo>
                  <a:lnTo>
                    <a:pt x="3032633" y="1636014"/>
                  </a:lnTo>
                  <a:cubicBezTo>
                    <a:pt x="3032633" y="1745869"/>
                    <a:pt x="2942844" y="1834769"/>
                    <a:pt x="2832354" y="1834769"/>
                  </a:cubicBezTo>
                  <a:lnTo>
                    <a:pt x="2832354" y="1815719"/>
                  </a:lnTo>
                  <a:lnTo>
                    <a:pt x="2832354" y="1834769"/>
                  </a:lnTo>
                  <a:lnTo>
                    <a:pt x="200279" y="1834769"/>
                  </a:lnTo>
                  <a:lnTo>
                    <a:pt x="200279" y="1815719"/>
                  </a:lnTo>
                  <a:lnTo>
                    <a:pt x="200279" y="1834769"/>
                  </a:lnTo>
                  <a:cubicBezTo>
                    <a:pt x="89789" y="1834769"/>
                    <a:pt x="0" y="1745996"/>
                    <a:pt x="0" y="1636014"/>
                  </a:cubicBezTo>
                  <a:lnTo>
                    <a:pt x="0" y="198755"/>
                  </a:lnTo>
                  <a:lnTo>
                    <a:pt x="19050" y="198755"/>
                  </a:lnTo>
                  <a:lnTo>
                    <a:pt x="0" y="198755"/>
                  </a:lnTo>
                  <a:moveTo>
                    <a:pt x="38100" y="198755"/>
                  </a:moveTo>
                  <a:lnTo>
                    <a:pt x="38100" y="1636014"/>
                  </a:lnTo>
                  <a:lnTo>
                    <a:pt x="19050" y="1636014"/>
                  </a:lnTo>
                  <a:lnTo>
                    <a:pt x="38100" y="1636014"/>
                  </a:lnTo>
                  <a:cubicBezTo>
                    <a:pt x="38100" y="1724533"/>
                    <a:pt x="110490" y="1796669"/>
                    <a:pt x="200279" y="1796669"/>
                  </a:cubicBezTo>
                  <a:lnTo>
                    <a:pt x="2832354" y="1796669"/>
                  </a:lnTo>
                  <a:cubicBezTo>
                    <a:pt x="2922016" y="1796669"/>
                    <a:pt x="2994533" y="1724660"/>
                    <a:pt x="2994533" y="1636014"/>
                  </a:cubicBezTo>
                  <a:lnTo>
                    <a:pt x="2994533" y="198755"/>
                  </a:lnTo>
                  <a:cubicBezTo>
                    <a:pt x="2994533" y="110236"/>
                    <a:pt x="2922143" y="38100"/>
                    <a:pt x="2832354" y="38100"/>
                  </a:cubicBezTo>
                  <a:lnTo>
                    <a:pt x="200279" y="38100"/>
                  </a:lnTo>
                  <a:lnTo>
                    <a:pt x="200279" y="19050"/>
                  </a:lnTo>
                  <a:lnTo>
                    <a:pt x="200279" y="38100"/>
                  </a:lnTo>
                  <a:cubicBezTo>
                    <a:pt x="110490" y="38100"/>
                    <a:pt x="38100" y="110109"/>
                    <a:pt x="38100" y="198755"/>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 name="Google Shape;427;p15"/>
          <p:cNvGrpSpPr/>
          <p:nvPr/>
        </p:nvGrpSpPr>
        <p:grpSpPr>
          <a:xfrm>
            <a:off x="3273930" y="7874272"/>
            <a:ext cx="2195475" cy="1311430"/>
            <a:chOff x="0" y="-19050"/>
            <a:chExt cx="2927300" cy="1748572"/>
          </a:xfrm>
        </p:grpSpPr>
        <p:sp>
          <p:nvSpPr>
            <p:cNvPr id="428" name="Google Shape;428;p15"/>
            <p:cNvSpPr/>
            <p:nvPr/>
          </p:nvSpPr>
          <p:spPr>
            <a:xfrm>
              <a:off x="0" y="0"/>
              <a:ext cx="2927300" cy="1729522"/>
            </a:xfrm>
            <a:custGeom>
              <a:rect b="b" l="l" r="r" t="t"/>
              <a:pathLst>
                <a:path extrusionOk="0" h="1729522" w="2927300">
                  <a:moveTo>
                    <a:pt x="0" y="0"/>
                  </a:moveTo>
                  <a:lnTo>
                    <a:pt x="2927300" y="0"/>
                  </a:lnTo>
                  <a:lnTo>
                    <a:pt x="2927300" y="1729522"/>
                  </a:lnTo>
                  <a:lnTo>
                    <a:pt x="0" y="1729522"/>
                  </a:lnTo>
                  <a:close/>
                </a:path>
              </a:pathLst>
            </a:custGeom>
            <a:solidFill>
              <a:srgbClr val="000000">
                <a:alpha val="0"/>
              </a:srgbClr>
            </a:solidFill>
            <a:ln>
              <a:noFill/>
            </a:ln>
          </p:spPr>
        </p:sp>
        <p:sp>
          <p:nvSpPr>
            <p:cNvPr id="429" name="Google Shape;429;p15"/>
            <p:cNvSpPr txBox="1"/>
            <p:nvPr/>
          </p:nvSpPr>
          <p:spPr>
            <a:xfrm>
              <a:off x="0" y="-19050"/>
              <a:ext cx="2927300" cy="174857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0" i="0" lang="en-US" sz="1800" u="none" cap="none" strike="noStrike">
                  <a:solidFill>
                    <a:srgbClr val="FFFFFF"/>
                  </a:solidFill>
                  <a:latin typeface="Calibri"/>
                  <a:ea typeface="Calibri"/>
                  <a:cs typeface="Calibri"/>
                  <a:sym typeface="Calibri"/>
                </a:rPr>
                <a:t>10. ¿Cómo se manejan las relaciones con los proveedores y clientes del taller?</a:t>
              </a:r>
              <a:endParaRPr/>
            </a:p>
          </p:txBody>
        </p:sp>
      </p:grpSp>
      <p:sp>
        <p:nvSpPr>
          <p:cNvPr id="430" name="Google Shape;430;p15"/>
          <p:cNvSpPr/>
          <p:nvPr/>
        </p:nvSpPr>
        <p:spPr>
          <a:xfrm>
            <a:off x="4064312" y="4144150"/>
            <a:ext cx="2810161" cy="205740"/>
          </a:xfrm>
          <a:custGeom>
            <a:rect b="b" l="l" r="r" t="t"/>
            <a:pathLst>
              <a:path extrusionOk="0" h="274320" w="3746881">
                <a:moveTo>
                  <a:pt x="0" y="274320"/>
                </a:moveTo>
                <a:lnTo>
                  <a:pt x="3746881" y="274320"/>
                </a:lnTo>
                <a:lnTo>
                  <a:pt x="3746881" y="0"/>
                </a:lnTo>
                <a:lnTo>
                  <a:pt x="0" y="0"/>
                </a:lnTo>
                <a:close/>
              </a:path>
            </a:pathLst>
          </a:custGeom>
          <a:solidFill>
            <a:srgbClr val="00A5AB"/>
          </a:solidFill>
          <a:ln cap="flat" cmpd="sng" w="12700">
            <a:solidFill>
              <a:srgbClr val="000000"/>
            </a:solidFill>
            <a:prstDash val="solid"/>
            <a:round/>
            <a:headEnd len="sm" w="sm" type="none"/>
            <a:tailEnd len="sm" w="sm" type="none"/>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6"/>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000000"/>
          </a:solidFill>
          <a:ln cap="flat" cmpd="sng" w="12700">
            <a:solidFill>
              <a:srgbClr val="000000"/>
            </a:solidFill>
            <a:prstDash val="solid"/>
            <a:round/>
            <a:headEnd len="sm" w="sm" type="none"/>
            <a:tailEnd len="sm" w="sm" type="none"/>
          </a:ln>
        </p:spPr>
      </p:sp>
      <p:grpSp>
        <p:nvGrpSpPr>
          <p:cNvPr id="436" name="Google Shape;436;p16"/>
          <p:cNvGrpSpPr/>
          <p:nvPr/>
        </p:nvGrpSpPr>
        <p:grpSpPr>
          <a:xfrm>
            <a:off x="2365741" y="2519278"/>
            <a:ext cx="5248412" cy="5248412"/>
            <a:chOff x="0" y="0"/>
            <a:chExt cx="812800" cy="812800"/>
          </a:xfrm>
        </p:grpSpPr>
        <p:sp>
          <p:nvSpPr>
            <p:cNvPr id="437" name="Google Shape;437;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txBox="1"/>
            <p:nvPr/>
          </p:nvSpPr>
          <p:spPr>
            <a:xfrm>
              <a:off x="76200" y="76200"/>
              <a:ext cx="660300" cy="660300"/>
            </a:xfrm>
            <a:prstGeom prst="rect">
              <a:avLst/>
            </a:prstGeom>
            <a:noFill/>
            <a:ln>
              <a:noFill/>
            </a:ln>
          </p:spPr>
          <p:txBody>
            <a:bodyPr anchorCtr="0" anchor="ctr" bIns="50800" lIns="50800" spcFirstLastPara="1" rIns="50800" wrap="square" tIns="50800">
              <a:noAutofit/>
            </a:bodyPr>
            <a:lstStyle/>
            <a:p>
              <a:pPr indent="0" lvl="0" marL="0" marR="0" rtl="0" algn="ctr">
                <a:lnSpc>
                  <a:spcPct val="108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9" name="Google Shape;439;p16"/>
          <p:cNvGrpSpPr/>
          <p:nvPr/>
        </p:nvGrpSpPr>
        <p:grpSpPr>
          <a:xfrm>
            <a:off x="9144000" y="844518"/>
            <a:ext cx="9241506" cy="1329568"/>
            <a:chOff x="0" y="0"/>
            <a:chExt cx="12322008" cy="1772758"/>
          </a:xfrm>
        </p:grpSpPr>
        <p:sp>
          <p:nvSpPr>
            <p:cNvPr id="440" name="Google Shape;440;p16"/>
            <p:cNvSpPr/>
            <p:nvPr/>
          </p:nvSpPr>
          <p:spPr>
            <a:xfrm>
              <a:off x="0" y="0"/>
              <a:ext cx="12322008" cy="1772758"/>
            </a:xfrm>
            <a:custGeom>
              <a:rect b="b" l="l" r="r" t="t"/>
              <a:pathLst>
                <a:path extrusionOk="0" h="1772758" w="12322008">
                  <a:moveTo>
                    <a:pt x="0" y="0"/>
                  </a:moveTo>
                  <a:lnTo>
                    <a:pt x="12322008" y="0"/>
                  </a:lnTo>
                  <a:lnTo>
                    <a:pt x="12322008" y="1772758"/>
                  </a:lnTo>
                  <a:lnTo>
                    <a:pt x="0" y="1772758"/>
                  </a:lnTo>
                  <a:close/>
                </a:path>
              </a:pathLst>
            </a:custGeom>
            <a:solidFill>
              <a:srgbClr val="000000">
                <a:alpha val="0"/>
              </a:srgbClr>
            </a:solidFill>
            <a:ln>
              <a:noFill/>
            </a:ln>
          </p:spPr>
        </p:sp>
        <p:sp>
          <p:nvSpPr>
            <p:cNvPr id="441" name="Google Shape;441;p16"/>
            <p:cNvSpPr txBox="1"/>
            <p:nvPr/>
          </p:nvSpPr>
          <p:spPr>
            <a:xfrm>
              <a:off x="0" y="28575"/>
              <a:ext cx="12322008" cy="1744183"/>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None/>
              </a:pPr>
              <a:r>
                <a:rPr b="1" i="0" lang="en-US" sz="5100" u="none" cap="none" strike="noStrike">
                  <a:solidFill>
                    <a:srgbClr val="FFFFFF"/>
                  </a:solidFill>
                  <a:latin typeface="Arimo"/>
                  <a:ea typeface="Arimo"/>
                  <a:cs typeface="Arimo"/>
                  <a:sym typeface="Arimo"/>
                </a:rPr>
                <a:t>Recoleccion de Informacion</a:t>
              </a:r>
              <a:endParaRPr/>
            </a:p>
          </p:txBody>
        </p:sp>
      </p:grpSp>
      <p:sp>
        <p:nvSpPr>
          <p:cNvPr id="442" name="Google Shape;442;p16"/>
          <p:cNvSpPr/>
          <p:nvPr/>
        </p:nvSpPr>
        <p:spPr>
          <a:xfrm>
            <a:off x="0" y="566840"/>
            <a:ext cx="2792781" cy="1076271"/>
          </a:xfrm>
          <a:custGeom>
            <a:rect b="b" l="l" r="r" t="t"/>
            <a:pathLst>
              <a:path extrusionOk="0" h="1076271" w="2792781">
                <a:moveTo>
                  <a:pt x="0" y="0"/>
                </a:moveTo>
                <a:lnTo>
                  <a:pt x="2792781" y="0"/>
                </a:lnTo>
                <a:lnTo>
                  <a:pt x="2792781" y="1076270"/>
                </a:lnTo>
                <a:lnTo>
                  <a:pt x="0" y="1076270"/>
                </a:lnTo>
                <a:lnTo>
                  <a:pt x="0" y="0"/>
                </a:lnTo>
                <a:close/>
              </a:path>
            </a:pathLst>
          </a:custGeom>
          <a:blipFill rotWithShape="1">
            <a:blip r:embed="rId3">
              <a:alphaModFix/>
            </a:blip>
            <a:stretch>
              <a:fillRect b="0" l="0" r="0" t="0"/>
            </a:stretch>
          </a:blipFill>
          <a:ln>
            <a:noFill/>
          </a:ln>
        </p:spPr>
      </p:sp>
      <p:sp>
        <p:nvSpPr>
          <p:cNvPr id="443" name="Google Shape;443;p16"/>
          <p:cNvSpPr/>
          <p:nvPr/>
        </p:nvSpPr>
        <p:spPr>
          <a:xfrm>
            <a:off x="15642951" y="8980596"/>
            <a:ext cx="1581699" cy="704534"/>
          </a:xfrm>
          <a:custGeom>
            <a:rect b="b" l="l" r="r" t="t"/>
            <a:pathLst>
              <a:path extrusionOk="0" h="704534" w="1581699">
                <a:moveTo>
                  <a:pt x="0" y="0"/>
                </a:moveTo>
                <a:lnTo>
                  <a:pt x="1581699" y="0"/>
                </a:lnTo>
                <a:lnTo>
                  <a:pt x="1581699" y="704534"/>
                </a:lnTo>
                <a:lnTo>
                  <a:pt x="0" y="704534"/>
                </a:lnTo>
                <a:lnTo>
                  <a:pt x="0" y="0"/>
                </a:lnTo>
                <a:close/>
              </a:path>
            </a:pathLst>
          </a:custGeom>
          <a:blipFill rotWithShape="1">
            <a:blip r:embed="rId4">
              <a:alphaModFix/>
            </a:blip>
            <a:stretch>
              <a:fillRect b="0" l="0" r="0" t="0"/>
            </a:stretch>
          </a:blipFill>
          <a:ln>
            <a:noFill/>
          </a:ln>
        </p:spPr>
      </p:sp>
      <p:grpSp>
        <p:nvGrpSpPr>
          <p:cNvPr id="444" name="Google Shape;444;p16"/>
          <p:cNvGrpSpPr/>
          <p:nvPr/>
        </p:nvGrpSpPr>
        <p:grpSpPr>
          <a:xfrm>
            <a:off x="8994151" y="2174086"/>
            <a:ext cx="2498812" cy="1415319"/>
            <a:chOff x="0" y="0"/>
            <a:chExt cx="3331749" cy="1887093"/>
          </a:xfrm>
        </p:grpSpPr>
        <p:sp>
          <p:nvSpPr>
            <p:cNvPr id="445" name="Google Shape;445;p16"/>
            <p:cNvSpPr/>
            <p:nvPr/>
          </p:nvSpPr>
          <p:spPr>
            <a:xfrm>
              <a:off x="20345" y="19050"/>
              <a:ext cx="3291063" cy="1848993"/>
            </a:xfrm>
            <a:custGeom>
              <a:rect b="b" l="l" r="r" t="t"/>
              <a:pathLst>
                <a:path extrusionOk="0" h="1848993" w="3291063">
                  <a:moveTo>
                    <a:pt x="0" y="0"/>
                  </a:moveTo>
                  <a:lnTo>
                    <a:pt x="3291063" y="0"/>
                  </a:lnTo>
                  <a:lnTo>
                    <a:pt x="3291063" y="1848993"/>
                  </a:lnTo>
                  <a:lnTo>
                    <a:pt x="0" y="1848993"/>
                  </a:lnTo>
                  <a:close/>
                </a:path>
              </a:pathLst>
            </a:custGeom>
            <a:solidFill>
              <a:srgbClr val="00A5AB"/>
            </a:solidFill>
            <a:ln cap="flat" cmpd="sng" w="12700">
              <a:solidFill>
                <a:srgbClr val="000000"/>
              </a:solidFill>
              <a:prstDash val="solid"/>
              <a:round/>
              <a:headEnd len="sm" w="sm" type="none"/>
              <a:tailEnd len="sm" w="sm" type="none"/>
            </a:ln>
          </p:spPr>
        </p:sp>
        <p:sp>
          <p:nvSpPr>
            <p:cNvPr id="446" name="Google Shape;446;p16"/>
            <p:cNvSpPr/>
            <p:nvPr/>
          </p:nvSpPr>
          <p:spPr>
            <a:xfrm>
              <a:off x="0" y="0"/>
              <a:ext cx="3331749" cy="1887093"/>
            </a:xfrm>
            <a:custGeom>
              <a:rect b="b" l="l" r="r" t="t"/>
              <a:pathLst>
                <a:path extrusionOk="0" h="1887093" w="3331749">
                  <a:moveTo>
                    <a:pt x="20345" y="0"/>
                  </a:moveTo>
                  <a:lnTo>
                    <a:pt x="3311408" y="0"/>
                  </a:lnTo>
                  <a:cubicBezTo>
                    <a:pt x="3322665" y="0"/>
                    <a:pt x="3331749" y="8509"/>
                    <a:pt x="3331749" y="19050"/>
                  </a:cubicBezTo>
                  <a:lnTo>
                    <a:pt x="3331749" y="1868043"/>
                  </a:lnTo>
                  <a:cubicBezTo>
                    <a:pt x="3331749" y="1878584"/>
                    <a:pt x="3322665" y="1887093"/>
                    <a:pt x="3311408" y="1887093"/>
                  </a:cubicBezTo>
                  <a:lnTo>
                    <a:pt x="20345" y="1887093"/>
                  </a:lnTo>
                  <a:cubicBezTo>
                    <a:pt x="9087" y="1887093"/>
                    <a:pt x="0" y="1878584"/>
                    <a:pt x="0" y="1868043"/>
                  </a:cubicBezTo>
                  <a:lnTo>
                    <a:pt x="0" y="19050"/>
                  </a:lnTo>
                  <a:cubicBezTo>
                    <a:pt x="0" y="8509"/>
                    <a:pt x="9087" y="0"/>
                    <a:pt x="20345" y="0"/>
                  </a:cubicBezTo>
                  <a:moveTo>
                    <a:pt x="20345" y="38100"/>
                  </a:moveTo>
                  <a:lnTo>
                    <a:pt x="20345" y="19050"/>
                  </a:lnTo>
                  <a:lnTo>
                    <a:pt x="40689" y="19050"/>
                  </a:lnTo>
                  <a:lnTo>
                    <a:pt x="40689" y="1868043"/>
                  </a:lnTo>
                  <a:lnTo>
                    <a:pt x="20345" y="1868043"/>
                  </a:lnTo>
                  <a:lnTo>
                    <a:pt x="20345" y="1848993"/>
                  </a:lnTo>
                  <a:lnTo>
                    <a:pt x="3311408" y="1848993"/>
                  </a:lnTo>
                  <a:lnTo>
                    <a:pt x="3311408" y="1868043"/>
                  </a:lnTo>
                  <a:lnTo>
                    <a:pt x="3291063" y="1868043"/>
                  </a:lnTo>
                  <a:lnTo>
                    <a:pt x="3291063" y="19050"/>
                  </a:lnTo>
                  <a:lnTo>
                    <a:pt x="3311408" y="19050"/>
                  </a:lnTo>
                  <a:lnTo>
                    <a:pt x="3311408" y="38100"/>
                  </a:lnTo>
                  <a:lnTo>
                    <a:pt x="20345"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 name="Google Shape;447;p16"/>
          <p:cNvGrpSpPr/>
          <p:nvPr/>
        </p:nvGrpSpPr>
        <p:grpSpPr>
          <a:xfrm>
            <a:off x="9073649" y="2170446"/>
            <a:ext cx="2339784" cy="1415299"/>
            <a:chOff x="0" y="0"/>
            <a:chExt cx="3119712" cy="1887066"/>
          </a:xfrm>
        </p:grpSpPr>
        <p:sp>
          <p:nvSpPr>
            <p:cNvPr id="448" name="Google Shape;448;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49" name="Google Shape;449;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Asistente </a:t>
              </a:r>
              <a:br>
                <a:rPr b="1" i="0" lang="en-US" sz="1800" u="none" cap="none" strike="noStrike">
                  <a:solidFill>
                    <a:srgbClr val="FFFFFF"/>
                  </a:solidFill>
                  <a:latin typeface="Arimo"/>
                  <a:ea typeface="Arimo"/>
                  <a:cs typeface="Arimo"/>
                  <a:sym typeface="Arimo"/>
                </a:rPr>
              </a:br>
              <a:r>
                <a:rPr b="1" i="0" lang="en-US" sz="1800" u="none" cap="none" strike="noStrike">
                  <a:solidFill>
                    <a:srgbClr val="FFFFFF"/>
                  </a:solidFill>
                  <a:latin typeface="Arimo"/>
                  <a:ea typeface="Arimo"/>
                  <a:cs typeface="Arimo"/>
                  <a:sym typeface="Arimo"/>
                </a:rPr>
                <a:t>Cuestionario  Santiago Cordoba </a:t>
              </a:r>
              <a:endParaRPr/>
            </a:p>
          </p:txBody>
        </p:sp>
      </p:grpSp>
      <p:grpSp>
        <p:nvGrpSpPr>
          <p:cNvPr id="450" name="Google Shape;450;p16"/>
          <p:cNvGrpSpPr/>
          <p:nvPr/>
        </p:nvGrpSpPr>
        <p:grpSpPr>
          <a:xfrm>
            <a:off x="11836940" y="2174087"/>
            <a:ext cx="2562410" cy="1415319"/>
            <a:chOff x="0" y="0"/>
            <a:chExt cx="3416547" cy="1887093"/>
          </a:xfrm>
        </p:grpSpPr>
        <p:sp>
          <p:nvSpPr>
            <p:cNvPr id="451" name="Google Shape;451;p16"/>
            <p:cNvSpPr/>
            <p:nvPr/>
          </p:nvSpPr>
          <p:spPr>
            <a:xfrm>
              <a:off x="20862" y="19050"/>
              <a:ext cx="3374827" cy="1848993"/>
            </a:xfrm>
            <a:custGeom>
              <a:rect b="b" l="l" r="r" t="t"/>
              <a:pathLst>
                <a:path extrusionOk="0" h="1848993" w="3374827">
                  <a:moveTo>
                    <a:pt x="0" y="0"/>
                  </a:moveTo>
                  <a:lnTo>
                    <a:pt x="3374827" y="0"/>
                  </a:lnTo>
                  <a:lnTo>
                    <a:pt x="3374827" y="1848993"/>
                  </a:lnTo>
                  <a:lnTo>
                    <a:pt x="0" y="1848993"/>
                  </a:lnTo>
                  <a:close/>
                </a:path>
              </a:pathLst>
            </a:custGeom>
            <a:solidFill>
              <a:srgbClr val="A101A9"/>
            </a:solidFill>
            <a:ln cap="flat" cmpd="sng" w="12700">
              <a:solidFill>
                <a:srgbClr val="000000"/>
              </a:solidFill>
              <a:prstDash val="solid"/>
              <a:round/>
              <a:headEnd len="sm" w="sm" type="none"/>
              <a:tailEnd len="sm" w="sm" type="none"/>
            </a:ln>
          </p:spPr>
        </p:sp>
        <p:sp>
          <p:nvSpPr>
            <p:cNvPr id="452" name="Google Shape;452;p16"/>
            <p:cNvSpPr/>
            <p:nvPr/>
          </p:nvSpPr>
          <p:spPr>
            <a:xfrm>
              <a:off x="0" y="0"/>
              <a:ext cx="3416547" cy="1887093"/>
            </a:xfrm>
            <a:custGeom>
              <a:rect b="b" l="l" r="r" t="t"/>
              <a:pathLst>
                <a:path extrusionOk="0" h="1887093" w="3416547">
                  <a:moveTo>
                    <a:pt x="20862" y="0"/>
                  </a:moveTo>
                  <a:lnTo>
                    <a:pt x="3395689" y="0"/>
                  </a:lnTo>
                  <a:cubicBezTo>
                    <a:pt x="3407233" y="0"/>
                    <a:pt x="3416547" y="8509"/>
                    <a:pt x="3416547" y="19050"/>
                  </a:cubicBezTo>
                  <a:lnTo>
                    <a:pt x="3416547" y="1868043"/>
                  </a:lnTo>
                  <a:cubicBezTo>
                    <a:pt x="3416547" y="1878584"/>
                    <a:pt x="3407233" y="1887093"/>
                    <a:pt x="3395689" y="1887093"/>
                  </a:cubicBezTo>
                  <a:lnTo>
                    <a:pt x="20862" y="1887093"/>
                  </a:lnTo>
                  <a:cubicBezTo>
                    <a:pt x="9318" y="1887093"/>
                    <a:pt x="0" y="1878584"/>
                    <a:pt x="0" y="1868043"/>
                  </a:cubicBezTo>
                  <a:lnTo>
                    <a:pt x="0" y="19050"/>
                  </a:lnTo>
                  <a:cubicBezTo>
                    <a:pt x="0" y="8509"/>
                    <a:pt x="9318" y="0"/>
                    <a:pt x="20862" y="0"/>
                  </a:cubicBezTo>
                  <a:moveTo>
                    <a:pt x="20862" y="38100"/>
                  </a:moveTo>
                  <a:lnTo>
                    <a:pt x="20862" y="19050"/>
                  </a:lnTo>
                  <a:lnTo>
                    <a:pt x="41725" y="19050"/>
                  </a:lnTo>
                  <a:lnTo>
                    <a:pt x="41725" y="1868043"/>
                  </a:lnTo>
                  <a:lnTo>
                    <a:pt x="20862" y="1868043"/>
                  </a:lnTo>
                  <a:lnTo>
                    <a:pt x="20862" y="1848993"/>
                  </a:lnTo>
                  <a:lnTo>
                    <a:pt x="3395689" y="1848993"/>
                  </a:lnTo>
                  <a:lnTo>
                    <a:pt x="3395689" y="1868043"/>
                  </a:lnTo>
                  <a:lnTo>
                    <a:pt x="3374827" y="1868043"/>
                  </a:lnTo>
                  <a:lnTo>
                    <a:pt x="3374827" y="19050"/>
                  </a:lnTo>
                  <a:lnTo>
                    <a:pt x="3395689" y="19050"/>
                  </a:lnTo>
                  <a:lnTo>
                    <a:pt x="3395689" y="38100"/>
                  </a:lnTo>
                  <a:lnTo>
                    <a:pt x="20862"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 name="Google Shape;453;p16"/>
          <p:cNvGrpSpPr/>
          <p:nvPr/>
        </p:nvGrpSpPr>
        <p:grpSpPr>
          <a:xfrm>
            <a:off x="11916437" y="2174087"/>
            <a:ext cx="2339784" cy="1415299"/>
            <a:chOff x="0" y="0"/>
            <a:chExt cx="3119712" cy="1887066"/>
          </a:xfrm>
        </p:grpSpPr>
        <p:sp>
          <p:nvSpPr>
            <p:cNvPr id="454" name="Google Shape;454;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55" name="Google Shape;455;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1.</a:t>
              </a:r>
              <a:r>
                <a:rPr b="0" i="0" lang="en-US" sz="1800" u="none" cap="none" strike="noStrike">
                  <a:solidFill>
                    <a:srgbClr val="FFFFFF"/>
                  </a:solidFill>
                  <a:latin typeface="Arimo"/>
                  <a:ea typeface="Arimo"/>
                  <a:cs typeface="Arimo"/>
                  <a:sym typeface="Arimo"/>
                </a:rPr>
                <a:t> ¿Verifica la cantidad y el estado de los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productos al recibirlos ? </a:t>
              </a:r>
              <a:endParaRPr/>
            </a:p>
          </p:txBody>
        </p:sp>
      </p:grpSp>
      <p:grpSp>
        <p:nvGrpSpPr>
          <p:cNvPr id="456" name="Google Shape;456;p16"/>
          <p:cNvGrpSpPr/>
          <p:nvPr/>
        </p:nvGrpSpPr>
        <p:grpSpPr>
          <a:xfrm>
            <a:off x="14679727" y="2174086"/>
            <a:ext cx="2339816" cy="1415319"/>
            <a:chOff x="0" y="0"/>
            <a:chExt cx="3119755" cy="1887093"/>
          </a:xfrm>
        </p:grpSpPr>
        <p:sp>
          <p:nvSpPr>
            <p:cNvPr id="457" name="Google Shape;457;p16"/>
            <p:cNvSpPr/>
            <p:nvPr/>
          </p:nvSpPr>
          <p:spPr>
            <a:xfrm>
              <a:off x="19050" y="19050"/>
              <a:ext cx="3081655" cy="1848993"/>
            </a:xfrm>
            <a:custGeom>
              <a:rect b="b" l="l" r="r" t="t"/>
              <a:pathLst>
                <a:path extrusionOk="0" h="1848993" w="3081655">
                  <a:moveTo>
                    <a:pt x="0" y="0"/>
                  </a:moveTo>
                  <a:lnTo>
                    <a:pt x="3081655" y="0"/>
                  </a:lnTo>
                  <a:lnTo>
                    <a:pt x="3081655" y="1848993"/>
                  </a:lnTo>
                  <a:lnTo>
                    <a:pt x="0" y="1848993"/>
                  </a:lnTo>
                  <a:close/>
                </a:path>
              </a:pathLst>
            </a:custGeom>
            <a:solidFill>
              <a:srgbClr val="A79100"/>
            </a:solidFill>
            <a:ln cap="flat" cmpd="sng" w="12700">
              <a:solidFill>
                <a:srgbClr val="000000"/>
              </a:solidFill>
              <a:prstDash val="solid"/>
              <a:round/>
              <a:headEnd len="sm" w="sm" type="none"/>
              <a:tailEnd len="sm" w="sm" type="none"/>
            </a:ln>
          </p:spPr>
        </p:sp>
        <p:sp>
          <p:nvSpPr>
            <p:cNvPr id="458" name="Google Shape;458;p16"/>
            <p:cNvSpPr/>
            <p:nvPr/>
          </p:nvSpPr>
          <p:spPr>
            <a:xfrm>
              <a:off x="0" y="0"/>
              <a:ext cx="3119755" cy="1887093"/>
            </a:xfrm>
            <a:custGeom>
              <a:rect b="b" l="l" r="r" t="t"/>
              <a:pathLst>
                <a:path extrusionOk="0" h="1887093" w="3119755">
                  <a:moveTo>
                    <a:pt x="19050" y="0"/>
                  </a:moveTo>
                  <a:lnTo>
                    <a:pt x="3100705" y="0"/>
                  </a:lnTo>
                  <a:cubicBezTo>
                    <a:pt x="3111246" y="0"/>
                    <a:pt x="3119755" y="8509"/>
                    <a:pt x="3119755" y="19050"/>
                  </a:cubicBezTo>
                  <a:lnTo>
                    <a:pt x="3119755" y="1868043"/>
                  </a:lnTo>
                  <a:cubicBezTo>
                    <a:pt x="3119755" y="1878584"/>
                    <a:pt x="3111246" y="1887093"/>
                    <a:pt x="3100705" y="1887093"/>
                  </a:cubicBezTo>
                  <a:lnTo>
                    <a:pt x="19050" y="1887093"/>
                  </a:lnTo>
                  <a:cubicBezTo>
                    <a:pt x="8509" y="1887093"/>
                    <a:pt x="0" y="1878584"/>
                    <a:pt x="0" y="1868043"/>
                  </a:cubicBezTo>
                  <a:lnTo>
                    <a:pt x="0" y="19050"/>
                  </a:lnTo>
                  <a:cubicBezTo>
                    <a:pt x="0" y="8509"/>
                    <a:pt x="8509" y="0"/>
                    <a:pt x="19050" y="0"/>
                  </a:cubicBezTo>
                  <a:moveTo>
                    <a:pt x="19050" y="38100"/>
                  </a:moveTo>
                  <a:lnTo>
                    <a:pt x="19050" y="19050"/>
                  </a:lnTo>
                  <a:lnTo>
                    <a:pt x="38100" y="19050"/>
                  </a:lnTo>
                  <a:lnTo>
                    <a:pt x="38100" y="1868043"/>
                  </a:lnTo>
                  <a:lnTo>
                    <a:pt x="19050" y="1868043"/>
                  </a:lnTo>
                  <a:lnTo>
                    <a:pt x="19050" y="1848993"/>
                  </a:lnTo>
                  <a:lnTo>
                    <a:pt x="3100705" y="1848993"/>
                  </a:lnTo>
                  <a:lnTo>
                    <a:pt x="3100705" y="1868043"/>
                  </a:lnTo>
                  <a:lnTo>
                    <a:pt x="3081655" y="1868043"/>
                  </a:lnTo>
                  <a:lnTo>
                    <a:pt x="3081655" y="19050"/>
                  </a:lnTo>
                  <a:lnTo>
                    <a:pt x="3100705" y="19050"/>
                  </a:lnTo>
                  <a:lnTo>
                    <a:pt x="3100705" y="38100"/>
                  </a:lnTo>
                  <a:lnTo>
                    <a:pt x="19050"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16"/>
          <p:cNvGrpSpPr/>
          <p:nvPr/>
        </p:nvGrpSpPr>
        <p:grpSpPr>
          <a:xfrm>
            <a:off x="14679727" y="2170446"/>
            <a:ext cx="2339784" cy="1415299"/>
            <a:chOff x="0" y="0"/>
            <a:chExt cx="3119712" cy="1887066"/>
          </a:xfrm>
        </p:grpSpPr>
        <p:sp>
          <p:nvSpPr>
            <p:cNvPr id="460" name="Google Shape;460;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61" name="Google Shape;461;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2.</a:t>
              </a:r>
              <a:r>
                <a:rPr b="0" i="0" lang="en-US" sz="1800" u="none" cap="none" strike="noStrike">
                  <a:solidFill>
                    <a:srgbClr val="FFFFFF"/>
                  </a:solidFill>
                  <a:latin typeface="Arimo"/>
                  <a:ea typeface="Arimo"/>
                  <a:cs typeface="Arimo"/>
                  <a:sym typeface="Arimo"/>
                </a:rPr>
                <a:t> ¿Cómo hace esta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verificación ?</a:t>
              </a:r>
              <a:endParaRPr/>
            </a:p>
          </p:txBody>
        </p:sp>
      </p:grpSp>
      <p:grpSp>
        <p:nvGrpSpPr>
          <p:cNvPr id="462" name="Google Shape;462;p16"/>
          <p:cNvGrpSpPr/>
          <p:nvPr/>
        </p:nvGrpSpPr>
        <p:grpSpPr>
          <a:xfrm>
            <a:off x="8994151" y="4092392"/>
            <a:ext cx="2498812" cy="1415319"/>
            <a:chOff x="0" y="0"/>
            <a:chExt cx="3331749" cy="1887093"/>
          </a:xfrm>
        </p:grpSpPr>
        <p:sp>
          <p:nvSpPr>
            <p:cNvPr id="463" name="Google Shape;463;p16"/>
            <p:cNvSpPr/>
            <p:nvPr/>
          </p:nvSpPr>
          <p:spPr>
            <a:xfrm>
              <a:off x="20345" y="19050"/>
              <a:ext cx="3291063" cy="1848993"/>
            </a:xfrm>
            <a:custGeom>
              <a:rect b="b" l="l" r="r" t="t"/>
              <a:pathLst>
                <a:path extrusionOk="0" h="1848993" w="3291063">
                  <a:moveTo>
                    <a:pt x="0" y="0"/>
                  </a:moveTo>
                  <a:lnTo>
                    <a:pt x="3291063" y="0"/>
                  </a:lnTo>
                  <a:lnTo>
                    <a:pt x="3291063" y="1848993"/>
                  </a:lnTo>
                  <a:lnTo>
                    <a:pt x="0" y="1848993"/>
                  </a:lnTo>
                  <a:close/>
                </a:path>
              </a:pathLst>
            </a:custGeom>
            <a:solidFill>
              <a:srgbClr val="03A582"/>
            </a:solidFill>
            <a:ln cap="flat" cmpd="sng" w="12700">
              <a:solidFill>
                <a:srgbClr val="000000"/>
              </a:solidFill>
              <a:prstDash val="solid"/>
              <a:round/>
              <a:headEnd len="sm" w="sm" type="none"/>
              <a:tailEnd len="sm" w="sm" type="none"/>
            </a:ln>
          </p:spPr>
        </p:sp>
        <p:sp>
          <p:nvSpPr>
            <p:cNvPr id="464" name="Google Shape;464;p16"/>
            <p:cNvSpPr/>
            <p:nvPr/>
          </p:nvSpPr>
          <p:spPr>
            <a:xfrm>
              <a:off x="0" y="0"/>
              <a:ext cx="3331749" cy="1887093"/>
            </a:xfrm>
            <a:custGeom>
              <a:rect b="b" l="l" r="r" t="t"/>
              <a:pathLst>
                <a:path extrusionOk="0" h="1887093" w="3331749">
                  <a:moveTo>
                    <a:pt x="20345" y="0"/>
                  </a:moveTo>
                  <a:lnTo>
                    <a:pt x="3311408" y="0"/>
                  </a:lnTo>
                  <a:cubicBezTo>
                    <a:pt x="3322665" y="0"/>
                    <a:pt x="3331749" y="8509"/>
                    <a:pt x="3331749" y="19050"/>
                  </a:cubicBezTo>
                  <a:lnTo>
                    <a:pt x="3331749" y="1868043"/>
                  </a:lnTo>
                  <a:cubicBezTo>
                    <a:pt x="3331749" y="1878584"/>
                    <a:pt x="3322665" y="1887093"/>
                    <a:pt x="3311408" y="1887093"/>
                  </a:cubicBezTo>
                  <a:lnTo>
                    <a:pt x="20345" y="1887093"/>
                  </a:lnTo>
                  <a:cubicBezTo>
                    <a:pt x="9087" y="1887093"/>
                    <a:pt x="0" y="1878584"/>
                    <a:pt x="0" y="1868043"/>
                  </a:cubicBezTo>
                  <a:lnTo>
                    <a:pt x="0" y="19050"/>
                  </a:lnTo>
                  <a:cubicBezTo>
                    <a:pt x="0" y="8509"/>
                    <a:pt x="9087" y="0"/>
                    <a:pt x="20345" y="0"/>
                  </a:cubicBezTo>
                  <a:moveTo>
                    <a:pt x="20345" y="38100"/>
                  </a:moveTo>
                  <a:lnTo>
                    <a:pt x="20345" y="19050"/>
                  </a:lnTo>
                  <a:lnTo>
                    <a:pt x="40689" y="19050"/>
                  </a:lnTo>
                  <a:lnTo>
                    <a:pt x="40689" y="1868043"/>
                  </a:lnTo>
                  <a:lnTo>
                    <a:pt x="20345" y="1868043"/>
                  </a:lnTo>
                  <a:lnTo>
                    <a:pt x="20345" y="1848993"/>
                  </a:lnTo>
                  <a:lnTo>
                    <a:pt x="3311408" y="1848993"/>
                  </a:lnTo>
                  <a:lnTo>
                    <a:pt x="3311408" y="1868043"/>
                  </a:lnTo>
                  <a:lnTo>
                    <a:pt x="3291063" y="1868043"/>
                  </a:lnTo>
                  <a:lnTo>
                    <a:pt x="3291063" y="19050"/>
                  </a:lnTo>
                  <a:lnTo>
                    <a:pt x="3311408" y="19050"/>
                  </a:lnTo>
                  <a:lnTo>
                    <a:pt x="3311408" y="38100"/>
                  </a:lnTo>
                  <a:lnTo>
                    <a:pt x="20345"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 name="Google Shape;465;p16"/>
          <p:cNvGrpSpPr/>
          <p:nvPr/>
        </p:nvGrpSpPr>
        <p:grpSpPr>
          <a:xfrm>
            <a:off x="9073649" y="4090570"/>
            <a:ext cx="2339784" cy="1415299"/>
            <a:chOff x="0" y="0"/>
            <a:chExt cx="3119712" cy="1887066"/>
          </a:xfrm>
        </p:grpSpPr>
        <p:sp>
          <p:nvSpPr>
            <p:cNvPr id="466" name="Google Shape;466;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67" name="Google Shape;467;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650" u="none" cap="none" strike="noStrike">
                  <a:solidFill>
                    <a:srgbClr val="FFFFFF"/>
                  </a:solidFill>
                  <a:latin typeface="Arimo"/>
                  <a:ea typeface="Arimo"/>
                  <a:cs typeface="Arimo"/>
                  <a:sym typeface="Arimo"/>
                </a:rPr>
                <a:t>3.</a:t>
              </a:r>
              <a:r>
                <a:rPr b="0" i="0" lang="en-US" sz="1650" u="none" cap="none" strike="noStrike">
                  <a:solidFill>
                    <a:srgbClr val="FFFFFF"/>
                  </a:solidFill>
                  <a:latin typeface="Arimo"/>
                  <a:ea typeface="Arimo"/>
                  <a:cs typeface="Arimo"/>
                  <a:sym typeface="Arimo"/>
                </a:rPr>
                <a:t> ¿Qué hace si nota </a:t>
              </a:r>
              <a:endParaRPr/>
            </a:p>
            <a:p>
              <a:pPr indent="0" lvl="0" marL="0" marR="0" rtl="0" algn="ctr">
                <a:lnSpc>
                  <a:spcPct val="108000"/>
                </a:lnSpc>
                <a:spcBef>
                  <a:spcPts val="0"/>
                </a:spcBef>
                <a:spcAft>
                  <a:spcPts val="0"/>
                </a:spcAft>
                <a:buNone/>
              </a:pPr>
              <a:r>
                <a:rPr b="0" i="0" lang="en-US" sz="1650" u="none" cap="none" strike="noStrike">
                  <a:solidFill>
                    <a:srgbClr val="FFFFFF"/>
                  </a:solidFill>
                  <a:latin typeface="Arimo"/>
                  <a:ea typeface="Arimo"/>
                  <a:cs typeface="Arimo"/>
                  <a:sym typeface="Arimo"/>
                </a:rPr>
                <a:t>que la cantidad de algún producto no coincide</a:t>
              </a:r>
              <a:endParaRPr/>
            </a:p>
            <a:p>
              <a:pPr indent="0" lvl="0" marL="0" marR="0" rtl="0" algn="ctr">
                <a:lnSpc>
                  <a:spcPct val="108000"/>
                </a:lnSpc>
                <a:spcBef>
                  <a:spcPts val="0"/>
                </a:spcBef>
                <a:spcAft>
                  <a:spcPts val="0"/>
                </a:spcAft>
                <a:buNone/>
              </a:pPr>
              <a:r>
                <a:rPr b="0" i="0" lang="en-US" sz="1650" u="none" cap="none" strike="noStrike">
                  <a:solidFill>
                    <a:srgbClr val="FFFFFF"/>
                  </a:solidFill>
                  <a:latin typeface="Arimo"/>
                  <a:ea typeface="Arimo"/>
                  <a:cs typeface="Arimo"/>
                  <a:sym typeface="Arimo"/>
                </a:rPr>
                <a:t>con lo que se pidió ? </a:t>
              </a:r>
              <a:endParaRPr/>
            </a:p>
          </p:txBody>
        </p:sp>
      </p:grpSp>
      <p:grpSp>
        <p:nvGrpSpPr>
          <p:cNvPr id="468" name="Google Shape;468;p16"/>
          <p:cNvGrpSpPr/>
          <p:nvPr/>
        </p:nvGrpSpPr>
        <p:grpSpPr>
          <a:xfrm>
            <a:off x="11836940" y="4092392"/>
            <a:ext cx="2562410" cy="1415319"/>
            <a:chOff x="0" y="0"/>
            <a:chExt cx="3416547" cy="1887093"/>
          </a:xfrm>
        </p:grpSpPr>
        <p:sp>
          <p:nvSpPr>
            <p:cNvPr id="469" name="Google Shape;469;p16"/>
            <p:cNvSpPr/>
            <p:nvPr/>
          </p:nvSpPr>
          <p:spPr>
            <a:xfrm>
              <a:off x="20862" y="19050"/>
              <a:ext cx="3374827" cy="1848993"/>
            </a:xfrm>
            <a:custGeom>
              <a:rect b="b" l="l" r="r" t="t"/>
              <a:pathLst>
                <a:path extrusionOk="0" h="1848993" w="3374827">
                  <a:moveTo>
                    <a:pt x="0" y="0"/>
                  </a:moveTo>
                  <a:lnTo>
                    <a:pt x="3374827" y="0"/>
                  </a:lnTo>
                  <a:lnTo>
                    <a:pt x="3374827" y="1848993"/>
                  </a:lnTo>
                  <a:lnTo>
                    <a:pt x="0" y="1848993"/>
                  </a:lnTo>
                  <a:close/>
                </a:path>
              </a:pathLst>
            </a:custGeom>
            <a:solidFill>
              <a:srgbClr val="7404A2"/>
            </a:solidFill>
            <a:ln cap="flat" cmpd="sng" w="12700">
              <a:solidFill>
                <a:srgbClr val="000000"/>
              </a:solidFill>
              <a:prstDash val="solid"/>
              <a:round/>
              <a:headEnd len="sm" w="sm" type="none"/>
              <a:tailEnd len="sm" w="sm" type="none"/>
            </a:ln>
          </p:spPr>
        </p:sp>
        <p:sp>
          <p:nvSpPr>
            <p:cNvPr id="470" name="Google Shape;470;p16"/>
            <p:cNvSpPr/>
            <p:nvPr/>
          </p:nvSpPr>
          <p:spPr>
            <a:xfrm>
              <a:off x="0" y="0"/>
              <a:ext cx="3416547" cy="1887093"/>
            </a:xfrm>
            <a:custGeom>
              <a:rect b="b" l="l" r="r" t="t"/>
              <a:pathLst>
                <a:path extrusionOk="0" h="1887093" w="3416547">
                  <a:moveTo>
                    <a:pt x="20862" y="0"/>
                  </a:moveTo>
                  <a:lnTo>
                    <a:pt x="3395689" y="0"/>
                  </a:lnTo>
                  <a:cubicBezTo>
                    <a:pt x="3407233" y="0"/>
                    <a:pt x="3416547" y="8509"/>
                    <a:pt x="3416547" y="19050"/>
                  </a:cubicBezTo>
                  <a:lnTo>
                    <a:pt x="3416547" y="1868043"/>
                  </a:lnTo>
                  <a:cubicBezTo>
                    <a:pt x="3416547" y="1878584"/>
                    <a:pt x="3407233" y="1887093"/>
                    <a:pt x="3395689" y="1887093"/>
                  </a:cubicBezTo>
                  <a:lnTo>
                    <a:pt x="20862" y="1887093"/>
                  </a:lnTo>
                  <a:cubicBezTo>
                    <a:pt x="9318" y="1887093"/>
                    <a:pt x="0" y="1878584"/>
                    <a:pt x="0" y="1868043"/>
                  </a:cubicBezTo>
                  <a:lnTo>
                    <a:pt x="0" y="19050"/>
                  </a:lnTo>
                  <a:cubicBezTo>
                    <a:pt x="0" y="8509"/>
                    <a:pt x="9318" y="0"/>
                    <a:pt x="20862" y="0"/>
                  </a:cubicBezTo>
                  <a:moveTo>
                    <a:pt x="20862" y="38100"/>
                  </a:moveTo>
                  <a:lnTo>
                    <a:pt x="20862" y="19050"/>
                  </a:lnTo>
                  <a:lnTo>
                    <a:pt x="41725" y="19050"/>
                  </a:lnTo>
                  <a:lnTo>
                    <a:pt x="41725" y="1868043"/>
                  </a:lnTo>
                  <a:lnTo>
                    <a:pt x="20862" y="1868043"/>
                  </a:lnTo>
                  <a:lnTo>
                    <a:pt x="20862" y="1848993"/>
                  </a:lnTo>
                  <a:lnTo>
                    <a:pt x="3395689" y="1848993"/>
                  </a:lnTo>
                  <a:lnTo>
                    <a:pt x="3395689" y="1868043"/>
                  </a:lnTo>
                  <a:lnTo>
                    <a:pt x="3374827" y="1868043"/>
                  </a:lnTo>
                  <a:lnTo>
                    <a:pt x="3374827" y="19050"/>
                  </a:lnTo>
                  <a:lnTo>
                    <a:pt x="3395689" y="19050"/>
                  </a:lnTo>
                  <a:lnTo>
                    <a:pt x="3395689" y="38100"/>
                  </a:lnTo>
                  <a:lnTo>
                    <a:pt x="20862"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6"/>
          <p:cNvGrpSpPr/>
          <p:nvPr/>
        </p:nvGrpSpPr>
        <p:grpSpPr>
          <a:xfrm>
            <a:off x="11916437" y="4090570"/>
            <a:ext cx="2339784" cy="1415299"/>
            <a:chOff x="0" y="0"/>
            <a:chExt cx="3119712" cy="1887066"/>
          </a:xfrm>
        </p:grpSpPr>
        <p:sp>
          <p:nvSpPr>
            <p:cNvPr id="472" name="Google Shape;472;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73" name="Google Shape;473;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4.</a:t>
              </a:r>
              <a:r>
                <a:rPr b="0" i="0" lang="en-US" sz="1800" u="none" cap="none" strike="noStrike">
                  <a:solidFill>
                    <a:srgbClr val="FFFFFF"/>
                  </a:solidFill>
                  <a:latin typeface="Arimo"/>
                  <a:ea typeface="Arimo"/>
                  <a:cs typeface="Arimo"/>
                  <a:sym typeface="Arimo"/>
                </a:rPr>
                <a:t> ¿Existen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procedimientos o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documentos para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reportar estos fallos</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con los pedidos ? </a:t>
              </a:r>
              <a:endParaRPr/>
            </a:p>
          </p:txBody>
        </p:sp>
      </p:grpSp>
      <p:grpSp>
        <p:nvGrpSpPr>
          <p:cNvPr id="474" name="Google Shape;474;p16"/>
          <p:cNvGrpSpPr/>
          <p:nvPr/>
        </p:nvGrpSpPr>
        <p:grpSpPr>
          <a:xfrm>
            <a:off x="14679727" y="4092392"/>
            <a:ext cx="2339816" cy="1415319"/>
            <a:chOff x="0" y="0"/>
            <a:chExt cx="3119755" cy="1887093"/>
          </a:xfrm>
        </p:grpSpPr>
        <p:sp>
          <p:nvSpPr>
            <p:cNvPr id="475" name="Google Shape;475;p16"/>
            <p:cNvSpPr/>
            <p:nvPr/>
          </p:nvSpPr>
          <p:spPr>
            <a:xfrm>
              <a:off x="19050" y="19050"/>
              <a:ext cx="3081655" cy="1848993"/>
            </a:xfrm>
            <a:custGeom>
              <a:rect b="b" l="l" r="r" t="t"/>
              <a:pathLst>
                <a:path extrusionOk="0" h="1848993" w="3081655">
                  <a:moveTo>
                    <a:pt x="0" y="0"/>
                  </a:moveTo>
                  <a:lnTo>
                    <a:pt x="3081655" y="0"/>
                  </a:lnTo>
                  <a:lnTo>
                    <a:pt x="3081655" y="1848993"/>
                  </a:lnTo>
                  <a:lnTo>
                    <a:pt x="0" y="1848993"/>
                  </a:lnTo>
                  <a:close/>
                </a:path>
              </a:pathLst>
            </a:custGeom>
            <a:solidFill>
              <a:srgbClr val="A06600"/>
            </a:solidFill>
            <a:ln cap="flat" cmpd="sng" w="12700">
              <a:solidFill>
                <a:srgbClr val="000000"/>
              </a:solidFill>
              <a:prstDash val="solid"/>
              <a:round/>
              <a:headEnd len="sm" w="sm" type="none"/>
              <a:tailEnd len="sm" w="sm" type="none"/>
            </a:ln>
          </p:spPr>
        </p:sp>
        <p:sp>
          <p:nvSpPr>
            <p:cNvPr id="476" name="Google Shape;476;p16"/>
            <p:cNvSpPr/>
            <p:nvPr/>
          </p:nvSpPr>
          <p:spPr>
            <a:xfrm>
              <a:off x="0" y="0"/>
              <a:ext cx="3119755" cy="1887093"/>
            </a:xfrm>
            <a:custGeom>
              <a:rect b="b" l="l" r="r" t="t"/>
              <a:pathLst>
                <a:path extrusionOk="0" h="1887093" w="3119755">
                  <a:moveTo>
                    <a:pt x="19050" y="0"/>
                  </a:moveTo>
                  <a:lnTo>
                    <a:pt x="3100705" y="0"/>
                  </a:lnTo>
                  <a:cubicBezTo>
                    <a:pt x="3111246" y="0"/>
                    <a:pt x="3119755" y="8509"/>
                    <a:pt x="3119755" y="19050"/>
                  </a:cubicBezTo>
                  <a:lnTo>
                    <a:pt x="3119755" y="1868043"/>
                  </a:lnTo>
                  <a:cubicBezTo>
                    <a:pt x="3119755" y="1878584"/>
                    <a:pt x="3111246" y="1887093"/>
                    <a:pt x="3100705" y="1887093"/>
                  </a:cubicBezTo>
                  <a:lnTo>
                    <a:pt x="19050" y="1887093"/>
                  </a:lnTo>
                  <a:cubicBezTo>
                    <a:pt x="8509" y="1887093"/>
                    <a:pt x="0" y="1878584"/>
                    <a:pt x="0" y="1868043"/>
                  </a:cubicBezTo>
                  <a:lnTo>
                    <a:pt x="0" y="19050"/>
                  </a:lnTo>
                  <a:cubicBezTo>
                    <a:pt x="0" y="8509"/>
                    <a:pt x="8509" y="0"/>
                    <a:pt x="19050" y="0"/>
                  </a:cubicBezTo>
                  <a:moveTo>
                    <a:pt x="19050" y="38100"/>
                  </a:moveTo>
                  <a:lnTo>
                    <a:pt x="19050" y="19050"/>
                  </a:lnTo>
                  <a:lnTo>
                    <a:pt x="38100" y="19050"/>
                  </a:lnTo>
                  <a:lnTo>
                    <a:pt x="38100" y="1868043"/>
                  </a:lnTo>
                  <a:lnTo>
                    <a:pt x="19050" y="1868043"/>
                  </a:lnTo>
                  <a:lnTo>
                    <a:pt x="19050" y="1848993"/>
                  </a:lnTo>
                  <a:lnTo>
                    <a:pt x="3100705" y="1848993"/>
                  </a:lnTo>
                  <a:lnTo>
                    <a:pt x="3100705" y="1868043"/>
                  </a:lnTo>
                  <a:lnTo>
                    <a:pt x="3081655" y="1868043"/>
                  </a:lnTo>
                  <a:lnTo>
                    <a:pt x="3081655" y="19050"/>
                  </a:lnTo>
                  <a:lnTo>
                    <a:pt x="3100705" y="19050"/>
                  </a:lnTo>
                  <a:lnTo>
                    <a:pt x="3100705" y="38100"/>
                  </a:lnTo>
                  <a:lnTo>
                    <a:pt x="19050"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 name="Google Shape;477;p16"/>
          <p:cNvGrpSpPr/>
          <p:nvPr/>
        </p:nvGrpSpPr>
        <p:grpSpPr>
          <a:xfrm>
            <a:off x="14679727" y="4092392"/>
            <a:ext cx="2339784" cy="1415299"/>
            <a:chOff x="0" y="0"/>
            <a:chExt cx="3119712" cy="1887066"/>
          </a:xfrm>
        </p:grpSpPr>
        <p:sp>
          <p:nvSpPr>
            <p:cNvPr id="478" name="Google Shape;478;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79" name="Google Shape;479;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650" u="none" cap="none" strike="noStrike">
                  <a:solidFill>
                    <a:srgbClr val="FFFFFF"/>
                  </a:solidFill>
                  <a:latin typeface="Arimo"/>
                  <a:ea typeface="Arimo"/>
                  <a:cs typeface="Arimo"/>
                  <a:sym typeface="Arimo"/>
                </a:rPr>
                <a:t>5.</a:t>
              </a:r>
              <a:r>
                <a:rPr b="0" i="0" lang="en-US" sz="1650" u="none" cap="none" strike="noStrike">
                  <a:solidFill>
                    <a:srgbClr val="FFFFFF"/>
                  </a:solidFill>
                  <a:latin typeface="Arimo"/>
                  <a:ea typeface="Arimo"/>
                  <a:cs typeface="Arimo"/>
                  <a:sym typeface="Arimo"/>
                </a:rPr>
                <a:t>  ¿Con qué frecuencia </a:t>
              </a:r>
              <a:endParaRPr/>
            </a:p>
            <a:p>
              <a:pPr indent="0" lvl="0" marL="0" marR="0" rtl="0" algn="ctr">
                <a:lnSpc>
                  <a:spcPct val="108000"/>
                </a:lnSpc>
                <a:spcBef>
                  <a:spcPts val="0"/>
                </a:spcBef>
                <a:spcAft>
                  <a:spcPts val="0"/>
                </a:spcAft>
                <a:buNone/>
              </a:pPr>
              <a:r>
                <a:rPr b="0" i="0" lang="en-US" sz="1650" u="none" cap="none" strike="noStrike">
                  <a:solidFill>
                    <a:srgbClr val="FFFFFF"/>
                  </a:solidFill>
                  <a:latin typeface="Arimo"/>
                  <a:ea typeface="Arimo"/>
                  <a:cs typeface="Arimo"/>
                  <a:sym typeface="Arimo"/>
                </a:rPr>
                <a:t>hace inventarios físicos para verificar que las</a:t>
              </a:r>
              <a:endParaRPr/>
            </a:p>
            <a:p>
              <a:pPr indent="0" lvl="0" marL="0" marR="0" rtl="0" algn="ctr">
                <a:lnSpc>
                  <a:spcPct val="108000"/>
                </a:lnSpc>
                <a:spcBef>
                  <a:spcPts val="0"/>
                </a:spcBef>
                <a:spcAft>
                  <a:spcPts val="0"/>
                </a:spcAft>
                <a:buNone/>
              </a:pPr>
              <a:r>
                <a:rPr b="0" i="0" lang="en-US" sz="1650" u="none" cap="none" strike="noStrike">
                  <a:solidFill>
                    <a:srgbClr val="FFFFFF"/>
                  </a:solidFill>
                  <a:latin typeface="Arimo"/>
                  <a:ea typeface="Arimo"/>
                  <a:cs typeface="Arimo"/>
                  <a:sym typeface="Arimo"/>
                </a:rPr>
                <a:t>cantidades existentes </a:t>
              </a:r>
              <a:endParaRPr/>
            </a:p>
            <a:p>
              <a:pPr indent="0" lvl="0" marL="0" marR="0" rtl="0" algn="ctr">
                <a:lnSpc>
                  <a:spcPct val="108000"/>
                </a:lnSpc>
                <a:spcBef>
                  <a:spcPts val="0"/>
                </a:spcBef>
                <a:spcAft>
                  <a:spcPts val="0"/>
                </a:spcAft>
                <a:buNone/>
              </a:pPr>
              <a:r>
                <a:rPr b="0" i="0" lang="en-US" sz="1650" u="none" cap="none" strike="noStrike">
                  <a:solidFill>
                    <a:srgbClr val="FFFFFF"/>
                  </a:solidFill>
                  <a:latin typeface="Arimo"/>
                  <a:ea typeface="Arimo"/>
                  <a:cs typeface="Arimo"/>
                  <a:sym typeface="Arimo"/>
                </a:rPr>
                <a:t>sean correctas?</a:t>
              </a:r>
              <a:endParaRPr/>
            </a:p>
          </p:txBody>
        </p:sp>
      </p:grpSp>
      <p:grpSp>
        <p:nvGrpSpPr>
          <p:cNvPr id="480" name="Google Shape;480;p16"/>
          <p:cNvGrpSpPr/>
          <p:nvPr/>
        </p:nvGrpSpPr>
        <p:grpSpPr>
          <a:xfrm>
            <a:off x="8994151" y="6010695"/>
            <a:ext cx="2498812" cy="1415320"/>
            <a:chOff x="0" y="0"/>
            <a:chExt cx="3331749" cy="1887093"/>
          </a:xfrm>
        </p:grpSpPr>
        <p:sp>
          <p:nvSpPr>
            <p:cNvPr id="481" name="Google Shape;481;p16"/>
            <p:cNvSpPr/>
            <p:nvPr/>
          </p:nvSpPr>
          <p:spPr>
            <a:xfrm>
              <a:off x="20345" y="19050"/>
              <a:ext cx="3291063" cy="1848993"/>
            </a:xfrm>
            <a:custGeom>
              <a:rect b="b" l="l" r="r" t="t"/>
              <a:pathLst>
                <a:path extrusionOk="0" h="1848993" w="3291063">
                  <a:moveTo>
                    <a:pt x="0" y="0"/>
                  </a:moveTo>
                  <a:lnTo>
                    <a:pt x="3291063" y="0"/>
                  </a:lnTo>
                  <a:lnTo>
                    <a:pt x="3291063" y="1848993"/>
                  </a:lnTo>
                  <a:lnTo>
                    <a:pt x="0" y="1848993"/>
                  </a:lnTo>
                  <a:close/>
                </a:path>
              </a:pathLst>
            </a:custGeom>
            <a:solidFill>
              <a:srgbClr val="069E58"/>
            </a:solidFill>
            <a:ln cap="flat" cmpd="sng" w="12700">
              <a:solidFill>
                <a:srgbClr val="000000"/>
              </a:solidFill>
              <a:prstDash val="solid"/>
              <a:round/>
              <a:headEnd len="sm" w="sm" type="none"/>
              <a:tailEnd len="sm" w="sm" type="none"/>
            </a:ln>
          </p:spPr>
        </p:sp>
        <p:sp>
          <p:nvSpPr>
            <p:cNvPr id="482" name="Google Shape;482;p16"/>
            <p:cNvSpPr/>
            <p:nvPr/>
          </p:nvSpPr>
          <p:spPr>
            <a:xfrm>
              <a:off x="0" y="0"/>
              <a:ext cx="3331749" cy="1887093"/>
            </a:xfrm>
            <a:custGeom>
              <a:rect b="b" l="l" r="r" t="t"/>
              <a:pathLst>
                <a:path extrusionOk="0" h="1887093" w="3331749">
                  <a:moveTo>
                    <a:pt x="20345" y="0"/>
                  </a:moveTo>
                  <a:lnTo>
                    <a:pt x="3311408" y="0"/>
                  </a:lnTo>
                  <a:cubicBezTo>
                    <a:pt x="3322665" y="0"/>
                    <a:pt x="3331749" y="8509"/>
                    <a:pt x="3331749" y="19050"/>
                  </a:cubicBezTo>
                  <a:lnTo>
                    <a:pt x="3331749" y="1868043"/>
                  </a:lnTo>
                  <a:cubicBezTo>
                    <a:pt x="3331749" y="1878584"/>
                    <a:pt x="3322665" y="1887093"/>
                    <a:pt x="3311408" y="1887093"/>
                  </a:cubicBezTo>
                  <a:lnTo>
                    <a:pt x="20345" y="1887093"/>
                  </a:lnTo>
                  <a:cubicBezTo>
                    <a:pt x="9087" y="1887093"/>
                    <a:pt x="0" y="1878584"/>
                    <a:pt x="0" y="1868043"/>
                  </a:cubicBezTo>
                  <a:lnTo>
                    <a:pt x="0" y="19050"/>
                  </a:lnTo>
                  <a:cubicBezTo>
                    <a:pt x="0" y="8509"/>
                    <a:pt x="9087" y="0"/>
                    <a:pt x="20345" y="0"/>
                  </a:cubicBezTo>
                  <a:moveTo>
                    <a:pt x="20345" y="38100"/>
                  </a:moveTo>
                  <a:lnTo>
                    <a:pt x="20345" y="19050"/>
                  </a:lnTo>
                  <a:lnTo>
                    <a:pt x="40689" y="19050"/>
                  </a:lnTo>
                  <a:lnTo>
                    <a:pt x="40689" y="1868043"/>
                  </a:lnTo>
                  <a:lnTo>
                    <a:pt x="20345" y="1868043"/>
                  </a:lnTo>
                  <a:lnTo>
                    <a:pt x="20345" y="1848993"/>
                  </a:lnTo>
                  <a:lnTo>
                    <a:pt x="3311408" y="1848993"/>
                  </a:lnTo>
                  <a:lnTo>
                    <a:pt x="3311408" y="1868043"/>
                  </a:lnTo>
                  <a:lnTo>
                    <a:pt x="3291063" y="1868043"/>
                  </a:lnTo>
                  <a:lnTo>
                    <a:pt x="3291063" y="19050"/>
                  </a:lnTo>
                  <a:lnTo>
                    <a:pt x="3311408" y="19050"/>
                  </a:lnTo>
                  <a:lnTo>
                    <a:pt x="3311408" y="38100"/>
                  </a:lnTo>
                  <a:lnTo>
                    <a:pt x="20345"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 name="Google Shape;483;p16"/>
          <p:cNvGrpSpPr/>
          <p:nvPr/>
        </p:nvGrpSpPr>
        <p:grpSpPr>
          <a:xfrm>
            <a:off x="9073649" y="6012516"/>
            <a:ext cx="2339784" cy="1415300"/>
            <a:chOff x="0" y="0"/>
            <a:chExt cx="3119712" cy="1887066"/>
          </a:xfrm>
        </p:grpSpPr>
        <p:sp>
          <p:nvSpPr>
            <p:cNvPr id="484" name="Google Shape;484;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85" name="Google Shape;485;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6. </a:t>
              </a:r>
              <a:r>
                <a:rPr b="0" i="0" lang="en-US" sz="1800" u="none" cap="none" strike="noStrike">
                  <a:solidFill>
                    <a:srgbClr val="FFFFFF"/>
                  </a:solidFill>
                  <a:latin typeface="Arimo"/>
                  <a:ea typeface="Arimo"/>
                  <a:cs typeface="Arimo"/>
                  <a:sym typeface="Arimo"/>
                </a:rPr>
                <a:t>¿ Cómo afecta que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falten repuestos a la atención o ventas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del taller ?</a:t>
              </a:r>
              <a:endParaRPr/>
            </a:p>
          </p:txBody>
        </p:sp>
      </p:grpSp>
      <p:grpSp>
        <p:nvGrpSpPr>
          <p:cNvPr id="486" name="Google Shape;486;p16"/>
          <p:cNvGrpSpPr/>
          <p:nvPr/>
        </p:nvGrpSpPr>
        <p:grpSpPr>
          <a:xfrm>
            <a:off x="11836940" y="6010695"/>
            <a:ext cx="2562410" cy="1415320"/>
            <a:chOff x="0" y="0"/>
            <a:chExt cx="3416547" cy="1887093"/>
          </a:xfrm>
        </p:grpSpPr>
        <p:sp>
          <p:nvSpPr>
            <p:cNvPr id="487" name="Google Shape;487;p16"/>
            <p:cNvSpPr/>
            <p:nvPr/>
          </p:nvSpPr>
          <p:spPr>
            <a:xfrm>
              <a:off x="20862" y="19050"/>
              <a:ext cx="3374827" cy="1848993"/>
            </a:xfrm>
            <a:custGeom>
              <a:rect b="b" l="l" r="r" t="t"/>
              <a:pathLst>
                <a:path extrusionOk="0" h="1848993" w="3374827">
                  <a:moveTo>
                    <a:pt x="0" y="0"/>
                  </a:moveTo>
                  <a:lnTo>
                    <a:pt x="3374827" y="0"/>
                  </a:lnTo>
                  <a:lnTo>
                    <a:pt x="3374827" y="1848993"/>
                  </a:lnTo>
                  <a:lnTo>
                    <a:pt x="0" y="1848993"/>
                  </a:lnTo>
                  <a:close/>
                </a:path>
              </a:pathLst>
            </a:custGeom>
            <a:solidFill>
              <a:srgbClr val="4B069C"/>
            </a:solidFill>
            <a:ln cap="flat" cmpd="sng" w="12700">
              <a:solidFill>
                <a:srgbClr val="000000"/>
              </a:solidFill>
              <a:prstDash val="solid"/>
              <a:round/>
              <a:headEnd len="sm" w="sm" type="none"/>
              <a:tailEnd len="sm" w="sm" type="none"/>
            </a:ln>
          </p:spPr>
        </p:sp>
        <p:sp>
          <p:nvSpPr>
            <p:cNvPr id="488" name="Google Shape;488;p16"/>
            <p:cNvSpPr/>
            <p:nvPr/>
          </p:nvSpPr>
          <p:spPr>
            <a:xfrm>
              <a:off x="0" y="0"/>
              <a:ext cx="3416547" cy="1887093"/>
            </a:xfrm>
            <a:custGeom>
              <a:rect b="b" l="l" r="r" t="t"/>
              <a:pathLst>
                <a:path extrusionOk="0" h="1887093" w="3416547">
                  <a:moveTo>
                    <a:pt x="20862" y="0"/>
                  </a:moveTo>
                  <a:lnTo>
                    <a:pt x="3395689" y="0"/>
                  </a:lnTo>
                  <a:cubicBezTo>
                    <a:pt x="3407233" y="0"/>
                    <a:pt x="3416547" y="8509"/>
                    <a:pt x="3416547" y="19050"/>
                  </a:cubicBezTo>
                  <a:lnTo>
                    <a:pt x="3416547" y="1868043"/>
                  </a:lnTo>
                  <a:cubicBezTo>
                    <a:pt x="3416547" y="1878584"/>
                    <a:pt x="3407233" y="1887093"/>
                    <a:pt x="3395689" y="1887093"/>
                  </a:cubicBezTo>
                  <a:lnTo>
                    <a:pt x="20862" y="1887093"/>
                  </a:lnTo>
                  <a:cubicBezTo>
                    <a:pt x="9318" y="1887093"/>
                    <a:pt x="0" y="1878584"/>
                    <a:pt x="0" y="1868043"/>
                  </a:cubicBezTo>
                  <a:lnTo>
                    <a:pt x="0" y="19050"/>
                  </a:lnTo>
                  <a:cubicBezTo>
                    <a:pt x="0" y="8509"/>
                    <a:pt x="9318" y="0"/>
                    <a:pt x="20862" y="0"/>
                  </a:cubicBezTo>
                  <a:moveTo>
                    <a:pt x="20862" y="38100"/>
                  </a:moveTo>
                  <a:lnTo>
                    <a:pt x="20862" y="19050"/>
                  </a:lnTo>
                  <a:lnTo>
                    <a:pt x="41725" y="19050"/>
                  </a:lnTo>
                  <a:lnTo>
                    <a:pt x="41725" y="1868043"/>
                  </a:lnTo>
                  <a:lnTo>
                    <a:pt x="20862" y="1868043"/>
                  </a:lnTo>
                  <a:lnTo>
                    <a:pt x="20862" y="1848993"/>
                  </a:lnTo>
                  <a:lnTo>
                    <a:pt x="3395689" y="1848993"/>
                  </a:lnTo>
                  <a:lnTo>
                    <a:pt x="3395689" y="1868043"/>
                  </a:lnTo>
                  <a:lnTo>
                    <a:pt x="3374827" y="1868043"/>
                  </a:lnTo>
                  <a:lnTo>
                    <a:pt x="3374827" y="19050"/>
                  </a:lnTo>
                  <a:lnTo>
                    <a:pt x="3395689" y="19050"/>
                  </a:lnTo>
                  <a:lnTo>
                    <a:pt x="3395689" y="38100"/>
                  </a:lnTo>
                  <a:lnTo>
                    <a:pt x="20862"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9" name="Google Shape;489;p16"/>
          <p:cNvGrpSpPr/>
          <p:nvPr/>
        </p:nvGrpSpPr>
        <p:grpSpPr>
          <a:xfrm>
            <a:off x="11948237" y="6010695"/>
            <a:ext cx="2339784" cy="1415300"/>
            <a:chOff x="0" y="0"/>
            <a:chExt cx="3119712" cy="1887066"/>
          </a:xfrm>
        </p:grpSpPr>
        <p:sp>
          <p:nvSpPr>
            <p:cNvPr id="490" name="Google Shape;490;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91" name="Google Shape;491;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650" u="none" cap="none" strike="noStrike">
                  <a:solidFill>
                    <a:srgbClr val="FFFFFF"/>
                  </a:solidFill>
                  <a:latin typeface="Arimo"/>
                  <a:ea typeface="Arimo"/>
                  <a:cs typeface="Arimo"/>
                  <a:sym typeface="Arimo"/>
                </a:rPr>
                <a:t>7.</a:t>
              </a:r>
              <a:r>
                <a:rPr b="0" i="0" lang="en-US" sz="1650" u="none" cap="none" strike="noStrike">
                  <a:solidFill>
                    <a:srgbClr val="FFFFFF"/>
                  </a:solidFill>
                  <a:latin typeface="Arimo"/>
                  <a:ea typeface="Arimo"/>
                  <a:cs typeface="Arimo"/>
                  <a:sym typeface="Arimo"/>
                </a:rPr>
                <a:t> Ha notado si algunos </a:t>
              </a:r>
              <a:endParaRPr/>
            </a:p>
            <a:p>
              <a:pPr indent="0" lvl="0" marL="0" marR="0" rtl="0" algn="ctr">
                <a:lnSpc>
                  <a:spcPct val="108000"/>
                </a:lnSpc>
                <a:spcBef>
                  <a:spcPts val="0"/>
                </a:spcBef>
                <a:spcAft>
                  <a:spcPts val="0"/>
                </a:spcAft>
                <a:buNone/>
              </a:pPr>
              <a:r>
                <a:rPr b="0" i="0" lang="en-US" sz="1650" u="none" cap="none" strike="noStrike">
                  <a:solidFill>
                    <a:srgbClr val="FFFFFF"/>
                  </a:solidFill>
                  <a:latin typeface="Arimo"/>
                  <a:ea typeface="Arimo"/>
                  <a:cs typeface="Arimo"/>
                  <a:sym typeface="Arimo"/>
                </a:rPr>
                <a:t>proveedores fallan más que otros en las</a:t>
              </a:r>
              <a:endParaRPr/>
            </a:p>
            <a:p>
              <a:pPr indent="0" lvl="0" marL="0" marR="0" rtl="0" algn="ctr">
                <a:lnSpc>
                  <a:spcPct val="108000"/>
                </a:lnSpc>
                <a:spcBef>
                  <a:spcPts val="0"/>
                </a:spcBef>
                <a:spcAft>
                  <a:spcPts val="0"/>
                </a:spcAft>
                <a:buNone/>
              </a:pPr>
              <a:r>
                <a:rPr b="0" i="0" lang="en-US" sz="1650" u="none" cap="none" strike="noStrike">
                  <a:solidFill>
                    <a:srgbClr val="FFFFFF"/>
                  </a:solidFill>
                  <a:latin typeface="Arimo"/>
                  <a:ea typeface="Arimo"/>
                  <a:cs typeface="Arimo"/>
                  <a:sym typeface="Arimo"/>
                </a:rPr>
                <a:t>cantidades entregadas ?</a:t>
              </a:r>
              <a:endParaRPr/>
            </a:p>
          </p:txBody>
        </p:sp>
      </p:grpSp>
      <p:grpSp>
        <p:nvGrpSpPr>
          <p:cNvPr id="492" name="Google Shape;492;p16"/>
          <p:cNvGrpSpPr/>
          <p:nvPr/>
        </p:nvGrpSpPr>
        <p:grpSpPr>
          <a:xfrm>
            <a:off x="14679727" y="6010695"/>
            <a:ext cx="2339816" cy="1415320"/>
            <a:chOff x="0" y="0"/>
            <a:chExt cx="3119755" cy="1887093"/>
          </a:xfrm>
        </p:grpSpPr>
        <p:sp>
          <p:nvSpPr>
            <p:cNvPr id="493" name="Google Shape;493;p16"/>
            <p:cNvSpPr/>
            <p:nvPr/>
          </p:nvSpPr>
          <p:spPr>
            <a:xfrm>
              <a:off x="19050" y="19050"/>
              <a:ext cx="3081655" cy="1848993"/>
            </a:xfrm>
            <a:custGeom>
              <a:rect b="b" l="l" r="r" t="t"/>
              <a:pathLst>
                <a:path extrusionOk="0" h="1848993" w="3081655">
                  <a:moveTo>
                    <a:pt x="0" y="0"/>
                  </a:moveTo>
                  <a:lnTo>
                    <a:pt x="3081655" y="0"/>
                  </a:lnTo>
                  <a:lnTo>
                    <a:pt x="3081655" y="1848993"/>
                  </a:lnTo>
                  <a:lnTo>
                    <a:pt x="0" y="1848993"/>
                  </a:lnTo>
                  <a:close/>
                </a:path>
              </a:pathLst>
            </a:custGeom>
            <a:solidFill>
              <a:srgbClr val="9A3E00"/>
            </a:solidFill>
            <a:ln cap="flat" cmpd="sng" w="12700">
              <a:solidFill>
                <a:srgbClr val="000000"/>
              </a:solidFill>
              <a:prstDash val="solid"/>
              <a:round/>
              <a:headEnd len="sm" w="sm" type="none"/>
              <a:tailEnd len="sm" w="sm" type="none"/>
            </a:ln>
          </p:spPr>
        </p:sp>
        <p:sp>
          <p:nvSpPr>
            <p:cNvPr id="494" name="Google Shape;494;p16"/>
            <p:cNvSpPr/>
            <p:nvPr/>
          </p:nvSpPr>
          <p:spPr>
            <a:xfrm>
              <a:off x="0" y="0"/>
              <a:ext cx="3119755" cy="1887093"/>
            </a:xfrm>
            <a:custGeom>
              <a:rect b="b" l="l" r="r" t="t"/>
              <a:pathLst>
                <a:path extrusionOk="0" h="1887093" w="3119755">
                  <a:moveTo>
                    <a:pt x="19050" y="0"/>
                  </a:moveTo>
                  <a:lnTo>
                    <a:pt x="3100705" y="0"/>
                  </a:lnTo>
                  <a:cubicBezTo>
                    <a:pt x="3111246" y="0"/>
                    <a:pt x="3119755" y="8509"/>
                    <a:pt x="3119755" y="19050"/>
                  </a:cubicBezTo>
                  <a:lnTo>
                    <a:pt x="3119755" y="1868043"/>
                  </a:lnTo>
                  <a:cubicBezTo>
                    <a:pt x="3119755" y="1878584"/>
                    <a:pt x="3111246" y="1887093"/>
                    <a:pt x="3100705" y="1887093"/>
                  </a:cubicBezTo>
                  <a:lnTo>
                    <a:pt x="19050" y="1887093"/>
                  </a:lnTo>
                  <a:cubicBezTo>
                    <a:pt x="8509" y="1887093"/>
                    <a:pt x="0" y="1878584"/>
                    <a:pt x="0" y="1868043"/>
                  </a:cubicBezTo>
                  <a:lnTo>
                    <a:pt x="0" y="19050"/>
                  </a:lnTo>
                  <a:cubicBezTo>
                    <a:pt x="0" y="8509"/>
                    <a:pt x="8509" y="0"/>
                    <a:pt x="19050" y="0"/>
                  </a:cubicBezTo>
                  <a:moveTo>
                    <a:pt x="19050" y="38100"/>
                  </a:moveTo>
                  <a:lnTo>
                    <a:pt x="19050" y="19050"/>
                  </a:lnTo>
                  <a:lnTo>
                    <a:pt x="38100" y="19050"/>
                  </a:lnTo>
                  <a:lnTo>
                    <a:pt x="38100" y="1868043"/>
                  </a:lnTo>
                  <a:lnTo>
                    <a:pt x="19050" y="1868043"/>
                  </a:lnTo>
                  <a:lnTo>
                    <a:pt x="19050" y="1848993"/>
                  </a:lnTo>
                  <a:lnTo>
                    <a:pt x="3100705" y="1848993"/>
                  </a:lnTo>
                  <a:lnTo>
                    <a:pt x="3100705" y="1868043"/>
                  </a:lnTo>
                  <a:lnTo>
                    <a:pt x="3081655" y="1868043"/>
                  </a:lnTo>
                  <a:lnTo>
                    <a:pt x="3081655" y="19050"/>
                  </a:lnTo>
                  <a:lnTo>
                    <a:pt x="3100705" y="19050"/>
                  </a:lnTo>
                  <a:lnTo>
                    <a:pt x="3100705" y="38100"/>
                  </a:lnTo>
                  <a:lnTo>
                    <a:pt x="19050"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5" name="Google Shape;495;p16"/>
          <p:cNvGrpSpPr/>
          <p:nvPr/>
        </p:nvGrpSpPr>
        <p:grpSpPr>
          <a:xfrm>
            <a:off x="14679727" y="6012516"/>
            <a:ext cx="2339784" cy="1415300"/>
            <a:chOff x="0" y="0"/>
            <a:chExt cx="3119712" cy="1887066"/>
          </a:xfrm>
        </p:grpSpPr>
        <p:sp>
          <p:nvSpPr>
            <p:cNvPr id="496" name="Google Shape;496;p16"/>
            <p:cNvSpPr/>
            <p:nvPr/>
          </p:nvSpPr>
          <p:spPr>
            <a:xfrm>
              <a:off x="0" y="0"/>
              <a:ext cx="3119712" cy="1887066"/>
            </a:xfrm>
            <a:custGeom>
              <a:rect b="b" l="l" r="r" t="t"/>
              <a:pathLst>
                <a:path extrusionOk="0" h="1887066" w="3119712">
                  <a:moveTo>
                    <a:pt x="0" y="0"/>
                  </a:moveTo>
                  <a:lnTo>
                    <a:pt x="3119712" y="0"/>
                  </a:lnTo>
                  <a:lnTo>
                    <a:pt x="3119712" y="1887066"/>
                  </a:lnTo>
                  <a:lnTo>
                    <a:pt x="0" y="1887066"/>
                  </a:lnTo>
                  <a:close/>
                </a:path>
              </a:pathLst>
            </a:custGeom>
            <a:solidFill>
              <a:srgbClr val="000000">
                <a:alpha val="0"/>
              </a:srgbClr>
            </a:solidFill>
            <a:ln>
              <a:noFill/>
            </a:ln>
          </p:spPr>
        </p:sp>
        <p:sp>
          <p:nvSpPr>
            <p:cNvPr id="497" name="Google Shape;497;p16"/>
            <p:cNvSpPr txBox="1"/>
            <p:nvPr/>
          </p:nvSpPr>
          <p:spPr>
            <a:xfrm>
              <a:off x="0" y="0"/>
              <a:ext cx="3119712"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8. </a:t>
              </a:r>
              <a:r>
                <a:rPr b="0" i="0" lang="en-US" sz="1800" u="none" cap="none" strike="noStrike">
                  <a:solidFill>
                    <a:srgbClr val="FFFFFF"/>
                  </a:solidFill>
                  <a:latin typeface="Arimo"/>
                  <a:ea typeface="Arimo"/>
                  <a:cs typeface="Arimo"/>
                  <a:sym typeface="Arimo"/>
                </a:rPr>
                <a:t>¿ Tiene alguna idea de cuántos pedidos al mes tienen este</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problema ?</a:t>
              </a:r>
              <a:endParaRPr/>
            </a:p>
          </p:txBody>
        </p:sp>
      </p:grpSp>
      <p:grpSp>
        <p:nvGrpSpPr>
          <p:cNvPr id="498" name="Google Shape;498;p16"/>
          <p:cNvGrpSpPr/>
          <p:nvPr/>
        </p:nvGrpSpPr>
        <p:grpSpPr>
          <a:xfrm>
            <a:off x="8994152" y="7930820"/>
            <a:ext cx="2498812" cy="1415320"/>
            <a:chOff x="0" y="0"/>
            <a:chExt cx="3331749" cy="1887093"/>
          </a:xfrm>
        </p:grpSpPr>
        <p:sp>
          <p:nvSpPr>
            <p:cNvPr id="499" name="Google Shape;499;p16"/>
            <p:cNvSpPr/>
            <p:nvPr/>
          </p:nvSpPr>
          <p:spPr>
            <a:xfrm>
              <a:off x="20345" y="19050"/>
              <a:ext cx="3291063" cy="1848993"/>
            </a:xfrm>
            <a:custGeom>
              <a:rect b="b" l="l" r="r" t="t"/>
              <a:pathLst>
                <a:path extrusionOk="0" h="1848993" w="3291063">
                  <a:moveTo>
                    <a:pt x="0" y="0"/>
                  </a:moveTo>
                  <a:lnTo>
                    <a:pt x="3291063" y="0"/>
                  </a:lnTo>
                  <a:lnTo>
                    <a:pt x="3291063" y="1848993"/>
                  </a:lnTo>
                  <a:lnTo>
                    <a:pt x="0" y="1848993"/>
                  </a:lnTo>
                  <a:close/>
                </a:path>
              </a:pathLst>
            </a:custGeom>
            <a:solidFill>
              <a:srgbClr val="089832"/>
            </a:solidFill>
            <a:ln cap="flat" cmpd="sng" w="12700">
              <a:solidFill>
                <a:srgbClr val="000000"/>
              </a:solidFill>
              <a:prstDash val="solid"/>
              <a:round/>
              <a:headEnd len="sm" w="sm" type="none"/>
              <a:tailEnd len="sm" w="sm" type="none"/>
            </a:ln>
          </p:spPr>
        </p:sp>
        <p:sp>
          <p:nvSpPr>
            <p:cNvPr id="500" name="Google Shape;500;p16"/>
            <p:cNvSpPr/>
            <p:nvPr/>
          </p:nvSpPr>
          <p:spPr>
            <a:xfrm>
              <a:off x="0" y="0"/>
              <a:ext cx="3331749" cy="1887093"/>
            </a:xfrm>
            <a:custGeom>
              <a:rect b="b" l="l" r="r" t="t"/>
              <a:pathLst>
                <a:path extrusionOk="0" h="1887093" w="3331749">
                  <a:moveTo>
                    <a:pt x="20345" y="0"/>
                  </a:moveTo>
                  <a:lnTo>
                    <a:pt x="3311408" y="0"/>
                  </a:lnTo>
                  <a:cubicBezTo>
                    <a:pt x="3322665" y="0"/>
                    <a:pt x="3331749" y="8509"/>
                    <a:pt x="3331749" y="19050"/>
                  </a:cubicBezTo>
                  <a:lnTo>
                    <a:pt x="3331749" y="1868043"/>
                  </a:lnTo>
                  <a:cubicBezTo>
                    <a:pt x="3331749" y="1878584"/>
                    <a:pt x="3322665" y="1887093"/>
                    <a:pt x="3311408" y="1887093"/>
                  </a:cubicBezTo>
                  <a:lnTo>
                    <a:pt x="20345" y="1887093"/>
                  </a:lnTo>
                  <a:cubicBezTo>
                    <a:pt x="9087" y="1887093"/>
                    <a:pt x="0" y="1878584"/>
                    <a:pt x="0" y="1868043"/>
                  </a:cubicBezTo>
                  <a:lnTo>
                    <a:pt x="0" y="19050"/>
                  </a:lnTo>
                  <a:cubicBezTo>
                    <a:pt x="0" y="8509"/>
                    <a:pt x="9087" y="0"/>
                    <a:pt x="20345" y="0"/>
                  </a:cubicBezTo>
                  <a:moveTo>
                    <a:pt x="20345" y="38100"/>
                  </a:moveTo>
                  <a:lnTo>
                    <a:pt x="20345" y="19050"/>
                  </a:lnTo>
                  <a:lnTo>
                    <a:pt x="40689" y="19050"/>
                  </a:lnTo>
                  <a:lnTo>
                    <a:pt x="40689" y="1868043"/>
                  </a:lnTo>
                  <a:lnTo>
                    <a:pt x="20345" y="1868043"/>
                  </a:lnTo>
                  <a:lnTo>
                    <a:pt x="20345" y="1848993"/>
                  </a:lnTo>
                  <a:lnTo>
                    <a:pt x="3311408" y="1848993"/>
                  </a:lnTo>
                  <a:lnTo>
                    <a:pt x="3311408" y="1868043"/>
                  </a:lnTo>
                  <a:lnTo>
                    <a:pt x="3291063" y="1868043"/>
                  </a:lnTo>
                  <a:lnTo>
                    <a:pt x="3291063" y="19050"/>
                  </a:lnTo>
                  <a:lnTo>
                    <a:pt x="3311408" y="19050"/>
                  </a:lnTo>
                  <a:lnTo>
                    <a:pt x="3311408" y="38100"/>
                  </a:lnTo>
                  <a:lnTo>
                    <a:pt x="20345" y="381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16"/>
          <p:cNvGrpSpPr/>
          <p:nvPr/>
        </p:nvGrpSpPr>
        <p:grpSpPr>
          <a:xfrm>
            <a:off x="8994151" y="7930820"/>
            <a:ext cx="2498781" cy="1415300"/>
            <a:chOff x="0" y="0"/>
            <a:chExt cx="3331707" cy="1887066"/>
          </a:xfrm>
        </p:grpSpPr>
        <p:sp>
          <p:nvSpPr>
            <p:cNvPr id="502" name="Google Shape;502;p16"/>
            <p:cNvSpPr/>
            <p:nvPr/>
          </p:nvSpPr>
          <p:spPr>
            <a:xfrm>
              <a:off x="0" y="0"/>
              <a:ext cx="3331707" cy="1887066"/>
            </a:xfrm>
            <a:custGeom>
              <a:rect b="b" l="l" r="r" t="t"/>
              <a:pathLst>
                <a:path extrusionOk="0" h="1887066" w="3331707">
                  <a:moveTo>
                    <a:pt x="0" y="0"/>
                  </a:moveTo>
                  <a:lnTo>
                    <a:pt x="3331707" y="0"/>
                  </a:lnTo>
                  <a:lnTo>
                    <a:pt x="3331707" y="1887066"/>
                  </a:lnTo>
                  <a:lnTo>
                    <a:pt x="0" y="1887066"/>
                  </a:lnTo>
                  <a:close/>
                </a:path>
              </a:pathLst>
            </a:custGeom>
            <a:solidFill>
              <a:srgbClr val="000000">
                <a:alpha val="0"/>
              </a:srgbClr>
            </a:solidFill>
            <a:ln>
              <a:noFill/>
            </a:ln>
          </p:spPr>
        </p:sp>
        <p:sp>
          <p:nvSpPr>
            <p:cNvPr id="503" name="Google Shape;503;p16"/>
            <p:cNvSpPr txBox="1"/>
            <p:nvPr/>
          </p:nvSpPr>
          <p:spPr>
            <a:xfrm>
              <a:off x="0" y="0"/>
              <a:ext cx="3331706"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9. </a:t>
              </a:r>
              <a:r>
                <a:rPr b="0" i="0" lang="en-US" sz="1800" u="none" cap="none" strike="noStrike">
                  <a:solidFill>
                    <a:srgbClr val="FFFFFF"/>
                  </a:solidFill>
                  <a:latin typeface="Arimo"/>
                  <a:ea typeface="Arimo"/>
                  <a:cs typeface="Arimo"/>
                  <a:sym typeface="Arimo"/>
                </a:rPr>
                <a:t>¿ Que le facilitaría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la recepción y control de repuestos para evitarerrores?</a:t>
              </a:r>
              <a:endParaRPr/>
            </a:p>
          </p:txBody>
        </p:sp>
      </p:grpSp>
      <p:grpSp>
        <p:nvGrpSpPr>
          <p:cNvPr id="504" name="Google Shape;504;p16"/>
          <p:cNvGrpSpPr/>
          <p:nvPr/>
        </p:nvGrpSpPr>
        <p:grpSpPr>
          <a:xfrm>
            <a:off x="11836940" y="7930820"/>
            <a:ext cx="2562410" cy="1413499"/>
            <a:chOff x="0" y="0"/>
            <a:chExt cx="3416547" cy="1884665"/>
          </a:xfrm>
        </p:grpSpPr>
        <p:sp>
          <p:nvSpPr>
            <p:cNvPr id="505" name="Google Shape;505;p16"/>
            <p:cNvSpPr/>
            <p:nvPr/>
          </p:nvSpPr>
          <p:spPr>
            <a:xfrm>
              <a:off x="20862" y="19025"/>
              <a:ext cx="3374827" cy="1846614"/>
            </a:xfrm>
            <a:custGeom>
              <a:rect b="b" l="l" r="r" t="t"/>
              <a:pathLst>
                <a:path extrusionOk="0" h="1846614" w="3374827">
                  <a:moveTo>
                    <a:pt x="0" y="0"/>
                  </a:moveTo>
                  <a:lnTo>
                    <a:pt x="3374827" y="0"/>
                  </a:lnTo>
                  <a:lnTo>
                    <a:pt x="3374827" y="1846614"/>
                  </a:lnTo>
                  <a:lnTo>
                    <a:pt x="0" y="1846614"/>
                  </a:lnTo>
                  <a:close/>
                </a:path>
              </a:pathLst>
            </a:custGeom>
            <a:solidFill>
              <a:srgbClr val="270996"/>
            </a:solidFill>
            <a:ln cap="flat" cmpd="sng" w="12700">
              <a:solidFill>
                <a:srgbClr val="000000"/>
              </a:solidFill>
              <a:prstDash val="solid"/>
              <a:round/>
              <a:headEnd len="sm" w="sm" type="none"/>
              <a:tailEnd len="sm" w="sm" type="none"/>
            </a:ln>
          </p:spPr>
        </p:sp>
        <p:sp>
          <p:nvSpPr>
            <p:cNvPr id="506" name="Google Shape;506;p16"/>
            <p:cNvSpPr/>
            <p:nvPr/>
          </p:nvSpPr>
          <p:spPr>
            <a:xfrm>
              <a:off x="0" y="0"/>
              <a:ext cx="3416547" cy="1884665"/>
            </a:xfrm>
            <a:custGeom>
              <a:rect b="b" l="l" r="r" t="t"/>
              <a:pathLst>
                <a:path extrusionOk="0" h="1884665" w="3416547">
                  <a:moveTo>
                    <a:pt x="20862" y="0"/>
                  </a:moveTo>
                  <a:lnTo>
                    <a:pt x="3395689" y="0"/>
                  </a:lnTo>
                  <a:cubicBezTo>
                    <a:pt x="3407233" y="0"/>
                    <a:pt x="3416547" y="8498"/>
                    <a:pt x="3416547" y="19025"/>
                  </a:cubicBezTo>
                  <a:lnTo>
                    <a:pt x="3416547" y="1865639"/>
                  </a:lnTo>
                  <a:cubicBezTo>
                    <a:pt x="3416547" y="1876167"/>
                    <a:pt x="3407233" y="1884665"/>
                    <a:pt x="3395689" y="1884665"/>
                  </a:cubicBezTo>
                  <a:lnTo>
                    <a:pt x="20862" y="1884665"/>
                  </a:lnTo>
                  <a:cubicBezTo>
                    <a:pt x="9318" y="1884665"/>
                    <a:pt x="0" y="1876167"/>
                    <a:pt x="0" y="1865639"/>
                  </a:cubicBezTo>
                  <a:lnTo>
                    <a:pt x="0" y="19025"/>
                  </a:lnTo>
                  <a:cubicBezTo>
                    <a:pt x="0" y="8498"/>
                    <a:pt x="9318" y="0"/>
                    <a:pt x="20862" y="0"/>
                  </a:cubicBezTo>
                  <a:moveTo>
                    <a:pt x="20862" y="38051"/>
                  </a:moveTo>
                  <a:lnTo>
                    <a:pt x="20862" y="19025"/>
                  </a:lnTo>
                  <a:lnTo>
                    <a:pt x="41725" y="19025"/>
                  </a:lnTo>
                  <a:lnTo>
                    <a:pt x="41725" y="1865639"/>
                  </a:lnTo>
                  <a:lnTo>
                    <a:pt x="20862" y="1865639"/>
                  </a:lnTo>
                  <a:lnTo>
                    <a:pt x="20862" y="1846614"/>
                  </a:lnTo>
                  <a:lnTo>
                    <a:pt x="3395689" y="1846614"/>
                  </a:lnTo>
                  <a:lnTo>
                    <a:pt x="3395689" y="1865639"/>
                  </a:lnTo>
                  <a:lnTo>
                    <a:pt x="3374827" y="1865639"/>
                  </a:lnTo>
                  <a:lnTo>
                    <a:pt x="3374827" y="19025"/>
                  </a:lnTo>
                  <a:lnTo>
                    <a:pt x="3395689" y="19025"/>
                  </a:lnTo>
                  <a:lnTo>
                    <a:pt x="3395689" y="38051"/>
                  </a:lnTo>
                  <a:lnTo>
                    <a:pt x="20862" y="38051"/>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 name="Google Shape;507;p16"/>
          <p:cNvGrpSpPr/>
          <p:nvPr/>
        </p:nvGrpSpPr>
        <p:grpSpPr>
          <a:xfrm>
            <a:off x="11574596" y="7930820"/>
            <a:ext cx="3023466" cy="1415300"/>
            <a:chOff x="0" y="0"/>
            <a:chExt cx="4031288" cy="1887066"/>
          </a:xfrm>
        </p:grpSpPr>
        <p:sp>
          <p:nvSpPr>
            <p:cNvPr id="508" name="Google Shape;508;p16"/>
            <p:cNvSpPr/>
            <p:nvPr/>
          </p:nvSpPr>
          <p:spPr>
            <a:xfrm>
              <a:off x="0" y="0"/>
              <a:ext cx="4031288" cy="1887066"/>
            </a:xfrm>
            <a:custGeom>
              <a:rect b="b" l="l" r="r" t="t"/>
              <a:pathLst>
                <a:path extrusionOk="0" h="1887066" w="4031288">
                  <a:moveTo>
                    <a:pt x="0" y="0"/>
                  </a:moveTo>
                  <a:lnTo>
                    <a:pt x="4031288" y="0"/>
                  </a:lnTo>
                  <a:lnTo>
                    <a:pt x="4031288" y="1887066"/>
                  </a:lnTo>
                  <a:lnTo>
                    <a:pt x="0" y="1887066"/>
                  </a:lnTo>
                  <a:close/>
                </a:path>
              </a:pathLst>
            </a:custGeom>
            <a:solidFill>
              <a:srgbClr val="000000">
                <a:alpha val="0"/>
              </a:srgbClr>
            </a:solidFill>
            <a:ln>
              <a:noFill/>
            </a:ln>
          </p:spPr>
        </p:sp>
        <p:sp>
          <p:nvSpPr>
            <p:cNvPr id="509" name="Google Shape;509;p16"/>
            <p:cNvSpPr txBox="1"/>
            <p:nvPr/>
          </p:nvSpPr>
          <p:spPr>
            <a:xfrm>
              <a:off x="0" y="0"/>
              <a:ext cx="4031288" cy="1887066"/>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10. </a:t>
              </a:r>
              <a:r>
                <a:rPr b="0" i="0" lang="en-US" sz="1800" u="none" cap="none" strike="noStrike">
                  <a:solidFill>
                    <a:srgbClr val="FFFFFF"/>
                  </a:solidFill>
                  <a:latin typeface="Arimo"/>
                  <a:ea typeface="Arimo"/>
                  <a:cs typeface="Arimo"/>
                  <a:sym typeface="Arimo"/>
                </a:rPr>
                <a:t>¿ </a:t>
              </a:r>
              <a:r>
                <a:rPr lang="en-US" sz="1800">
                  <a:solidFill>
                    <a:srgbClr val="FFFFFF"/>
                  </a:solidFill>
                  <a:latin typeface="Arimo"/>
                  <a:ea typeface="Arimo"/>
                  <a:cs typeface="Arimo"/>
                  <a:sym typeface="Arimo"/>
                </a:rPr>
                <a:t>Qué</a:t>
              </a:r>
              <a:r>
                <a:rPr b="0" i="0" lang="en-US" sz="1800" u="none" cap="none" strike="noStrike">
                  <a:solidFill>
                    <a:srgbClr val="FFFFFF"/>
                  </a:solidFill>
                  <a:latin typeface="Arimo"/>
                  <a:ea typeface="Arimo"/>
                  <a:cs typeface="Arimo"/>
                  <a:sym typeface="Arimo"/>
                </a:rPr>
                <a:t> solución cree que podría ayudar para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asegurar que los pedidos lleguen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completos ?</a:t>
              </a:r>
              <a:endParaRPr/>
            </a:p>
          </p:txBody>
        </p:sp>
      </p:grpSp>
      <p:sp>
        <p:nvSpPr>
          <p:cNvPr id="510" name="Google Shape;510;p16"/>
          <p:cNvSpPr/>
          <p:nvPr/>
        </p:nvSpPr>
        <p:spPr>
          <a:xfrm rot="1984773">
            <a:off x="3144343" y="4524869"/>
            <a:ext cx="2303579" cy="1999614"/>
          </a:xfrm>
          <a:prstGeom prst="mathMinus">
            <a:avLst>
              <a:gd fmla="val 23520" name="adj1"/>
            </a:avLst>
          </a:prstGeom>
          <a:solidFill>
            <a:srgbClr val="089832"/>
          </a:solidFill>
          <a:ln cap="flat" cmpd="sng" w="9525">
            <a:solidFill>
              <a:srgbClr val="0898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11" name="Google Shape;511;p16"/>
          <p:cNvSpPr/>
          <p:nvPr/>
        </p:nvSpPr>
        <p:spPr>
          <a:xfrm rot="7423715">
            <a:off x="3477083" y="3781023"/>
            <a:ext cx="4208844" cy="1999334"/>
          </a:xfrm>
          <a:prstGeom prst="mathMinus">
            <a:avLst>
              <a:gd fmla="val 23520" name="adj1"/>
            </a:avLst>
          </a:prstGeom>
          <a:solidFill>
            <a:srgbClr val="0996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7"/>
          <p:cNvSpPr/>
          <p:nvPr/>
        </p:nvSpPr>
        <p:spPr>
          <a:xfrm>
            <a:off x="-4496793" y="-1457630"/>
            <a:ext cx="25652798" cy="12450896"/>
          </a:xfrm>
          <a:custGeom>
            <a:rect b="b" l="l" r="r" t="t"/>
            <a:pathLst>
              <a:path extrusionOk="0" h="13716000" w="28259314">
                <a:moveTo>
                  <a:pt x="0" y="0"/>
                </a:moveTo>
                <a:lnTo>
                  <a:pt x="28259314" y="0"/>
                </a:lnTo>
                <a:lnTo>
                  <a:pt x="28259314" y="13716000"/>
                </a:lnTo>
                <a:lnTo>
                  <a:pt x="0" y="13716000"/>
                </a:lnTo>
                <a:close/>
              </a:path>
            </a:pathLst>
          </a:custGeom>
          <a:solidFill>
            <a:srgbClr val="000000"/>
          </a:solidFill>
          <a:ln cap="flat" cmpd="sng" w="12700">
            <a:solidFill>
              <a:srgbClr val="000000"/>
            </a:solidFill>
            <a:prstDash val="solid"/>
            <a:round/>
            <a:headEnd len="sm" w="sm" type="none"/>
            <a:tailEnd len="sm" w="sm" type="none"/>
          </a:ln>
        </p:spPr>
      </p:sp>
      <p:sp>
        <p:nvSpPr>
          <p:cNvPr id="517" name="Google Shape;517;p17"/>
          <p:cNvSpPr/>
          <p:nvPr/>
        </p:nvSpPr>
        <p:spPr>
          <a:xfrm>
            <a:off x="2289440" y="3643730"/>
            <a:ext cx="5332572" cy="2999517"/>
          </a:xfrm>
          <a:custGeom>
            <a:rect b="b" l="l" r="r" t="t"/>
            <a:pathLst>
              <a:path extrusionOk="0" h="3999357" w="7110095">
                <a:moveTo>
                  <a:pt x="0" y="0"/>
                </a:moveTo>
                <a:lnTo>
                  <a:pt x="7110095" y="0"/>
                </a:lnTo>
                <a:lnTo>
                  <a:pt x="7110095" y="3999357"/>
                </a:lnTo>
                <a:lnTo>
                  <a:pt x="0" y="3999357"/>
                </a:lnTo>
                <a:lnTo>
                  <a:pt x="0" y="0"/>
                </a:lnTo>
                <a:close/>
              </a:path>
            </a:pathLst>
          </a:custGeom>
          <a:blipFill rotWithShape="1">
            <a:blip r:embed="rId3">
              <a:alphaModFix/>
            </a:blip>
            <a:stretch>
              <a:fillRect b="-12674" l="0" r="-147" t="-5991"/>
            </a:stretch>
          </a:blipFill>
          <a:ln>
            <a:noFill/>
          </a:ln>
        </p:spPr>
      </p:sp>
      <p:grpSp>
        <p:nvGrpSpPr>
          <p:cNvPr id="518" name="Google Shape;518;p17"/>
          <p:cNvGrpSpPr/>
          <p:nvPr/>
        </p:nvGrpSpPr>
        <p:grpSpPr>
          <a:xfrm>
            <a:off x="2448651" y="4151763"/>
            <a:ext cx="7825758" cy="1738286"/>
            <a:chOff x="0" y="0"/>
            <a:chExt cx="10434344" cy="2317714"/>
          </a:xfrm>
        </p:grpSpPr>
        <p:sp>
          <p:nvSpPr>
            <p:cNvPr id="519" name="Google Shape;519;p17"/>
            <p:cNvSpPr/>
            <p:nvPr/>
          </p:nvSpPr>
          <p:spPr>
            <a:xfrm>
              <a:off x="0" y="0"/>
              <a:ext cx="10434344" cy="2317714"/>
            </a:xfrm>
            <a:custGeom>
              <a:rect b="b" l="l" r="r" t="t"/>
              <a:pathLst>
                <a:path extrusionOk="0" h="2317714" w="10434344">
                  <a:moveTo>
                    <a:pt x="0" y="0"/>
                  </a:moveTo>
                  <a:lnTo>
                    <a:pt x="10434344" y="0"/>
                  </a:lnTo>
                  <a:lnTo>
                    <a:pt x="10434344" y="2317714"/>
                  </a:lnTo>
                  <a:lnTo>
                    <a:pt x="0" y="2317714"/>
                  </a:lnTo>
                  <a:close/>
                </a:path>
              </a:pathLst>
            </a:custGeom>
            <a:solidFill>
              <a:srgbClr val="000000">
                <a:alpha val="0"/>
              </a:srgbClr>
            </a:solidFill>
            <a:ln>
              <a:noFill/>
            </a:ln>
          </p:spPr>
        </p:sp>
        <p:sp>
          <p:nvSpPr>
            <p:cNvPr id="520" name="Google Shape;520;p17"/>
            <p:cNvSpPr txBox="1"/>
            <p:nvPr/>
          </p:nvSpPr>
          <p:spPr>
            <a:xfrm>
              <a:off x="0" y="38100"/>
              <a:ext cx="10434344" cy="2279614"/>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None/>
              </a:pPr>
              <a:r>
                <a:rPr b="1" i="0" lang="en-US" sz="5550" u="none" cap="none" strike="noStrike">
                  <a:solidFill>
                    <a:srgbClr val="FFFFFF"/>
                  </a:solidFill>
                  <a:latin typeface="Arimo"/>
                  <a:ea typeface="Arimo"/>
                  <a:cs typeface="Arimo"/>
                  <a:sym typeface="Arimo"/>
                </a:rPr>
                <a:t>Recoleccion de Informacion</a:t>
              </a:r>
              <a:endParaRPr/>
            </a:p>
          </p:txBody>
        </p:sp>
      </p:grpSp>
      <p:sp>
        <p:nvSpPr>
          <p:cNvPr id="521" name="Google Shape;521;p17"/>
          <p:cNvSpPr/>
          <p:nvPr/>
        </p:nvSpPr>
        <p:spPr>
          <a:xfrm>
            <a:off x="744875" y="1463318"/>
            <a:ext cx="2865378" cy="1064490"/>
          </a:xfrm>
          <a:custGeom>
            <a:rect b="b" l="l" r="r" t="t"/>
            <a:pathLst>
              <a:path extrusionOk="0" h="1064490" w="2865378">
                <a:moveTo>
                  <a:pt x="0" y="0"/>
                </a:moveTo>
                <a:lnTo>
                  <a:pt x="2865377" y="0"/>
                </a:lnTo>
                <a:lnTo>
                  <a:pt x="2865377" y="1064490"/>
                </a:lnTo>
                <a:lnTo>
                  <a:pt x="0" y="1064490"/>
                </a:lnTo>
                <a:lnTo>
                  <a:pt x="0" y="0"/>
                </a:lnTo>
                <a:close/>
              </a:path>
            </a:pathLst>
          </a:custGeom>
          <a:blipFill rotWithShape="1">
            <a:blip r:embed="rId4">
              <a:alphaModFix/>
            </a:blip>
            <a:stretch>
              <a:fillRect b="0" l="0" r="0" t="0"/>
            </a:stretch>
          </a:blipFill>
          <a:ln>
            <a:noFill/>
          </a:ln>
        </p:spPr>
      </p:sp>
      <p:grpSp>
        <p:nvGrpSpPr>
          <p:cNvPr id="522" name="Google Shape;522;p17"/>
          <p:cNvGrpSpPr/>
          <p:nvPr/>
        </p:nvGrpSpPr>
        <p:grpSpPr>
          <a:xfrm>
            <a:off x="1088507" y="7106881"/>
            <a:ext cx="590360" cy="590360"/>
            <a:chOff x="0" y="0"/>
            <a:chExt cx="787146" cy="787146"/>
          </a:xfrm>
        </p:grpSpPr>
        <p:sp>
          <p:nvSpPr>
            <p:cNvPr id="523" name="Google Shape;523;p17"/>
            <p:cNvSpPr/>
            <p:nvPr/>
          </p:nvSpPr>
          <p:spPr>
            <a:xfrm>
              <a:off x="28575" y="28575"/>
              <a:ext cx="729996" cy="729996"/>
            </a:xfrm>
            <a:custGeom>
              <a:rect b="b" l="l" r="r" t="t"/>
              <a:pathLst>
                <a:path extrusionOk="0" h="729996" w="729996">
                  <a:moveTo>
                    <a:pt x="0" y="364998"/>
                  </a:moveTo>
                  <a:cubicBezTo>
                    <a:pt x="0" y="163449"/>
                    <a:pt x="163449" y="0"/>
                    <a:pt x="364998" y="0"/>
                  </a:cubicBezTo>
                  <a:cubicBezTo>
                    <a:pt x="566547" y="0"/>
                    <a:pt x="729996" y="163449"/>
                    <a:pt x="729996" y="364998"/>
                  </a:cubicBezTo>
                  <a:cubicBezTo>
                    <a:pt x="729996" y="566547"/>
                    <a:pt x="566674" y="729996"/>
                    <a:pt x="364998" y="729996"/>
                  </a:cubicBezTo>
                  <a:cubicBezTo>
                    <a:pt x="163322" y="729996"/>
                    <a:pt x="0" y="566674"/>
                    <a:pt x="0" y="364998"/>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0" y="0"/>
              <a:ext cx="787146" cy="787146"/>
            </a:xfrm>
            <a:custGeom>
              <a:rect b="b" l="l" r="r" t="t"/>
              <a:pathLst>
                <a:path extrusionOk="0" h="787146" w="787146">
                  <a:moveTo>
                    <a:pt x="0" y="393573"/>
                  </a:moveTo>
                  <a:cubicBezTo>
                    <a:pt x="0" y="176276"/>
                    <a:pt x="176276" y="0"/>
                    <a:pt x="393573" y="0"/>
                  </a:cubicBezTo>
                  <a:lnTo>
                    <a:pt x="393573" y="28575"/>
                  </a:lnTo>
                  <a:lnTo>
                    <a:pt x="393573" y="0"/>
                  </a:lnTo>
                  <a:cubicBezTo>
                    <a:pt x="610997" y="0"/>
                    <a:pt x="787146" y="176276"/>
                    <a:pt x="787146" y="393573"/>
                  </a:cubicBezTo>
                  <a:cubicBezTo>
                    <a:pt x="787146" y="610870"/>
                    <a:pt x="610997" y="787146"/>
                    <a:pt x="393573" y="787146"/>
                  </a:cubicBezTo>
                  <a:lnTo>
                    <a:pt x="393573" y="758571"/>
                  </a:lnTo>
                  <a:lnTo>
                    <a:pt x="393573" y="787146"/>
                  </a:lnTo>
                  <a:cubicBezTo>
                    <a:pt x="176276" y="787146"/>
                    <a:pt x="0" y="610997"/>
                    <a:pt x="0" y="393573"/>
                  </a:cubicBezTo>
                  <a:lnTo>
                    <a:pt x="28575" y="393573"/>
                  </a:lnTo>
                  <a:lnTo>
                    <a:pt x="50927" y="411353"/>
                  </a:lnTo>
                  <a:cubicBezTo>
                    <a:pt x="43434" y="420878"/>
                    <a:pt x="30607" y="424561"/>
                    <a:pt x="19177" y="420624"/>
                  </a:cubicBezTo>
                  <a:cubicBezTo>
                    <a:pt x="7747" y="416687"/>
                    <a:pt x="0" y="405765"/>
                    <a:pt x="0" y="393573"/>
                  </a:cubicBezTo>
                  <a:moveTo>
                    <a:pt x="57150" y="393573"/>
                  </a:moveTo>
                  <a:lnTo>
                    <a:pt x="28575" y="393573"/>
                  </a:lnTo>
                  <a:lnTo>
                    <a:pt x="6223" y="375920"/>
                  </a:lnTo>
                  <a:cubicBezTo>
                    <a:pt x="13716" y="366395"/>
                    <a:pt x="26543" y="362712"/>
                    <a:pt x="37973" y="366649"/>
                  </a:cubicBezTo>
                  <a:cubicBezTo>
                    <a:pt x="49403" y="370586"/>
                    <a:pt x="57150" y="381381"/>
                    <a:pt x="57150" y="393573"/>
                  </a:cubicBezTo>
                  <a:cubicBezTo>
                    <a:pt x="57150" y="579374"/>
                    <a:pt x="207772" y="729996"/>
                    <a:pt x="393573" y="729996"/>
                  </a:cubicBezTo>
                  <a:cubicBezTo>
                    <a:pt x="579374" y="729996"/>
                    <a:pt x="729996" y="579374"/>
                    <a:pt x="729996" y="393573"/>
                  </a:cubicBezTo>
                  <a:lnTo>
                    <a:pt x="758571" y="393573"/>
                  </a:lnTo>
                  <a:lnTo>
                    <a:pt x="729996" y="393573"/>
                  </a:lnTo>
                  <a:cubicBezTo>
                    <a:pt x="729996" y="207772"/>
                    <a:pt x="579374" y="57150"/>
                    <a:pt x="393573" y="57150"/>
                  </a:cubicBezTo>
                  <a:lnTo>
                    <a:pt x="393573" y="28575"/>
                  </a:lnTo>
                  <a:lnTo>
                    <a:pt x="393573" y="57150"/>
                  </a:lnTo>
                  <a:cubicBezTo>
                    <a:pt x="207772" y="57150"/>
                    <a:pt x="57150" y="207772"/>
                    <a:pt x="57150" y="393573"/>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 name="Google Shape;525;p17"/>
          <p:cNvGrpSpPr/>
          <p:nvPr/>
        </p:nvGrpSpPr>
        <p:grpSpPr>
          <a:xfrm>
            <a:off x="1088507" y="7106881"/>
            <a:ext cx="590360" cy="590360"/>
            <a:chOff x="0" y="0"/>
            <a:chExt cx="787146" cy="787146"/>
          </a:xfrm>
        </p:grpSpPr>
        <p:sp>
          <p:nvSpPr>
            <p:cNvPr id="526" name="Google Shape;526;p17"/>
            <p:cNvSpPr/>
            <p:nvPr/>
          </p:nvSpPr>
          <p:spPr>
            <a:xfrm>
              <a:off x="28575" y="28575"/>
              <a:ext cx="729996" cy="729996"/>
            </a:xfrm>
            <a:custGeom>
              <a:rect b="b" l="l" r="r" t="t"/>
              <a:pathLst>
                <a:path extrusionOk="0" h="729996" w="729996">
                  <a:moveTo>
                    <a:pt x="0" y="364998"/>
                  </a:moveTo>
                  <a:cubicBezTo>
                    <a:pt x="0" y="163449"/>
                    <a:pt x="163449" y="0"/>
                    <a:pt x="364998" y="0"/>
                  </a:cubicBezTo>
                  <a:cubicBezTo>
                    <a:pt x="566547" y="0"/>
                    <a:pt x="729996" y="163449"/>
                    <a:pt x="729996" y="364998"/>
                  </a:cubicBezTo>
                  <a:cubicBezTo>
                    <a:pt x="729996" y="566547"/>
                    <a:pt x="566674" y="729996"/>
                    <a:pt x="364998" y="729996"/>
                  </a:cubicBezTo>
                  <a:cubicBezTo>
                    <a:pt x="163322" y="729996"/>
                    <a:pt x="0" y="566674"/>
                    <a:pt x="0" y="364998"/>
                  </a:cubicBezTo>
                  <a:close/>
                </a:path>
              </a:pathLst>
            </a:custGeom>
            <a:solidFill>
              <a:srgbClr val="00A5AB">
                <a:alpha val="8235"/>
              </a:srgbClr>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0" y="0"/>
              <a:ext cx="787146" cy="787146"/>
            </a:xfrm>
            <a:custGeom>
              <a:rect b="b" l="l" r="r" t="t"/>
              <a:pathLst>
                <a:path extrusionOk="0" h="787146" w="787146">
                  <a:moveTo>
                    <a:pt x="0" y="393573"/>
                  </a:moveTo>
                  <a:cubicBezTo>
                    <a:pt x="0" y="176276"/>
                    <a:pt x="176276" y="0"/>
                    <a:pt x="393573" y="0"/>
                  </a:cubicBezTo>
                  <a:lnTo>
                    <a:pt x="393573" y="28575"/>
                  </a:lnTo>
                  <a:lnTo>
                    <a:pt x="393573" y="0"/>
                  </a:lnTo>
                  <a:cubicBezTo>
                    <a:pt x="610997" y="0"/>
                    <a:pt x="787146" y="176276"/>
                    <a:pt x="787146" y="393573"/>
                  </a:cubicBezTo>
                  <a:cubicBezTo>
                    <a:pt x="787146" y="610870"/>
                    <a:pt x="610997" y="787146"/>
                    <a:pt x="393573" y="787146"/>
                  </a:cubicBezTo>
                  <a:lnTo>
                    <a:pt x="393573" y="758571"/>
                  </a:lnTo>
                  <a:lnTo>
                    <a:pt x="393573" y="787146"/>
                  </a:lnTo>
                  <a:cubicBezTo>
                    <a:pt x="176276" y="787146"/>
                    <a:pt x="0" y="610997"/>
                    <a:pt x="0" y="393573"/>
                  </a:cubicBezTo>
                  <a:lnTo>
                    <a:pt x="28575" y="393573"/>
                  </a:lnTo>
                  <a:lnTo>
                    <a:pt x="50927" y="411353"/>
                  </a:lnTo>
                  <a:cubicBezTo>
                    <a:pt x="43434" y="420878"/>
                    <a:pt x="30607" y="424561"/>
                    <a:pt x="19177" y="420624"/>
                  </a:cubicBezTo>
                  <a:cubicBezTo>
                    <a:pt x="7747" y="416687"/>
                    <a:pt x="0" y="405765"/>
                    <a:pt x="0" y="393573"/>
                  </a:cubicBezTo>
                  <a:moveTo>
                    <a:pt x="57150" y="393573"/>
                  </a:moveTo>
                  <a:lnTo>
                    <a:pt x="28575" y="393573"/>
                  </a:lnTo>
                  <a:lnTo>
                    <a:pt x="6223" y="375920"/>
                  </a:lnTo>
                  <a:cubicBezTo>
                    <a:pt x="13716" y="366395"/>
                    <a:pt x="26543" y="362712"/>
                    <a:pt x="37973" y="366649"/>
                  </a:cubicBezTo>
                  <a:cubicBezTo>
                    <a:pt x="49403" y="370586"/>
                    <a:pt x="57150" y="381381"/>
                    <a:pt x="57150" y="393573"/>
                  </a:cubicBezTo>
                  <a:cubicBezTo>
                    <a:pt x="57150" y="579374"/>
                    <a:pt x="207772" y="729996"/>
                    <a:pt x="393573" y="729996"/>
                  </a:cubicBezTo>
                  <a:cubicBezTo>
                    <a:pt x="579374" y="729996"/>
                    <a:pt x="729996" y="579374"/>
                    <a:pt x="729996" y="393573"/>
                  </a:cubicBezTo>
                  <a:lnTo>
                    <a:pt x="758571" y="393573"/>
                  </a:lnTo>
                  <a:lnTo>
                    <a:pt x="729996" y="393573"/>
                  </a:lnTo>
                  <a:cubicBezTo>
                    <a:pt x="729996" y="207772"/>
                    <a:pt x="579374" y="57150"/>
                    <a:pt x="393573" y="57150"/>
                  </a:cubicBezTo>
                  <a:lnTo>
                    <a:pt x="393573" y="28575"/>
                  </a:lnTo>
                  <a:lnTo>
                    <a:pt x="393573" y="57150"/>
                  </a:lnTo>
                  <a:cubicBezTo>
                    <a:pt x="207772" y="57150"/>
                    <a:pt x="57150" y="207772"/>
                    <a:pt x="57150" y="393573"/>
                  </a:cubicBez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8" name="Google Shape;528;p17"/>
          <p:cNvSpPr/>
          <p:nvPr/>
        </p:nvSpPr>
        <p:spPr>
          <a:xfrm>
            <a:off x="6164500" y="7355014"/>
            <a:ext cx="1462754" cy="1462757"/>
          </a:xfrm>
          <a:custGeom>
            <a:rect b="b" l="l" r="r" t="t"/>
            <a:pathLst>
              <a:path extrusionOk="0" h="1462757" w="1462754">
                <a:moveTo>
                  <a:pt x="0" y="0"/>
                </a:moveTo>
                <a:lnTo>
                  <a:pt x="1462754" y="0"/>
                </a:lnTo>
                <a:lnTo>
                  <a:pt x="1462754" y="1462757"/>
                </a:lnTo>
                <a:lnTo>
                  <a:pt x="0" y="1462757"/>
                </a:lnTo>
                <a:lnTo>
                  <a:pt x="0" y="0"/>
                </a:lnTo>
                <a:close/>
              </a:path>
            </a:pathLst>
          </a:custGeom>
          <a:blipFill rotWithShape="1">
            <a:blip r:embed="rId5">
              <a:alphaModFix/>
            </a:blip>
            <a:stretch>
              <a:fillRect b="0" l="0" r="0" t="0"/>
            </a:stretch>
          </a:blipFill>
          <a:ln>
            <a:noFill/>
          </a:ln>
        </p:spPr>
      </p:sp>
      <p:grpSp>
        <p:nvGrpSpPr>
          <p:cNvPr id="529" name="Google Shape;529;p17"/>
          <p:cNvGrpSpPr/>
          <p:nvPr/>
        </p:nvGrpSpPr>
        <p:grpSpPr>
          <a:xfrm>
            <a:off x="8520554" y="1234814"/>
            <a:ext cx="2638901" cy="1590961"/>
            <a:chOff x="0" y="0"/>
            <a:chExt cx="3518535" cy="2121281"/>
          </a:xfrm>
        </p:grpSpPr>
        <p:sp>
          <p:nvSpPr>
            <p:cNvPr id="530" name="Google Shape;530;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00A5AB"/>
            </a:solidFill>
            <a:ln cap="flat" cmpd="sng" w="12700">
              <a:solidFill>
                <a:srgbClr val="000000"/>
              </a:solidFill>
              <a:prstDash val="solid"/>
              <a:round/>
              <a:headEnd len="sm" w="sm" type="none"/>
              <a:tailEnd len="sm" w="sm" type="none"/>
            </a:ln>
          </p:spPr>
        </p:sp>
        <p:sp>
          <p:nvSpPr>
            <p:cNvPr id="531" name="Google Shape;531;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17"/>
          <p:cNvGrpSpPr/>
          <p:nvPr/>
        </p:nvGrpSpPr>
        <p:grpSpPr>
          <a:xfrm>
            <a:off x="8520554" y="1234814"/>
            <a:ext cx="2638869" cy="1590941"/>
            <a:chOff x="0" y="0"/>
            <a:chExt cx="3518492" cy="2121254"/>
          </a:xfrm>
        </p:grpSpPr>
        <p:sp>
          <p:nvSpPr>
            <p:cNvPr id="533" name="Google Shape;533;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34" name="Google Shape;534;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Tecnico - entrevista - Camacho David</a:t>
              </a:r>
              <a:endParaRPr/>
            </a:p>
          </p:txBody>
        </p:sp>
      </p:grpSp>
      <p:grpSp>
        <p:nvGrpSpPr>
          <p:cNvPr id="535" name="Google Shape;535;p17"/>
          <p:cNvGrpSpPr/>
          <p:nvPr/>
        </p:nvGrpSpPr>
        <p:grpSpPr>
          <a:xfrm>
            <a:off x="11742932" y="1234814"/>
            <a:ext cx="2638901" cy="1590961"/>
            <a:chOff x="0" y="0"/>
            <a:chExt cx="3518535" cy="2121281"/>
          </a:xfrm>
        </p:grpSpPr>
        <p:sp>
          <p:nvSpPr>
            <p:cNvPr id="536" name="Google Shape;536;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A101A9"/>
            </a:solidFill>
            <a:ln cap="flat" cmpd="sng" w="12700">
              <a:solidFill>
                <a:srgbClr val="000000"/>
              </a:solidFill>
              <a:prstDash val="solid"/>
              <a:round/>
              <a:headEnd len="sm" w="sm" type="none"/>
              <a:tailEnd len="sm" w="sm" type="none"/>
            </a:ln>
          </p:spPr>
        </p:sp>
        <p:sp>
          <p:nvSpPr>
            <p:cNvPr id="537" name="Google Shape;537;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 name="Google Shape;538;p17"/>
          <p:cNvGrpSpPr/>
          <p:nvPr/>
        </p:nvGrpSpPr>
        <p:grpSpPr>
          <a:xfrm>
            <a:off x="11742932" y="1234814"/>
            <a:ext cx="2638869" cy="1590941"/>
            <a:chOff x="0" y="0"/>
            <a:chExt cx="3518492" cy="2121254"/>
          </a:xfrm>
        </p:grpSpPr>
        <p:sp>
          <p:nvSpPr>
            <p:cNvPr id="539" name="Google Shape;539;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40" name="Google Shape;540;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1.</a:t>
              </a:r>
              <a:r>
                <a:rPr b="0" i="0" lang="en-US" sz="1800" u="none" cap="none" strike="noStrike">
                  <a:solidFill>
                    <a:srgbClr val="FFFFFF"/>
                  </a:solidFill>
                  <a:latin typeface="Arimo"/>
                  <a:ea typeface="Arimo"/>
                  <a:cs typeface="Arimo"/>
                  <a:sym typeface="Arimo"/>
                </a:rPr>
                <a:t> ¿Con qué frecuencia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se auto evalúa su trabajo?</a:t>
              </a:r>
              <a:endParaRPr/>
            </a:p>
          </p:txBody>
        </p:sp>
      </p:grpSp>
      <p:grpSp>
        <p:nvGrpSpPr>
          <p:cNvPr id="541" name="Google Shape;541;p17"/>
          <p:cNvGrpSpPr/>
          <p:nvPr/>
        </p:nvGrpSpPr>
        <p:grpSpPr>
          <a:xfrm>
            <a:off x="14965310" y="1234814"/>
            <a:ext cx="2638901" cy="1590961"/>
            <a:chOff x="0" y="0"/>
            <a:chExt cx="3518535" cy="2121281"/>
          </a:xfrm>
        </p:grpSpPr>
        <p:sp>
          <p:nvSpPr>
            <p:cNvPr id="542" name="Google Shape;542;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A79100"/>
            </a:solidFill>
            <a:ln cap="flat" cmpd="sng" w="12700">
              <a:solidFill>
                <a:srgbClr val="000000"/>
              </a:solidFill>
              <a:prstDash val="solid"/>
              <a:round/>
              <a:headEnd len="sm" w="sm" type="none"/>
              <a:tailEnd len="sm" w="sm" type="none"/>
            </a:ln>
          </p:spPr>
        </p:sp>
        <p:sp>
          <p:nvSpPr>
            <p:cNvPr id="543" name="Google Shape;543;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 name="Google Shape;544;p17"/>
          <p:cNvGrpSpPr/>
          <p:nvPr/>
        </p:nvGrpSpPr>
        <p:grpSpPr>
          <a:xfrm>
            <a:off x="14965310" y="1234814"/>
            <a:ext cx="2638869" cy="1590941"/>
            <a:chOff x="0" y="0"/>
            <a:chExt cx="3518492" cy="2121254"/>
          </a:xfrm>
        </p:grpSpPr>
        <p:sp>
          <p:nvSpPr>
            <p:cNvPr id="545" name="Google Shape;545;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46" name="Google Shape;546;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2. </a:t>
              </a:r>
              <a:r>
                <a:rPr b="0" i="0" lang="en-US" sz="1800" u="none" cap="none" strike="noStrike">
                  <a:solidFill>
                    <a:srgbClr val="FFFFFF"/>
                  </a:solidFill>
                  <a:latin typeface="Arimo"/>
                  <a:ea typeface="Arimo"/>
                  <a:cs typeface="Arimo"/>
                  <a:sym typeface="Arimo"/>
                </a:rPr>
                <a:t>¿cómo lleva el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apartado de los</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 mantenimientos?</a:t>
              </a:r>
              <a:endParaRPr/>
            </a:p>
          </p:txBody>
        </p:sp>
      </p:grpSp>
      <p:grpSp>
        <p:nvGrpSpPr>
          <p:cNvPr id="547" name="Google Shape;547;p17"/>
          <p:cNvGrpSpPr/>
          <p:nvPr/>
        </p:nvGrpSpPr>
        <p:grpSpPr>
          <a:xfrm>
            <a:off x="8520554" y="3409263"/>
            <a:ext cx="2638901" cy="1590961"/>
            <a:chOff x="0" y="0"/>
            <a:chExt cx="3518535" cy="2121281"/>
          </a:xfrm>
        </p:grpSpPr>
        <p:sp>
          <p:nvSpPr>
            <p:cNvPr id="548" name="Google Shape;548;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03A582"/>
            </a:solidFill>
            <a:ln cap="flat" cmpd="sng" w="12700">
              <a:solidFill>
                <a:srgbClr val="000000"/>
              </a:solidFill>
              <a:prstDash val="solid"/>
              <a:round/>
              <a:headEnd len="sm" w="sm" type="none"/>
              <a:tailEnd len="sm" w="sm" type="none"/>
            </a:ln>
          </p:spPr>
        </p:sp>
        <p:sp>
          <p:nvSpPr>
            <p:cNvPr id="549" name="Google Shape;549;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 name="Google Shape;550;p17"/>
          <p:cNvGrpSpPr/>
          <p:nvPr/>
        </p:nvGrpSpPr>
        <p:grpSpPr>
          <a:xfrm>
            <a:off x="8520554" y="3409263"/>
            <a:ext cx="2638869" cy="1590941"/>
            <a:chOff x="0" y="0"/>
            <a:chExt cx="3518492" cy="2121254"/>
          </a:xfrm>
        </p:grpSpPr>
        <p:sp>
          <p:nvSpPr>
            <p:cNvPr id="551" name="Google Shape;551;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52" name="Google Shape;552;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3. </a:t>
              </a:r>
              <a:r>
                <a:rPr b="0" i="0" lang="en-US" sz="1800" u="none" cap="none" strike="noStrike">
                  <a:solidFill>
                    <a:srgbClr val="FFFFFF"/>
                  </a:solidFill>
                  <a:latin typeface="Arimo"/>
                  <a:ea typeface="Arimo"/>
                  <a:cs typeface="Arimo"/>
                  <a:sym typeface="Arimo"/>
                </a:rPr>
                <a:t>¿Tiene o conoce algún sistema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de datos donde se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guarde o documente lo hecho dia tras dia?</a:t>
              </a:r>
              <a:endParaRPr/>
            </a:p>
          </p:txBody>
        </p:sp>
      </p:grpSp>
      <p:grpSp>
        <p:nvGrpSpPr>
          <p:cNvPr id="553" name="Google Shape;553;p17"/>
          <p:cNvGrpSpPr/>
          <p:nvPr/>
        </p:nvGrpSpPr>
        <p:grpSpPr>
          <a:xfrm>
            <a:off x="11742932" y="3409263"/>
            <a:ext cx="2638901" cy="1590961"/>
            <a:chOff x="0" y="0"/>
            <a:chExt cx="3518535" cy="2121281"/>
          </a:xfrm>
        </p:grpSpPr>
        <p:sp>
          <p:nvSpPr>
            <p:cNvPr id="554" name="Google Shape;554;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7404A2"/>
            </a:solidFill>
            <a:ln cap="flat" cmpd="sng" w="12700">
              <a:solidFill>
                <a:srgbClr val="000000"/>
              </a:solidFill>
              <a:prstDash val="solid"/>
              <a:round/>
              <a:headEnd len="sm" w="sm" type="none"/>
              <a:tailEnd len="sm" w="sm" type="none"/>
            </a:ln>
          </p:spPr>
        </p:sp>
        <p:sp>
          <p:nvSpPr>
            <p:cNvPr id="555" name="Google Shape;555;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17"/>
          <p:cNvGrpSpPr/>
          <p:nvPr/>
        </p:nvGrpSpPr>
        <p:grpSpPr>
          <a:xfrm>
            <a:off x="11742932" y="3409263"/>
            <a:ext cx="2638869" cy="1590941"/>
            <a:chOff x="0" y="0"/>
            <a:chExt cx="3518492" cy="2121254"/>
          </a:xfrm>
        </p:grpSpPr>
        <p:sp>
          <p:nvSpPr>
            <p:cNvPr id="557" name="Google Shape;557;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58" name="Google Shape;558;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4.</a:t>
              </a:r>
              <a:r>
                <a:rPr b="0" i="0" lang="en-US" sz="1800" u="none" cap="none" strike="noStrike">
                  <a:solidFill>
                    <a:srgbClr val="FFFFFF"/>
                  </a:solidFill>
                  <a:latin typeface="Arimo"/>
                  <a:ea typeface="Arimo"/>
                  <a:cs typeface="Arimo"/>
                  <a:sym typeface="Arimo"/>
                </a:rPr>
                <a:t> ¿Cuál es la calidad de las herramientas y materiales con los que ejerce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su función?</a:t>
              </a:r>
              <a:endParaRPr/>
            </a:p>
          </p:txBody>
        </p:sp>
      </p:grpSp>
      <p:grpSp>
        <p:nvGrpSpPr>
          <p:cNvPr id="559" name="Google Shape;559;p17"/>
          <p:cNvGrpSpPr/>
          <p:nvPr/>
        </p:nvGrpSpPr>
        <p:grpSpPr>
          <a:xfrm>
            <a:off x="14965310" y="3409263"/>
            <a:ext cx="2638901" cy="1590961"/>
            <a:chOff x="0" y="0"/>
            <a:chExt cx="3518535" cy="2121281"/>
          </a:xfrm>
        </p:grpSpPr>
        <p:sp>
          <p:nvSpPr>
            <p:cNvPr id="560" name="Google Shape;560;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A06600"/>
            </a:solidFill>
            <a:ln cap="flat" cmpd="sng" w="12700">
              <a:solidFill>
                <a:srgbClr val="000000"/>
              </a:solidFill>
              <a:prstDash val="solid"/>
              <a:round/>
              <a:headEnd len="sm" w="sm" type="none"/>
              <a:tailEnd len="sm" w="sm" type="none"/>
            </a:ln>
          </p:spPr>
        </p:sp>
        <p:sp>
          <p:nvSpPr>
            <p:cNvPr id="561" name="Google Shape;561;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7"/>
          <p:cNvGrpSpPr/>
          <p:nvPr/>
        </p:nvGrpSpPr>
        <p:grpSpPr>
          <a:xfrm>
            <a:off x="14965310" y="3409263"/>
            <a:ext cx="2638869" cy="1590941"/>
            <a:chOff x="0" y="0"/>
            <a:chExt cx="3518492" cy="2121254"/>
          </a:xfrm>
        </p:grpSpPr>
        <p:sp>
          <p:nvSpPr>
            <p:cNvPr id="563" name="Google Shape;563;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64" name="Google Shape;564;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5.</a:t>
              </a:r>
              <a:r>
                <a:rPr b="0" i="0" lang="en-US" sz="1800" u="none" cap="none" strike="noStrike">
                  <a:solidFill>
                    <a:srgbClr val="FFFFFF"/>
                  </a:solidFill>
                  <a:latin typeface="Arimo"/>
                  <a:ea typeface="Arimo"/>
                  <a:cs typeface="Arimo"/>
                  <a:sym typeface="Arimo"/>
                </a:rPr>
                <a:t> ¿De acuerdo a la función de su trabajo,  siente que está usando  los métodos de seguridad correctos?</a:t>
              </a:r>
              <a:endParaRPr/>
            </a:p>
          </p:txBody>
        </p:sp>
      </p:grpSp>
      <p:grpSp>
        <p:nvGrpSpPr>
          <p:cNvPr id="565" name="Google Shape;565;p17"/>
          <p:cNvGrpSpPr/>
          <p:nvPr/>
        </p:nvGrpSpPr>
        <p:grpSpPr>
          <a:xfrm>
            <a:off x="8520554" y="5583714"/>
            <a:ext cx="2638901" cy="1590960"/>
            <a:chOff x="0" y="0"/>
            <a:chExt cx="3518535" cy="2121281"/>
          </a:xfrm>
        </p:grpSpPr>
        <p:sp>
          <p:nvSpPr>
            <p:cNvPr id="566" name="Google Shape;566;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069E58"/>
            </a:solidFill>
            <a:ln cap="flat" cmpd="sng" w="12700">
              <a:solidFill>
                <a:srgbClr val="000000"/>
              </a:solidFill>
              <a:prstDash val="solid"/>
              <a:round/>
              <a:headEnd len="sm" w="sm" type="none"/>
              <a:tailEnd len="sm" w="sm" type="none"/>
            </a:ln>
          </p:spPr>
        </p:sp>
        <p:sp>
          <p:nvSpPr>
            <p:cNvPr id="567" name="Google Shape;567;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 name="Google Shape;568;p17"/>
          <p:cNvGrpSpPr/>
          <p:nvPr/>
        </p:nvGrpSpPr>
        <p:grpSpPr>
          <a:xfrm>
            <a:off x="8520554" y="5583714"/>
            <a:ext cx="2638869" cy="1590940"/>
            <a:chOff x="0" y="0"/>
            <a:chExt cx="3518492" cy="2121254"/>
          </a:xfrm>
        </p:grpSpPr>
        <p:sp>
          <p:nvSpPr>
            <p:cNvPr id="569" name="Google Shape;569;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70" name="Google Shape;570;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6.</a:t>
              </a:r>
              <a:r>
                <a:rPr b="0" i="0" lang="en-US" sz="1800" u="none" cap="none" strike="noStrike">
                  <a:solidFill>
                    <a:srgbClr val="FFFFFF"/>
                  </a:solidFill>
                  <a:latin typeface="Arimo"/>
                  <a:ea typeface="Arimo"/>
                  <a:cs typeface="Arimo"/>
                  <a:sym typeface="Arimo"/>
                </a:rPr>
                <a:t> ¿que tal siente la gestion de las herramientas y</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 materiales con los que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trabaja?</a:t>
              </a:r>
              <a:endParaRPr/>
            </a:p>
          </p:txBody>
        </p:sp>
      </p:grpSp>
      <p:grpSp>
        <p:nvGrpSpPr>
          <p:cNvPr id="571" name="Google Shape;571;p17"/>
          <p:cNvGrpSpPr/>
          <p:nvPr/>
        </p:nvGrpSpPr>
        <p:grpSpPr>
          <a:xfrm>
            <a:off x="11742932" y="5583714"/>
            <a:ext cx="2638901" cy="1590960"/>
            <a:chOff x="0" y="0"/>
            <a:chExt cx="3518535" cy="2121281"/>
          </a:xfrm>
        </p:grpSpPr>
        <p:sp>
          <p:nvSpPr>
            <p:cNvPr id="572" name="Google Shape;572;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4B069C"/>
            </a:solidFill>
            <a:ln cap="flat" cmpd="sng" w="12700">
              <a:solidFill>
                <a:srgbClr val="000000"/>
              </a:solidFill>
              <a:prstDash val="solid"/>
              <a:round/>
              <a:headEnd len="sm" w="sm" type="none"/>
              <a:tailEnd len="sm" w="sm" type="none"/>
            </a:ln>
          </p:spPr>
        </p:sp>
        <p:sp>
          <p:nvSpPr>
            <p:cNvPr id="573" name="Google Shape;573;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7"/>
          <p:cNvGrpSpPr/>
          <p:nvPr/>
        </p:nvGrpSpPr>
        <p:grpSpPr>
          <a:xfrm>
            <a:off x="11742932" y="5583714"/>
            <a:ext cx="2638869" cy="1590940"/>
            <a:chOff x="0" y="0"/>
            <a:chExt cx="3518492" cy="2121254"/>
          </a:xfrm>
        </p:grpSpPr>
        <p:sp>
          <p:nvSpPr>
            <p:cNvPr id="575" name="Google Shape;575;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76" name="Google Shape;576;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7.</a:t>
              </a:r>
              <a:r>
                <a:rPr b="0" i="0" lang="en-US" sz="1800" u="none" cap="none" strike="noStrike">
                  <a:solidFill>
                    <a:srgbClr val="FFFFFF"/>
                  </a:solidFill>
                  <a:latin typeface="Arimo"/>
                  <a:ea typeface="Arimo"/>
                  <a:cs typeface="Arimo"/>
                  <a:sym typeface="Arimo"/>
                </a:rPr>
                <a:t> ¿tiene un sistema de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bonificacion por alguna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meta?</a:t>
              </a:r>
              <a:endParaRPr/>
            </a:p>
          </p:txBody>
        </p:sp>
      </p:grpSp>
      <p:grpSp>
        <p:nvGrpSpPr>
          <p:cNvPr id="577" name="Google Shape;577;p17"/>
          <p:cNvGrpSpPr/>
          <p:nvPr/>
        </p:nvGrpSpPr>
        <p:grpSpPr>
          <a:xfrm>
            <a:off x="14965310" y="5583714"/>
            <a:ext cx="2638901" cy="1590960"/>
            <a:chOff x="0" y="0"/>
            <a:chExt cx="3518535" cy="2121281"/>
          </a:xfrm>
        </p:grpSpPr>
        <p:sp>
          <p:nvSpPr>
            <p:cNvPr id="578" name="Google Shape;578;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9A3E00"/>
            </a:solidFill>
            <a:ln cap="flat" cmpd="sng" w="12700">
              <a:solidFill>
                <a:srgbClr val="000000"/>
              </a:solidFill>
              <a:prstDash val="solid"/>
              <a:round/>
              <a:headEnd len="sm" w="sm" type="none"/>
              <a:tailEnd len="sm" w="sm" type="none"/>
            </a:ln>
          </p:spPr>
        </p:sp>
        <p:sp>
          <p:nvSpPr>
            <p:cNvPr id="579" name="Google Shape;579;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 name="Google Shape;580;p17"/>
          <p:cNvGrpSpPr/>
          <p:nvPr/>
        </p:nvGrpSpPr>
        <p:grpSpPr>
          <a:xfrm>
            <a:off x="14965310" y="5583714"/>
            <a:ext cx="2638869" cy="1590940"/>
            <a:chOff x="0" y="0"/>
            <a:chExt cx="3518492" cy="2121254"/>
          </a:xfrm>
        </p:grpSpPr>
        <p:sp>
          <p:nvSpPr>
            <p:cNvPr id="581" name="Google Shape;581;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82" name="Google Shape;582;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8.</a:t>
              </a:r>
              <a:r>
                <a:rPr b="0" i="0" lang="en-US" sz="1800" u="none" cap="none" strike="noStrike">
                  <a:solidFill>
                    <a:srgbClr val="FFFFFF"/>
                  </a:solidFill>
                  <a:latin typeface="Arimo"/>
                  <a:ea typeface="Arimo"/>
                  <a:cs typeface="Arimo"/>
                  <a:sym typeface="Arimo"/>
                </a:rPr>
                <a:t> ¿que tal es su</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 conocimiento del sistema de la empresa?</a:t>
              </a:r>
              <a:endParaRPr/>
            </a:p>
          </p:txBody>
        </p:sp>
      </p:grpSp>
      <p:grpSp>
        <p:nvGrpSpPr>
          <p:cNvPr id="583" name="Google Shape;583;p17"/>
          <p:cNvGrpSpPr/>
          <p:nvPr/>
        </p:nvGrpSpPr>
        <p:grpSpPr>
          <a:xfrm>
            <a:off x="8520554" y="7758164"/>
            <a:ext cx="2638901" cy="1590960"/>
            <a:chOff x="0" y="0"/>
            <a:chExt cx="3518535" cy="2121281"/>
          </a:xfrm>
        </p:grpSpPr>
        <p:sp>
          <p:nvSpPr>
            <p:cNvPr id="584" name="Google Shape;584;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089832"/>
            </a:solidFill>
            <a:ln cap="flat" cmpd="sng" w="12700">
              <a:solidFill>
                <a:srgbClr val="000000"/>
              </a:solidFill>
              <a:prstDash val="solid"/>
              <a:round/>
              <a:headEnd len="sm" w="sm" type="none"/>
              <a:tailEnd len="sm" w="sm" type="none"/>
            </a:ln>
          </p:spPr>
        </p:sp>
        <p:sp>
          <p:nvSpPr>
            <p:cNvPr id="585" name="Google Shape;585;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 name="Google Shape;586;p17"/>
          <p:cNvGrpSpPr/>
          <p:nvPr/>
        </p:nvGrpSpPr>
        <p:grpSpPr>
          <a:xfrm>
            <a:off x="8520554" y="7758164"/>
            <a:ext cx="2638869" cy="1590940"/>
            <a:chOff x="0" y="0"/>
            <a:chExt cx="3518492" cy="2121254"/>
          </a:xfrm>
        </p:grpSpPr>
        <p:sp>
          <p:nvSpPr>
            <p:cNvPr id="587" name="Google Shape;587;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88" name="Google Shape;588;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9.</a:t>
              </a:r>
              <a:r>
                <a:rPr b="0" i="0" lang="en-US" sz="1800" u="none" cap="none" strike="noStrike">
                  <a:solidFill>
                    <a:srgbClr val="FFFFFF"/>
                  </a:solidFill>
                  <a:latin typeface="Arimo"/>
                  <a:ea typeface="Arimo"/>
                  <a:cs typeface="Arimo"/>
                  <a:sym typeface="Arimo"/>
                </a:rPr>
                <a:t> ¿que tal son sus aportes relacionados a las problematicas de dia a dia?</a:t>
              </a:r>
              <a:endParaRPr/>
            </a:p>
          </p:txBody>
        </p:sp>
      </p:grpSp>
      <p:grpSp>
        <p:nvGrpSpPr>
          <p:cNvPr id="589" name="Google Shape;589;p17"/>
          <p:cNvGrpSpPr/>
          <p:nvPr/>
        </p:nvGrpSpPr>
        <p:grpSpPr>
          <a:xfrm>
            <a:off x="11742932" y="7758164"/>
            <a:ext cx="2638901" cy="1590960"/>
            <a:chOff x="0" y="0"/>
            <a:chExt cx="3518535" cy="2121281"/>
          </a:xfrm>
        </p:grpSpPr>
        <p:sp>
          <p:nvSpPr>
            <p:cNvPr id="590" name="Google Shape;590;p17"/>
            <p:cNvSpPr/>
            <p:nvPr/>
          </p:nvSpPr>
          <p:spPr>
            <a:xfrm>
              <a:off x="12700" y="12700"/>
              <a:ext cx="3493135" cy="2095881"/>
            </a:xfrm>
            <a:custGeom>
              <a:rect b="b" l="l" r="r" t="t"/>
              <a:pathLst>
                <a:path extrusionOk="0" h="2095881" w="3493135">
                  <a:moveTo>
                    <a:pt x="0" y="0"/>
                  </a:moveTo>
                  <a:lnTo>
                    <a:pt x="3493135" y="0"/>
                  </a:lnTo>
                  <a:lnTo>
                    <a:pt x="3493135" y="2095881"/>
                  </a:lnTo>
                  <a:lnTo>
                    <a:pt x="0" y="2095881"/>
                  </a:lnTo>
                  <a:close/>
                </a:path>
              </a:pathLst>
            </a:custGeom>
            <a:solidFill>
              <a:srgbClr val="270996"/>
            </a:solidFill>
            <a:ln cap="flat" cmpd="sng" w="12700">
              <a:solidFill>
                <a:srgbClr val="000000"/>
              </a:solidFill>
              <a:prstDash val="solid"/>
              <a:round/>
              <a:headEnd len="sm" w="sm" type="none"/>
              <a:tailEnd len="sm" w="sm" type="none"/>
            </a:ln>
          </p:spPr>
        </p:sp>
        <p:sp>
          <p:nvSpPr>
            <p:cNvPr id="591" name="Google Shape;591;p17"/>
            <p:cNvSpPr/>
            <p:nvPr/>
          </p:nvSpPr>
          <p:spPr>
            <a:xfrm>
              <a:off x="0" y="0"/>
              <a:ext cx="3518535" cy="2121281"/>
            </a:xfrm>
            <a:custGeom>
              <a:rect b="b" l="l" r="r" t="t"/>
              <a:pathLst>
                <a:path extrusionOk="0" h="2121281" w="3518535">
                  <a:moveTo>
                    <a:pt x="12700" y="0"/>
                  </a:moveTo>
                  <a:lnTo>
                    <a:pt x="3505835" y="0"/>
                  </a:lnTo>
                  <a:cubicBezTo>
                    <a:pt x="3512820" y="0"/>
                    <a:pt x="3518535" y="5715"/>
                    <a:pt x="3518535" y="12700"/>
                  </a:cubicBezTo>
                  <a:lnTo>
                    <a:pt x="3518535" y="2108581"/>
                  </a:lnTo>
                  <a:cubicBezTo>
                    <a:pt x="3518535" y="2115566"/>
                    <a:pt x="3512820" y="2121281"/>
                    <a:pt x="3505835" y="2121281"/>
                  </a:cubicBezTo>
                  <a:lnTo>
                    <a:pt x="12700" y="2121281"/>
                  </a:lnTo>
                  <a:cubicBezTo>
                    <a:pt x="5715" y="2121281"/>
                    <a:pt x="0" y="2115566"/>
                    <a:pt x="0" y="2108581"/>
                  </a:cubicBezTo>
                  <a:lnTo>
                    <a:pt x="0" y="12700"/>
                  </a:lnTo>
                  <a:cubicBezTo>
                    <a:pt x="0" y="5715"/>
                    <a:pt x="5715" y="0"/>
                    <a:pt x="12700" y="0"/>
                  </a:cubicBezTo>
                  <a:moveTo>
                    <a:pt x="12700" y="25400"/>
                  </a:moveTo>
                  <a:lnTo>
                    <a:pt x="12700" y="12700"/>
                  </a:lnTo>
                  <a:lnTo>
                    <a:pt x="25400" y="12700"/>
                  </a:lnTo>
                  <a:lnTo>
                    <a:pt x="25400" y="2108581"/>
                  </a:lnTo>
                  <a:lnTo>
                    <a:pt x="12700" y="2108581"/>
                  </a:lnTo>
                  <a:lnTo>
                    <a:pt x="12700" y="2095881"/>
                  </a:lnTo>
                  <a:lnTo>
                    <a:pt x="3505835" y="2095881"/>
                  </a:lnTo>
                  <a:lnTo>
                    <a:pt x="3505835" y="2108581"/>
                  </a:lnTo>
                  <a:lnTo>
                    <a:pt x="3493135" y="2108581"/>
                  </a:lnTo>
                  <a:lnTo>
                    <a:pt x="3493135" y="12700"/>
                  </a:lnTo>
                  <a:lnTo>
                    <a:pt x="3505835" y="12700"/>
                  </a:lnTo>
                  <a:lnTo>
                    <a:pt x="3505835" y="25400"/>
                  </a:lnTo>
                  <a:lnTo>
                    <a:pt x="12700" y="25400"/>
                  </a:lnTo>
                  <a:close/>
                </a:path>
              </a:pathLst>
            </a:custGeom>
            <a:solidFill>
              <a:srgbClr val="FFFFF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7"/>
          <p:cNvGrpSpPr/>
          <p:nvPr/>
        </p:nvGrpSpPr>
        <p:grpSpPr>
          <a:xfrm>
            <a:off x="11742932" y="7758164"/>
            <a:ext cx="2638869" cy="1590940"/>
            <a:chOff x="0" y="0"/>
            <a:chExt cx="3518492" cy="2121254"/>
          </a:xfrm>
        </p:grpSpPr>
        <p:sp>
          <p:nvSpPr>
            <p:cNvPr id="593" name="Google Shape;593;p17"/>
            <p:cNvSpPr/>
            <p:nvPr/>
          </p:nvSpPr>
          <p:spPr>
            <a:xfrm>
              <a:off x="0" y="0"/>
              <a:ext cx="3518492" cy="2121254"/>
            </a:xfrm>
            <a:custGeom>
              <a:rect b="b" l="l" r="r" t="t"/>
              <a:pathLst>
                <a:path extrusionOk="0" h="2121254" w="3518492">
                  <a:moveTo>
                    <a:pt x="0" y="0"/>
                  </a:moveTo>
                  <a:lnTo>
                    <a:pt x="3518492" y="0"/>
                  </a:lnTo>
                  <a:lnTo>
                    <a:pt x="3518492" y="2121254"/>
                  </a:lnTo>
                  <a:lnTo>
                    <a:pt x="0" y="2121254"/>
                  </a:lnTo>
                  <a:close/>
                </a:path>
              </a:pathLst>
            </a:custGeom>
            <a:solidFill>
              <a:srgbClr val="000000">
                <a:alpha val="0"/>
              </a:srgbClr>
            </a:solidFill>
            <a:ln>
              <a:noFill/>
            </a:ln>
          </p:spPr>
        </p:sp>
        <p:sp>
          <p:nvSpPr>
            <p:cNvPr id="594" name="Google Shape;594;p17"/>
            <p:cNvSpPr txBox="1"/>
            <p:nvPr/>
          </p:nvSpPr>
          <p:spPr>
            <a:xfrm>
              <a:off x="0" y="0"/>
              <a:ext cx="3518492" cy="2121254"/>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None/>
              </a:pPr>
              <a:r>
                <a:rPr b="1" i="0" lang="en-US" sz="1800" u="none" cap="none" strike="noStrike">
                  <a:solidFill>
                    <a:srgbClr val="FFFFFF"/>
                  </a:solidFill>
                  <a:latin typeface="Arimo"/>
                  <a:ea typeface="Arimo"/>
                  <a:cs typeface="Arimo"/>
                  <a:sym typeface="Arimo"/>
                </a:rPr>
                <a:t>10.</a:t>
              </a:r>
              <a:r>
                <a:rPr b="0" i="0" lang="en-US" sz="1800" u="none" cap="none" strike="noStrike">
                  <a:solidFill>
                    <a:srgbClr val="FFFFFF"/>
                  </a:solidFill>
                  <a:latin typeface="Arimo"/>
                  <a:ea typeface="Arimo"/>
                  <a:cs typeface="Arimo"/>
                  <a:sym typeface="Arimo"/>
                </a:rPr>
                <a:t> ¿que le gustaría que se implemente en la </a:t>
              </a:r>
              <a:endParaRPr/>
            </a:p>
            <a:p>
              <a:pPr indent="0" lvl="0" marL="0" marR="0" rtl="0" algn="ctr">
                <a:lnSpc>
                  <a:spcPct val="108000"/>
                </a:lnSpc>
                <a:spcBef>
                  <a:spcPts val="0"/>
                </a:spcBef>
                <a:spcAft>
                  <a:spcPts val="0"/>
                </a:spcAft>
                <a:buNone/>
              </a:pPr>
              <a:r>
                <a:rPr b="0" i="0" lang="en-US" sz="1800" u="none" cap="none" strike="noStrike">
                  <a:solidFill>
                    <a:srgbClr val="FFFFFF"/>
                  </a:solidFill>
                  <a:latin typeface="Arimo"/>
                  <a:ea typeface="Arimo"/>
                  <a:cs typeface="Arimo"/>
                  <a:sym typeface="Arimo"/>
                </a:rPr>
                <a:t>empresa?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8"/>
          <p:cNvSpPr txBox="1"/>
          <p:nvPr/>
        </p:nvSpPr>
        <p:spPr>
          <a:xfrm>
            <a:off x="662765" y="9375700"/>
            <a:ext cx="1368900" cy="346200"/>
          </a:xfrm>
          <a:prstGeom prst="rect">
            <a:avLst/>
          </a:prstGeom>
          <a:noFill/>
          <a:ln>
            <a:noFill/>
          </a:ln>
        </p:spPr>
        <p:txBody>
          <a:bodyPr anchorCtr="0" anchor="t" bIns="0" lIns="0" spcFirstLastPara="1" rIns="0" wrap="square" tIns="0">
            <a:spAutoFit/>
          </a:bodyPr>
          <a:lstStyle/>
          <a:p>
            <a:pPr indent="0" lvl="0" marL="0" marR="0" rtl="0" algn="ctr">
              <a:lnSpc>
                <a:spcPct val="109600"/>
              </a:lnSpc>
              <a:spcBef>
                <a:spcPts val="0"/>
              </a:spcBef>
              <a:spcAft>
                <a:spcPts val="0"/>
              </a:spcAft>
              <a:buNone/>
            </a:pPr>
            <a:r>
              <a:rPr b="0" i="0" lang="en-US" sz="2250" u="sng" cap="none" strike="noStrike">
                <a:solidFill>
                  <a:srgbClr val="000000"/>
                </a:solidFill>
                <a:latin typeface="Calibri"/>
                <a:ea typeface="Calibri"/>
                <a:cs typeface="Calibri"/>
                <a:sym typeface="Calibri"/>
                <a:hlinkClick r:id="rId3">
                  <a:extLst>
                    <a:ext uri="{A12FA001-AC4F-418D-AE19-62706E023703}">
                      <ahyp:hlinkClr val="tx"/>
                    </a:ext>
                  </a:extLst>
                </a:hlinkClick>
              </a:rPr>
              <a:t>BPMN</a:t>
            </a:r>
            <a:endParaRPr/>
          </a:p>
        </p:txBody>
      </p:sp>
      <p:pic>
        <p:nvPicPr>
          <p:cNvPr id="600" name="Google Shape;600;p18" title="efbhdfvgbhcjhfcdnsfnhdjksm.png"/>
          <p:cNvPicPr preferRelativeResize="0"/>
          <p:nvPr/>
        </p:nvPicPr>
        <p:blipFill>
          <a:blip r:embed="rId4">
            <a:alphaModFix/>
          </a:blip>
          <a:stretch>
            <a:fillRect/>
          </a:stretch>
        </p:blipFill>
        <p:spPr>
          <a:xfrm>
            <a:off x="152400" y="152400"/>
            <a:ext cx="17983201" cy="71564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